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svg" ContentType="image/sv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49.xml" ContentType="application/vnd.openxmlformats-officedocument.presentationml.slideMaster+xml"/>
  <Override PartName="/ppt/slideMasters/slideMaster50.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slideLayouts/slideLayout21.xml" ContentType="application/vnd.openxmlformats-officedocument.presentationml.slideLayout+xml"/>
  <Override PartName="/ppt/theme/theme21.xml" ContentType="application/vnd.openxmlformats-officedocument.theme+xml"/>
  <Override PartName="/ppt/slideLayouts/slideLayout22.xml" ContentType="application/vnd.openxmlformats-officedocument.presentationml.slideLayout+xml"/>
  <Override PartName="/ppt/theme/theme22.xml" ContentType="application/vnd.openxmlformats-officedocument.theme+xml"/>
  <Override PartName="/ppt/slideLayouts/slideLayout23.xml" ContentType="application/vnd.openxmlformats-officedocument.presentationml.slideLayout+xml"/>
  <Override PartName="/ppt/theme/theme23.xml" ContentType="application/vnd.openxmlformats-officedocument.theme+xml"/>
  <Override PartName="/ppt/slideLayouts/slideLayout24.xml" ContentType="application/vnd.openxmlformats-officedocument.presentationml.slideLayout+xml"/>
  <Override PartName="/ppt/theme/theme24.xml" ContentType="application/vnd.openxmlformats-officedocument.theme+xml"/>
  <Override PartName="/ppt/slideLayouts/slideLayout25.xml" ContentType="application/vnd.openxmlformats-officedocument.presentationml.slideLayout+xml"/>
  <Override PartName="/ppt/theme/theme25.xml" ContentType="application/vnd.openxmlformats-officedocument.theme+xml"/>
  <Override PartName="/ppt/slideLayouts/slideLayout26.xml" ContentType="application/vnd.openxmlformats-officedocument.presentationml.slideLayout+xml"/>
  <Override PartName="/ppt/theme/theme26.xml" ContentType="application/vnd.openxmlformats-officedocument.theme+xml"/>
  <Override PartName="/ppt/slideLayouts/slideLayout27.xml" ContentType="application/vnd.openxmlformats-officedocument.presentationml.slideLayout+xml"/>
  <Override PartName="/ppt/theme/theme27.xml" ContentType="application/vnd.openxmlformats-officedocument.theme+xml"/>
  <Override PartName="/ppt/slideLayouts/slideLayout28.xml" ContentType="application/vnd.openxmlformats-officedocument.presentationml.slideLayout+xml"/>
  <Override PartName="/ppt/theme/theme28.xml" ContentType="application/vnd.openxmlformats-officedocument.theme+xml"/>
  <Override PartName="/ppt/slideLayouts/slideLayout29.xml" ContentType="application/vnd.openxmlformats-officedocument.presentationml.slideLayout+xml"/>
  <Override PartName="/ppt/theme/theme29.xml" ContentType="application/vnd.openxmlformats-officedocument.theme+xml"/>
  <Override PartName="/ppt/slideLayouts/slideLayout30.xml" ContentType="application/vnd.openxmlformats-officedocument.presentationml.slideLayout+xml"/>
  <Override PartName="/ppt/theme/theme30.xml" ContentType="application/vnd.openxmlformats-officedocument.theme+xml"/>
  <Override PartName="/ppt/slideLayouts/slideLayout31.xml" ContentType="application/vnd.openxmlformats-officedocument.presentationml.slideLayout+xml"/>
  <Override PartName="/ppt/theme/theme31.xml" ContentType="application/vnd.openxmlformats-officedocument.theme+xml"/>
  <Override PartName="/ppt/slideLayouts/slideLayout32.xml" ContentType="application/vnd.openxmlformats-officedocument.presentationml.slideLayout+xml"/>
  <Override PartName="/ppt/theme/theme32.xml" ContentType="application/vnd.openxmlformats-officedocument.theme+xml"/>
  <Override PartName="/ppt/slideLayouts/slideLayout33.xml" ContentType="application/vnd.openxmlformats-officedocument.presentationml.slideLayout+xml"/>
  <Override PartName="/ppt/theme/theme33.xml" ContentType="application/vnd.openxmlformats-officedocument.theme+xml"/>
  <Override PartName="/ppt/slideLayouts/slideLayout34.xml" ContentType="application/vnd.openxmlformats-officedocument.presentationml.slideLayout+xml"/>
  <Override PartName="/ppt/theme/theme34.xml" ContentType="application/vnd.openxmlformats-officedocument.theme+xml"/>
  <Override PartName="/ppt/slideLayouts/slideLayout35.xml" ContentType="application/vnd.openxmlformats-officedocument.presentationml.slideLayout+xml"/>
  <Override PartName="/ppt/theme/theme35.xml" ContentType="application/vnd.openxmlformats-officedocument.theme+xml"/>
  <Override PartName="/ppt/slideLayouts/slideLayout36.xml" ContentType="application/vnd.openxmlformats-officedocument.presentationml.slideLayout+xml"/>
  <Override PartName="/ppt/theme/theme36.xml" ContentType="application/vnd.openxmlformats-officedocument.theme+xml"/>
  <Override PartName="/ppt/slideLayouts/slideLayout37.xml" ContentType="application/vnd.openxmlformats-officedocument.presentationml.slideLayout+xml"/>
  <Override PartName="/ppt/theme/theme37.xml" ContentType="application/vnd.openxmlformats-officedocument.theme+xml"/>
  <Override PartName="/ppt/slideLayouts/slideLayout38.xml" ContentType="application/vnd.openxmlformats-officedocument.presentationml.slideLayout+xml"/>
  <Override PartName="/ppt/theme/theme38.xml" ContentType="application/vnd.openxmlformats-officedocument.theme+xml"/>
  <Override PartName="/ppt/slideLayouts/slideLayout39.xml" ContentType="application/vnd.openxmlformats-officedocument.presentationml.slideLayout+xml"/>
  <Override PartName="/ppt/theme/theme39.xml" ContentType="application/vnd.openxmlformats-officedocument.theme+xml"/>
  <Override PartName="/ppt/slideLayouts/slideLayout40.xml" ContentType="application/vnd.openxmlformats-officedocument.presentationml.slideLayout+xml"/>
  <Override PartName="/ppt/theme/theme40.xml" ContentType="application/vnd.openxmlformats-officedocument.theme+xml"/>
  <Override PartName="/ppt/slideLayouts/slideLayout41.xml" ContentType="application/vnd.openxmlformats-officedocument.presentationml.slideLayout+xml"/>
  <Override PartName="/ppt/theme/theme41.xml" ContentType="application/vnd.openxmlformats-officedocument.theme+xml"/>
  <Override PartName="/ppt/slideLayouts/slideLayout42.xml" ContentType="application/vnd.openxmlformats-officedocument.presentationml.slideLayout+xml"/>
  <Override PartName="/ppt/theme/theme42.xml" ContentType="application/vnd.openxmlformats-officedocument.theme+xml"/>
  <Override PartName="/ppt/slideLayouts/slideLayout43.xml" ContentType="application/vnd.openxmlformats-officedocument.presentationml.slideLayout+xml"/>
  <Override PartName="/ppt/theme/theme43.xml" ContentType="application/vnd.openxmlformats-officedocument.theme+xml"/>
  <Override PartName="/ppt/slideLayouts/slideLayout44.xml" ContentType="application/vnd.openxmlformats-officedocument.presentationml.slideLayout+xml"/>
  <Override PartName="/ppt/theme/theme44.xml" ContentType="application/vnd.openxmlformats-officedocument.theme+xml"/>
  <Override PartName="/ppt/slideLayouts/slideLayout45.xml" ContentType="application/vnd.openxmlformats-officedocument.presentationml.slideLayout+xml"/>
  <Override PartName="/ppt/theme/theme45.xml" ContentType="application/vnd.openxmlformats-officedocument.theme+xml"/>
  <Override PartName="/ppt/slideLayouts/slideLayout46.xml" ContentType="application/vnd.openxmlformats-officedocument.presentationml.slideLayout+xml"/>
  <Override PartName="/ppt/theme/theme46.xml" ContentType="application/vnd.openxmlformats-officedocument.theme+xml"/>
  <Override PartName="/ppt/slideLayouts/slideLayout47.xml" ContentType="application/vnd.openxmlformats-officedocument.presentationml.slideLayout+xml"/>
  <Override PartName="/ppt/theme/theme47.xml" ContentType="application/vnd.openxmlformats-officedocument.theme+xml"/>
  <Override PartName="/ppt/slideLayouts/slideLayout48.xml" ContentType="application/vnd.openxmlformats-officedocument.presentationml.slideLayout+xml"/>
  <Override PartName="/ppt/theme/theme48.xml" ContentType="application/vnd.openxmlformats-officedocument.theme+xml"/>
  <Override PartName="/ppt/slideLayouts/slideLayout49.xml" ContentType="application/vnd.openxmlformats-officedocument.presentationml.slideLayout+xml"/>
  <Override PartName="/ppt/theme/theme49.xml" ContentType="application/vnd.openxmlformats-officedocument.theme+xml"/>
  <Override PartName="/ppt/slideLayouts/slideLayout50.xml" ContentType="application/vnd.openxmlformats-officedocument.presentationml.slideLayout+xml"/>
  <Override PartName="/ppt/theme/theme50.xml" ContentType="application/vnd.openxmlformats-officedocument.theme+xml"/>
  <Override PartName="/ppt/slideLayouts/slideLayout51.xml" ContentType="application/vnd.openxmlformats-officedocument.presentationml.slideLayout+xml"/>
  <Override PartName="/ppt/theme/theme51.xml" ContentType="application/vnd.openxmlformats-officedocument.theme+xml"/>
  <Override PartName="/ppt/slideLayouts/slideLayout52.xml" ContentType="application/vnd.openxmlformats-officedocument.presentationml.slideLayout+xml"/>
  <Override PartName="/ppt/theme/theme52.xml" ContentType="application/vnd.openxmlformats-officedocument.theme+xml"/>
  <Override PartName="/ppt/slideLayouts/slideLayout53.xml" ContentType="application/vnd.openxmlformats-officedocument.presentationml.slideLayout+xml"/>
  <Override PartName="/ppt/theme/theme53.xml" ContentType="application/vnd.openxmlformats-officedocument.theme+xml"/>
  <Override PartName="/ppt/theme/theme5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4" r:id="rId14"/>
    <p:sldMasterId id="2147483676" r:id="rId15"/>
    <p:sldMasterId id="2147483678" r:id="rId16"/>
    <p:sldMasterId id="2147483680" r:id="rId17"/>
    <p:sldMasterId id="2147483682" r:id="rId18"/>
    <p:sldMasterId id="2147483684" r:id="rId19"/>
    <p:sldMasterId id="2147483686" r:id="rId20"/>
    <p:sldMasterId id="2147483688" r:id="rId21"/>
    <p:sldMasterId id="2147483690" r:id="rId22"/>
    <p:sldMasterId id="2147483692" r:id="rId23"/>
    <p:sldMasterId id="2147483694" r:id="rId24"/>
    <p:sldMasterId id="2147483696" r:id="rId25"/>
    <p:sldMasterId id="2147483698" r:id="rId26"/>
    <p:sldMasterId id="2147483700" r:id="rId27"/>
    <p:sldMasterId id="2147483702" r:id="rId28"/>
    <p:sldMasterId id="2147483704" r:id="rId29"/>
    <p:sldMasterId id="2147483706" r:id="rId30"/>
    <p:sldMasterId id="2147483708" r:id="rId31"/>
    <p:sldMasterId id="2147483710" r:id="rId32"/>
    <p:sldMasterId id="2147483712" r:id="rId33"/>
    <p:sldMasterId id="2147483714" r:id="rId34"/>
    <p:sldMasterId id="2147483716" r:id="rId35"/>
    <p:sldMasterId id="2147483718" r:id="rId36"/>
    <p:sldMasterId id="2147483720" r:id="rId37"/>
    <p:sldMasterId id="2147483722" r:id="rId38"/>
    <p:sldMasterId id="2147483724" r:id="rId39"/>
    <p:sldMasterId id="2147483726" r:id="rId40"/>
    <p:sldMasterId id="2147483728" r:id="rId41"/>
    <p:sldMasterId id="2147483730" r:id="rId42"/>
    <p:sldMasterId id="2147483732" r:id="rId43"/>
    <p:sldMasterId id="2147483734" r:id="rId44"/>
    <p:sldMasterId id="2147483736" r:id="rId45"/>
    <p:sldMasterId id="2147483738" r:id="rId46"/>
    <p:sldMasterId id="2147483740" r:id="rId47"/>
    <p:sldMasterId id="2147483742" r:id="rId48"/>
    <p:sldMasterId id="2147483744" r:id="rId49"/>
    <p:sldMasterId id="2147483746" r:id="rId50"/>
    <p:sldMasterId id="2147483748" r:id="rId51"/>
    <p:sldMasterId id="2147483750" r:id="rId52"/>
    <p:sldMasterId id="2147483752" r:id="rId53"/>
  </p:sldMasterIdLst>
  <p:notesMasterIdLst>
    <p:notesMasterId r:id="rId79"/>
  </p:notesMasterIdLst>
  <p:sldIdLst>
    <p:sldId id="256" r:id="rId54"/>
    <p:sldId id="257" r:id="rId55"/>
    <p:sldId id="258" r:id="rId56"/>
    <p:sldId id="259" r:id="rId57"/>
    <p:sldId id="260" r:id="rId58"/>
    <p:sldId id="261" r:id="rId59"/>
    <p:sldId id="262" r:id="rId60"/>
    <p:sldId id="263" r:id="rId61"/>
    <p:sldId id="264" r:id="rId62"/>
    <p:sldId id="265" r:id="rId63"/>
    <p:sldId id="266" r:id="rId64"/>
    <p:sldId id="267" r:id="rId65"/>
    <p:sldId id="280" r:id="rId66"/>
    <p:sldId id="268" r:id="rId67"/>
    <p:sldId id="269" r:id="rId68"/>
    <p:sldId id="270" r:id="rId69"/>
    <p:sldId id="271" r:id="rId70"/>
    <p:sldId id="272" r:id="rId71"/>
    <p:sldId id="273" r:id="rId72"/>
    <p:sldId id="274" r:id="rId73"/>
    <p:sldId id="275" r:id="rId74"/>
    <p:sldId id="276" r:id="rId75"/>
    <p:sldId id="277" r:id="rId76"/>
    <p:sldId id="278" r:id="rId77"/>
    <p:sldId id="279" r:id="rId78"/>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21" Type="http://schemas.openxmlformats.org/officeDocument/2006/relationships/slideMaster" Target="slideMasters/slideMaster21.xml"/><Relationship Id="rId42" Type="http://schemas.openxmlformats.org/officeDocument/2006/relationships/slideMaster" Target="slideMasters/slideMaster42.xml"/><Relationship Id="rId47" Type="http://schemas.openxmlformats.org/officeDocument/2006/relationships/slideMaster" Target="slideMasters/slideMaster47.xml"/><Relationship Id="rId63" Type="http://schemas.openxmlformats.org/officeDocument/2006/relationships/slide" Target="slides/slide10.xml"/><Relationship Id="rId68" Type="http://schemas.openxmlformats.org/officeDocument/2006/relationships/slide" Target="slides/slide15.xml"/><Relationship Id="rId16" Type="http://schemas.openxmlformats.org/officeDocument/2006/relationships/slideMaster" Target="slideMasters/slideMaster16.xml"/><Relationship Id="rId11" Type="http://schemas.openxmlformats.org/officeDocument/2006/relationships/slideMaster" Target="slideMasters/slideMaster11.xml"/><Relationship Id="rId32" Type="http://schemas.openxmlformats.org/officeDocument/2006/relationships/slideMaster" Target="slideMasters/slideMaster32.xml"/><Relationship Id="rId37" Type="http://schemas.openxmlformats.org/officeDocument/2006/relationships/slideMaster" Target="slideMasters/slideMaster37.xml"/><Relationship Id="rId53" Type="http://schemas.openxmlformats.org/officeDocument/2006/relationships/slideMaster" Target="slideMasters/slideMaster53.xml"/><Relationship Id="rId58" Type="http://schemas.openxmlformats.org/officeDocument/2006/relationships/slide" Target="slides/slide5.xml"/><Relationship Id="rId74" Type="http://schemas.openxmlformats.org/officeDocument/2006/relationships/slide" Target="slides/slide21.xml"/><Relationship Id="rId79"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slide" Target="slides/slide8.xml"/><Relationship Id="rId82" Type="http://schemas.openxmlformats.org/officeDocument/2006/relationships/theme" Target="theme/theme1.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Master" Target="slideMasters/slideMaster30.xml"/><Relationship Id="rId35" Type="http://schemas.openxmlformats.org/officeDocument/2006/relationships/slideMaster" Target="slideMasters/slideMaster35.xml"/><Relationship Id="rId43" Type="http://schemas.openxmlformats.org/officeDocument/2006/relationships/slideMaster" Target="slideMasters/slideMaster43.xml"/><Relationship Id="rId48" Type="http://schemas.openxmlformats.org/officeDocument/2006/relationships/slideMaster" Target="slideMasters/slideMaster48.xml"/><Relationship Id="rId56" Type="http://schemas.openxmlformats.org/officeDocument/2006/relationships/slide" Target="slides/slide3.xml"/><Relationship Id="rId64" Type="http://schemas.openxmlformats.org/officeDocument/2006/relationships/slide" Target="slides/slide11.xml"/><Relationship Id="rId69" Type="http://schemas.openxmlformats.org/officeDocument/2006/relationships/slide" Target="slides/slide16.xml"/><Relationship Id="rId77" Type="http://schemas.openxmlformats.org/officeDocument/2006/relationships/slide" Target="slides/slide24.xml"/><Relationship Id="rId8" Type="http://schemas.openxmlformats.org/officeDocument/2006/relationships/slideMaster" Target="slideMasters/slideMaster8.xml"/><Relationship Id="rId51" Type="http://schemas.openxmlformats.org/officeDocument/2006/relationships/slideMaster" Target="slideMasters/slideMaster51.xml"/><Relationship Id="rId72" Type="http://schemas.openxmlformats.org/officeDocument/2006/relationships/slide" Target="slides/slide19.xml"/><Relationship Id="rId80"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Master" Target="slideMasters/slideMaster33.xml"/><Relationship Id="rId38" Type="http://schemas.openxmlformats.org/officeDocument/2006/relationships/slideMaster" Target="slideMasters/slideMaster38.xml"/><Relationship Id="rId46" Type="http://schemas.openxmlformats.org/officeDocument/2006/relationships/slideMaster" Target="slideMasters/slideMaster46.xml"/><Relationship Id="rId59" Type="http://schemas.openxmlformats.org/officeDocument/2006/relationships/slide" Target="slides/slide6.xml"/><Relationship Id="rId67" Type="http://schemas.openxmlformats.org/officeDocument/2006/relationships/slide" Target="slides/slide14.xml"/><Relationship Id="rId20" Type="http://schemas.openxmlformats.org/officeDocument/2006/relationships/slideMaster" Target="slideMasters/slideMaster20.xml"/><Relationship Id="rId41" Type="http://schemas.openxmlformats.org/officeDocument/2006/relationships/slideMaster" Target="slideMasters/slideMaster41.xml"/><Relationship Id="rId54" Type="http://schemas.openxmlformats.org/officeDocument/2006/relationships/slide" Target="slides/slide1.xml"/><Relationship Id="rId62" Type="http://schemas.openxmlformats.org/officeDocument/2006/relationships/slide" Target="slides/slide9.xml"/><Relationship Id="rId70" Type="http://schemas.openxmlformats.org/officeDocument/2006/relationships/slide" Target="slides/slide17.xml"/><Relationship Id="rId75" Type="http://schemas.openxmlformats.org/officeDocument/2006/relationships/slide" Target="slides/slide22.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Master" Target="slideMasters/slideMaster36.xml"/><Relationship Id="rId49" Type="http://schemas.openxmlformats.org/officeDocument/2006/relationships/slideMaster" Target="slideMasters/slideMaster49.xml"/><Relationship Id="rId57" Type="http://schemas.openxmlformats.org/officeDocument/2006/relationships/slide" Target="slides/slide4.xml"/><Relationship Id="rId10" Type="http://schemas.openxmlformats.org/officeDocument/2006/relationships/slideMaster" Target="slideMasters/slideMaster10.xml"/><Relationship Id="rId31" Type="http://schemas.openxmlformats.org/officeDocument/2006/relationships/slideMaster" Target="slideMasters/slideMaster31.xml"/><Relationship Id="rId44" Type="http://schemas.openxmlformats.org/officeDocument/2006/relationships/slideMaster" Target="slideMasters/slideMaster44.xml"/><Relationship Id="rId52" Type="http://schemas.openxmlformats.org/officeDocument/2006/relationships/slideMaster" Target="slideMasters/slideMaster52.xml"/><Relationship Id="rId60" Type="http://schemas.openxmlformats.org/officeDocument/2006/relationships/slide" Target="slides/slide7.xml"/><Relationship Id="rId65" Type="http://schemas.openxmlformats.org/officeDocument/2006/relationships/slide" Target="slides/slide12.xml"/><Relationship Id="rId73" Type="http://schemas.openxmlformats.org/officeDocument/2006/relationships/slide" Target="slides/slide20.xml"/><Relationship Id="rId78" Type="http://schemas.openxmlformats.org/officeDocument/2006/relationships/slide" Target="slides/slide25.xml"/><Relationship Id="rId8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Master" Target="slideMasters/slideMaster39.xml"/><Relationship Id="rId34" Type="http://schemas.openxmlformats.org/officeDocument/2006/relationships/slideMaster" Target="slideMasters/slideMaster34.xml"/><Relationship Id="rId50" Type="http://schemas.openxmlformats.org/officeDocument/2006/relationships/slideMaster" Target="slideMasters/slideMaster50.xml"/><Relationship Id="rId55" Type="http://schemas.openxmlformats.org/officeDocument/2006/relationships/slide" Target="slides/slide2.xml"/><Relationship Id="rId76" Type="http://schemas.openxmlformats.org/officeDocument/2006/relationships/slide" Target="slides/slide23.xml"/><Relationship Id="rId7" Type="http://schemas.openxmlformats.org/officeDocument/2006/relationships/slideMaster" Target="slideMasters/slideMaster7.xml"/><Relationship Id="rId71" Type="http://schemas.openxmlformats.org/officeDocument/2006/relationships/slide" Target="slides/slide18.xml"/><Relationship Id="rId2" Type="http://schemas.openxmlformats.org/officeDocument/2006/relationships/slideMaster" Target="slideMasters/slideMaster2.xml"/><Relationship Id="rId29" Type="http://schemas.openxmlformats.org/officeDocument/2006/relationships/slideMaster" Target="slideMasters/slideMaster29.xml"/><Relationship Id="rId24" Type="http://schemas.openxmlformats.org/officeDocument/2006/relationships/slideMaster" Target="slideMasters/slideMaster24.xml"/><Relationship Id="rId40" Type="http://schemas.openxmlformats.org/officeDocument/2006/relationships/slideMaster" Target="slideMasters/slideMaster40.xml"/><Relationship Id="rId45" Type="http://schemas.openxmlformats.org/officeDocument/2006/relationships/slideMaster" Target="slideMasters/slideMaster45.xml"/><Relationship Id="rId66"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Promedio de |SHAP| (log-odds)</c:v>
          </c:tx>
          <c:spPr>
            <a:solidFill>
              <a:srgbClr val="1700F3"/>
            </a:solidFill>
          </c:spPr>
          <c:invertIfNegative val="1"/>
          <c:dLbls>
            <c:spPr>
              <a:noFill/>
              <a:ln>
                <a:noFill/>
              </a:ln>
              <a:effectLst/>
            </c:spPr>
            <c:txPr>
              <a:bodyPr anchorCtr="1"/>
              <a:lstStyle/>
              <a:p>
                <a:pPr>
                  <a:defRPr sz="1400">
                    <a:solidFill>
                      <a:srgbClr val="00095B"/>
                    </a:solidFill>
                    <a:latin typeface="Avenir Next LT Pro"/>
                    <a:ea typeface="Avenir Next LT Pro"/>
                    <a:cs typeface="Avenir Next LT Pro"/>
                  </a:defRPr>
                </a:pPr>
                <a:endParaRPr lang="es-A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Tamaño de flota</c:v>
                </c:pt>
                <c:pt idx="1">
                  <c:v>Antigüedad del vehículo</c:v>
                </c:pt>
                <c:pt idx="2">
                  <c:v>Concesionario último service</c:v>
                </c:pt>
                <c:pt idx="3">
                  <c:v>Mantenimientos/año</c:v>
                </c:pt>
                <c:pt idx="4">
                  <c:v>Versión (TMA)</c:v>
                </c:pt>
              </c:strCache>
            </c:strRef>
          </c:cat>
          <c:val>
            <c:numRef>
              <c:f>'Chart Data'!$B$2:$B$6</c:f>
              <c:numCache>
                <c:formatCode>0.000</c:formatCode>
                <c:ptCount val="5"/>
                <c:pt idx="0">
                  <c:v>0.13163563602380601</c:v>
                </c:pt>
                <c:pt idx="1">
                  <c:v>0.17058201559424399</c:v>
                </c:pt>
                <c:pt idx="2">
                  <c:v>0.183457710599959</c:v>
                </c:pt>
                <c:pt idx="3">
                  <c:v>0.188646817680649</c:v>
                </c:pt>
                <c:pt idx="4">
                  <c:v>0.279987814016114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5EC-4BDB-ADB2-02125D4AB17E}"/>
            </c:ext>
          </c:extLst>
        </c:ser>
        <c:dLbls>
          <c:dLblPos val="outEnd"/>
          <c:showLegendKey val="0"/>
          <c:showVal val="1"/>
          <c:showCatName val="0"/>
          <c:showSerName val="0"/>
          <c:showPercent val="0"/>
          <c:showBubbleSize val="0"/>
        </c:dLbls>
        <c:gapWidth val="75"/>
        <c:axId val="48650112"/>
        <c:axId val="48672768"/>
      </c:barChart>
      <c:catAx>
        <c:axId val="48650112"/>
        <c:scaling>
          <c:orientation val="minMax"/>
        </c:scaling>
        <c:delete val="0"/>
        <c:axPos val="l"/>
        <c:majorGridlines>
          <c:spPr>
            <a:ln w="9525">
              <a:solidFill>
                <a:srgbClr val="E6E6E6"/>
              </a:solidFill>
            </a:ln>
          </c:spPr>
        </c:majorGridlines>
        <c:numFmt formatCode="General" sourceLinked="1"/>
        <c:majorTickMark val="none"/>
        <c:minorTickMark val="none"/>
        <c:tickLblPos val="nextTo"/>
        <c:spPr>
          <a:ln w="9525">
            <a:solidFill>
              <a:srgbClr val="B9BCBD"/>
            </a:solidFill>
          </a:ln>
        </c:spPr>
        <c:txPr>
          <a:bodyPr anchorCtr="1"/>
          <a:lstStyle/>
          <a:p>
            <a:pPr>
              <a:defRPr sz="1400">
                <a:solidFill>
                  <a:srgbClr val="00095B"/>
                </a:solidFill>
                <a:latin typeface="Avenir Next LT Pro"/>
                <a:ea typeface="Avenir Next LT Pro"/>
                <a:cs typeface="Avenir Next LT Pro"/>
              </a:defRPr>
            </a:pPr>
            <a:endParaRPr lang="es-AR"/>
          </a:p>
        </c:txPr>
        <c:crossAx val="48672768"/>
        <c:crosses val="autoZero"/>
        <c:auto val="1"/>
        <c:lblAlgn val="ctr"/>
        <c:lblOffset val="100"/>
        <c:noMultiLvlLbl val="1"/>
      </c:catAx>
      <c:valAx>
        <c:axId val="48672768"/>
        <c:scaling>
          <c:orientation val="minMax"/>
        </c:scaling>
        <c:delete val="0"/>
        <c:axPos val="b"/>
        <c:numFmt formatCode="0.000" sourceLinked="1"/>
        <c:majorTickMark val="none"/>
        <c:minorTickMark val="none"/>
        <c:tickLblPos val="nextTo"/>
        <c:spPr>
          <a:ln w="0">
            <a:noFill/>
          </a:ln>
        </c:spPr>
        <c:txPr>
          <a:bodyPr anchorCtr="1"/>
          <a:lstStyle/>
          <a:p>
            <a:pPr>
              <a:defRPr sz="1400">
                <a:solidFill>
                  <a:srgbClr val="00095B"/>
                </a:solidFill>
                <a:latin typeface="Avenir Next LT Pro"/>
                <a:ea typeface="Avenir Next LT Pro"/>
                <a:cs typeface="Avenir Next LT Pro"/>
              </a:defRPr>
            </a:pPr>
            <a:endParaRPr lang="es-AR"/>
          </a:p>
        </c:txPr>
        <c:crossAx val="48650112"/>
        <c:crosses val="autoZero"/>
        <c:crossBetween val="between"/>
      </c:valAx>
      <c:spPr>
        <a:noFill/>
        <a:ln w="0">
          <a:noFill/>
        </a:ln>
      </c:spPr>
    </c:plotArea>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5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7"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r>
              <a:rPr lang="es-AR" sz="4400" b="0" strike="noStrike" spc="-1">
                <a:solidFill>
                  <a:srgbClr val="000000"/>
                </a:solidFill>
                <a:latin typeface="Arial"/>
              </a:rPr>
              <a:t>Pulse para desplazar la diapositiva</a:t>
            </a:r>
          </a:p>
        </p:txBody>
      </p:sp>
      <p:sp>
        <p:nvSpPr>
          <p:cNvPr id="258"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s-AR" sz="2000" b="0" strike="noStrike" spc="-1">
                <a:solidFill>
                  <a:srgbClr val="000000"/>
                </a:solidFill>
                <a:latin typeface="Arial"/>
              </a:rPr>
              <a:t>Pulse para editar el formato de las notas</a:t>
            </a:r>
          </a:p>
        </p:txBody>
      </p:sp>
      <p:sp>
        <p:nvSpPr>
          <p:cNvPr id="259"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s-AR" sz="1400" b="0" strike="noStrike" spc="-1">
                <a:solidFill>
                  <a:srgbClr val="000000"/>
                </a:solidFill>
                <a:latin typeface="Times New Roman"/>
              </a:rPr>
              <a:t>&lt;cabecera&gt;</a:t>
            </a:r>
          </a:p>
        </p:txBody>
      </p:sp>
      <p:sp>
        <p:nvSpPr>
          <p:cNvPr id="260" name="PlaceHolder 4"/>
          <p:cNvSpPr>
            <a:spLocks noGrp="1"/>
          </p:cNvSpPr>
          <p:nvPr>
            <p:ph type="dt" idx="53"/>
          </p:nvPr>
        </p:nvSpPr>
        <p:spPr>
          <a:xfrm>
            <a:off x="4278960" y="0"/>
            <a:ext cx="3280680" cy="534240"/>
          </a:xfrm>
          <a:prstGeom prst="rect">
            <a:avLst/>
          </a:prstGeom>
          <a:noFill/>
          <a:ln w="0">
            <a:noFill/>
          </a:ln>
        </p:spPr>
        <p:txBody>
          <a:bodyPr lIns="0" tIns="0" rIns="0" bIns="0" anchor="t">
            <a:noAutofit/>
          </a:bodyPr>
          <a:lstStyle>
            <a:lvl1pPr indent="0" algn="r">
              <a:buNone/>
              <a:defRPr lang="es-AR" sz="1400" b="0" strike="noStrike" spc="-1">
                <a:solidFill>
                  <a:srgbClr val="000000"/>
                </a:solidFill>
                <a:latin typeface="Times New Roman"/>
              </a:defRPr>
            </a:lvl1pPr>
          </a:lstStyle>
          <a:p>
            <a:pPr indent="0" algn="r">
              <a:buNone/>
            </a:pPr>
            <a:r>
              <a:rPr lang="es-AR" sz="1400" b="0" strike="noStrike" spc="-1">
                <a:solidFill>
                  <a:srgbClr val="000000"/>
                </a:solidFill>
                <a:latin typeface="Times New Roman"/>
              </a:rPr>
              <a:t>&lt;fecha/hora&gt;</a:t>
            </a:r>
          </a:p>
        </p:txBody>
      </p:sp>
      <p:sp>
        <p:nvSpPr>
          <p:cNvPr id="261" name="PlaceHolder 5"/>
          <p:cNvSpPr>
            <a:spLocks noGrp="1"/>
          </p:cNvSpPr>
          <p:nvPr>
            <p:ph type="ftr" idx="54"/>
          </p:nvPr>
        </p:nvSpPr>
        <p:spPr>
          <a:xfrm>
            <a:off x="0" y="10157400"/>
            <a:ext cx="3280680" cy="534240"/>
          </a:xfrm>
          <a:prstGeom prst="rect">
            <a:avLst/>
          </a:prstGeom>
          <a:noFill/>
          <a:ln w="0">
            <a:noFill/>
          </a:ln>
        </p:spPr>
        <p:txBody>
          <a:bodyPr lIns="0" tIns="0" rIns="0" bIns="0" anchor="b">
            <a:noAutofit/>
          </a:bodyPr>
          <a:lstStyle>
            <a:lvl1pPr indent="0">
              <a:buNone/>
              <a:defRPr lang="es-AR" sz="1400" b="0" strike="noStrike" spc="-1">
                <a:solidFill>
                  <a:srgbClr val="000000"/>
                </a:solidFill>
                <a:latin typeface="Times New Roman"/>
              </a:defRPr>
            </a:lvl1pPr>
          </a:lstStyle>
          <a:p>
            <a:pPr indent="0">
              <a:buNone/>
            </a:pPr>
            <a:r>
              <a:rPr lang="es-AR" sz="1400" b="0" strike="noStrike" spc="-1">
                <a:solidFill>
                  <a:srgbClr val="000000"/>
                </a:solidFill>
                <a:latin typeface="Times New Roman"/>
              </a:rPr>
              <a:t>&lt;pie de página&gt;</a:t>
            </a:r>
          </a:p>
        </p:txBody>
      </p:sp>
      <p:sp>
        <p:nvSpPr>
          <p:cNvPr id="262" name="PlaceHolder 6"/>
          <p:cNvSpPr>
            <a:spLocks noGrp="1"/>
          </p:cNvSpPr>
          <p:nvPr>
            <p:ph type="sldNum" idx="55"/>
          </p:nvPr>
        </p:nvSpPr>
        <p:spPr>
          <a:xfrm>
            <a:off x="4278960" y="10157400"/>
            <a:ext cx="3280680" cy="534240"/>
          </a:xfrm>
          <a:prstGeom prst="rect">
            <a:avLst/>
          </a:prstGeom>
          <a:noFill/>
          <a:ln w="0">
            <a:noFill/>
          </a:ln>
        </p:spPr>
        <p:txBody>
          <a:bodyPr lIns="0" tIns="0" rIns="0" bIns="0" anchor="b">
            <a:noAutofit/>
          </a:bodyPr>
          <a:lstStyle>
            <a:lvl1pPr indent="0" algn="r">
              <a:buNone/>
              <a:defRPr lang="es-AR" sz="1400" b="0" strike="noStrike" spc="-1">
                <a:solidFill>
                  <a:srgbClr val="000000"/>
                </a:solidFill>
                <a:latin typeface="Times New Roman"/>
              </a:defRPr>
            </a:lvl1pPr>
          </a:lstStyle>
          <a:p>
            <a:pPr indent="0" algn="r">
              <a:buNone/>
            </a:pPr>
            <a:fld id="{4CB2A137-75AA-46DD-A8C1-8A2ABDDE39EA}" type="slidenum">
              <a:rPr lang="es-AR" sz="1400" b="0" strike="noStrike" spc="-1">
                <a:solidFill>
                  <a:srgbClr val="000000"/>
                </a:solidFill>
                <a:latin typeface="Times New Roman"/>
              </a:rPr>
              <a:t>‹#›</a:t>
            </a:fld>
            <a:endParaRPr lang="es-AR"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 name="PlaceHolder 1"/>
          <p:cNvSpPr>
            <a:spLocks noGrp="1" noRot="1" noChangeAspect="1"/>
          </p:cNvSpPr>
          <p:nvPr>
            <p:ph type="sldImg"/>
          </p:nvPr>
        </p:nvSpPr>
        <p:spPr>
          <a:xfrm>
            <a:off x="685800" y="1143000"/>
            <a:ext cx="5485680" cy="3085560"/>
          </a:xfrm>
          <a:prstGeom prst="rect">
            <a:avLst/>
          </a:prstGeom>
          <a:ln w="0">
            <a:noFill/>
          </a:ln>
        </p:spPr>
      </p:sp>
      <p:sp>
        <p:nvSpPr>
          <p:cNvPr id="70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FLOR  ·  40 s  ·  de 0:00 a 0:40</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Buen día. Somos el equipo SIMtec: yo soy Florencia, y conmigo están Franco y Teo.</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Trabajamos el desafío 1: retención de service y recompra.</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Y antes de mostrarles un solo número, les quiero presentar a alguien. [PAUSA]</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Se llama Martín. Bueno, le pusimos Martín: los datos son anónimos, pero él es real. Tiene una Ranger, la usa para trabajar, y este mes le toca el service.</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La pregunta que vamos a responder en los próximos minutos es muy simple: ¿Martín vuelve?</a:t>
            </a:r>
          </a:p>
        </p:txBody>
      </p:sp>
      <p:sp>
        <p:nvSpPr>
          <p:cNvPr id="707" name="PlaceHolder 3"/>
          <p:cNvSpPr>
            <a:spLocks noGrp="1"/>
          </p:cNvSpPr>
          <p:nvPr>
            <p:ph type="sldNum" idx="7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FD88A276-6841-482D-9A07-C698A06975EA}" type="slidenum">
              <a:rPr lang="en-US" sz="1200" b="0" strike="noStrike" spc="-1">
                <a:solidFill>
                  <a:srgbClr val="000000"/>
                </a:solidFill>
                <a:latin typeface="Times New Roman"/>
              </a:rPr>
              <a:t>1</a:t>
            </a:fld>
            <a:endParaRPr lang="es-AR"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 name="PlaceHolder 1"/>
          <p:cNvSpPr>
            <a:spLocks noGrp="1" noRot="1" noChangeAspect="1"/>
          </p:cNvSpPr>
          <p:nvPr>
            <p:ph type="sldImg"/>
          </p:nvPr>
        </p:nvSpPr>
        <p:spPr>
          <a:xfrm>
            <a:off x="685800" y="1143000"/>
            <a:ext cx="5485680" cy="3085560"/>
          </a:xfrm>
          <a:prstGeom prst="rect">
            <a:avLst/>
          </a:prstGeom>
          <a:ln w="0">
            <a:noFill/>
          </a:ln>
        </p:spPr>
      </p:sp>
      <p:sp>
        <p:nvSpPr>
          <p:cNvPr id="70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FLOR  ·  10 s  ·  de 0:40 a 0:50</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Para entender por qué esa pregunta importa tanto, empecemos por el desafío.</a:t>
            </a:r>
          </a:p>
        </p:txBody>
      </p:sp>
      <p:sp>
        <p:nvSpPr>
          <p:cNvPr id="710" name="PlaceHolder 3"/>
          <p:cNvSpPr>
            <a:spLocks noGrp="1"/>
          </p:cNvSpPr>
          <p:nvPr>
            <p:ph type="sldNum" idx="7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3253875F-93A3-4EDF-BB15-DD18B2E767C3}" type="slidenum">
              <a:rPr lang="en-US" sz="1200" b="0" strike="noStrike" spc="-1">
                <a:solidFill>
                  <a:srgbClr val="000000"/>
                </a:solidFill>
                <a:latin typeface="Times New Roman"/>
              </a:rPr>
              <a:t>2</a:t>
            </a:fld>
            <a:endParaRPr lang="es-AR"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 name="PlaceHolder 1"/>
          <p:cNvSpPr>
            <a:spLocks noGrp="1" noRot="1" noChangeAspect="1"/>
          </p:cNvSpPr>
          <p:nvPr>
            <p:ph type="sldImg"/>
          </p:nvPr>
        </p:nvSpPr>
        <p:spPr>
          <a:xfrm>
            <a:off x="685800" y="1143000"/>
            <a:ext cx="5485680" cy="3085560"/>
          </a:xfrm>
          <a:prstGeom prst="rect">
            <a:avLst/>
          </a:prstGeom>
          <a:ln w="0">
            <a:noFill/>
          </a:ln>
        </p:spPr>
      </p:sp>
      <p:sp>
        <p:nvSpPr>
          <p:cNvPr id="71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FLOR  ·  45 s  ·  de 0:50 a 1:35</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Martín no está solo.</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Cada mes, más de seis mil Ranger entran en su ventana de service en Argentina. Es decir: les toca volver al concesionario.</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[PAUSA]</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Cada una de esas camionetas es una oportunidad. Un cliente que vuelve al taller, que habla con su asesor, que sigue cerca de Ford.</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…O no.</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[PAUSA]</a:t>
            </a:r>
          </a:p>
        </p:txBody>
      </p:sp>
      <p:sp>
        <p:nvSpPr>
          <p:cNvPr id="713" name="PlaceHolder 3"/>
          <p:cNvSpPr>
            <a:spLocks noGrp="1"/>
          </p:cNvSpPr>
          <p:nvPr>
            <p:ph type="sldNum" idx="7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F42FDECD-49DE-403F-8642-35E96BB49E25}" type="slidenum">
              <a:rPr lang="en-US" sz="1200" b="0" strike="noStrike" spc="-1">
                <a:solidFill>
                  <a:srgbClr val="000000"/>
                </a:solidFill>
                <a:latin typeface="Times New Roman"/>
              </a:rPr>
              <a:t>3</a:t>
            </a:fld>
            <a:endParaRPr lang="es-AR" sz="12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 name="PlaceHolder 1"/>
          <p:cNvSpPr>
            <a:spLocks noGrp="1" noRot="1" noChangeAspect="1"/>
          </p:cNvSpPr>
          <p:nvPr>
            <p:ph type="sldImg"/>
          </p:nvPr>
        </p:nvSpPr>
        <p:spPr>
          <a:xfrm>
            <a:off x="685800" y="1143000"/>
            <a:ext cx="5485680" cy="3085560"/>
          </a:xfrm>
          <a:prstGeom prst="rect">
            <a:avLst/>
          </a:prstGeom>
          <a:ln w="0">
            <a:noFill/>
          </a:ln>
        </p:spPr>
      </p:sp>
      <p:sp>
        <p:nvSpPr>
          <p:cNvPr id="71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FLOR  ·  50 s  ·  de 1:35 a 2:25</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Pongámoslo en diez camionetas.</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Cuatro de cada diez no vuelven a hacer ese service en un concesionario oficial.</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[PAUSA LARGA — dejar que el número se lea]</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Y fíjense dónde están: mezcladas. No hay nada, a simple vista, que diga cuáles son. Martín puede ser una de las azules… o una de las grises. Hoy nadie lo sabe.</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En volumen, son unos dos mil quinientos services por mes que Ford deja de hacer.</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Todos los meses.</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[RECORTE] Y no es una estimación: medimos ciento cuarenta y dos mil ventanas de service entre 2024 y 2026, y el cuarenta y uno coma seis por ciento terminó sin service en la red.</a:t>
            </a:r>
          </a:p>
        </p:txBody>
      </p:sp>
      <p:sp>
        <p:nvSpPr>
          <p:cNvPr id="716" name="PlaceHolder 3"/>
          <p:cNvSpPr>
            <a:spLocks noGrp="1"/>
          </p:cNvSpPr>
          <p:nvPr>
            <p:ph type="sldNum" idx="7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A64FF317-FCA6-433B-AD75-25C2E5DC6519}" type="slidenum">
              <a:rPr lang="en-US" sz="1200" b="0" strike="noStrike" spc="-1">
                <a:solidFill>
                  <a:srgbClr val="000000"/>
                </a:solidFill>
                <a:latin typeface="Times New Roman"/>
              </a:rPr>
              <a:t>4</a:t>
            </a:fld>
            <a:endParaRPr lang="es-AR"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 name="PlaceHolder 1"/>
          <p:cNvSpPr>
            <a:spLocks noGrp="1" noRot="1" noChangeAspect="1"/>
          </p:cNvSpPr>
          <p:nvPr>
            <p:ph type="sldImg"/>
          </p:nvPr>
        </p:nvSpPr>
        <p:spPr>
          <a:xfrm>
            <a:off x="685800" y="1143000"/>
            <a:ext cx="5485680" cy="3085560"/>
          </a:xfrm>
          <a:prstGeom prst="rect">
            <a:avLst/>
          </a:prstGeom>
          <a:ln w="0">
            <a:noFill/>
          </a:ln>
        </p:spPr>
      </p:sp>
      <p:sp>
        <p:nvSpPr>
          <p:cNvPr id="71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FLOR  ·  45 s  ·  de 2:25 a 3:10</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Pero ojo, porque un service perdido es mucho más que un service. Es el primer paso de un cliente perdido.</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Primero se pierde el trabajo de taller: la mano de obra, los repuestos, el margen de la visita.</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Después, algo más grave: se corta la relación. Martín deja de venir, deja de hablar con su concesionario, y Ford deja de estar presente en su vida.</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Y el día que Martín cambie la camioneta… esa decisión la va a tomar sin nosotros.</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Por eso, la próxima venta no se gana en el salón. [PAUSA] Se gana en el taller.</a:t>
            </a:r>
          </a:p>
        </p:txBody>
      </p:sp>
      <p:sp>
        <p:nvSpPr>
          <p:cNvPr id="719" name="PlaceHolder 3"/>
          <p:cNvSpPr>
            <a:spLocks noGrp="1"/>
          </p:cNvSpPr>
          <p:nvPr>
            <p:ph type="sldNum" idx="7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FF803532-8971-42C6-8901-B3EBA19970A7}" type="slidenum">
              <a:rPr lang="en-US" sz="1200" b="0" strike="noStrike" spc="-1">
                <a:solidFill>
                  <a:srgbClr val="000000"/>
                </a:solidFill>
                <a:latin typeface="Times New Roman"/>
              </a:rPr>
              <a:t>5</a:t>
            </a:fld>
            <a:endParaRPr lang="es-AR" sz="12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0" name="PlaceHolder 1"/>
          <p:cNvSpPr>
            <a:spLocks noGrp="1" noRot="1" noChangeAspect="1"/>
          </p:cNvSpPr>
          <p:nvPr>
            <p:ph type="sldImg"/>
          </p:nvPr>
        </p:nvSpPr>
        <p:spPr>
          <a:xfrm>
            <a:off x="685800" y="1143000"/>
            <a:ext cx="5485680" cy="3085560"/>
          </a:xfrm>
          <a:prstGeom prst="rect">
            <a:avLst/>
          </a:prstGeom>
          <a:ln w="0">
            <a:noFill/>
          </a:ln>
        </p:spPr>
      </p:sp>
      <p:sp>
        <p:nvSpPr>
          <p:cNvPr id="72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FLOR  ·  50 s  ·  de 3:10 a 4:00</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Entonces, ¿qué pasa hoy?</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Los datos para anticipar esto existen. Pero no se terminan de aprovechar. Todos reciben el mismo mensaje, en el mismo orden. Martín recibe el mismo recordatorio que el cliente que viene puntual hace cinco años. Y el que se va, se detecta cuando ya es tarde: cuando la ventana ya cerró.</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El resultado: de cada diez contactos que hace un concesionario, seis van a clientes que iban a volver igual.</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[PAUSA]</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Seis de cada diez llamados, gastados en quien no los necesitaba.</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Así que la pregunta que nos hicimos fue una sola: ¿cómo llegamos primero a los otros cuatro?</a:t>
            </a:r>
          </a:p>
        </p:txBody>
      </p:sp>
      <p:sp>
        <p:nvSpPr>
          <p:cNvPr id="722" name="PlaceHolder 3"/>
          <p:cNvSpPr>
            <a:spLocks noGrp="1"/>
          </p:cNvSpPr>
          <p:nvPr>
            <p:ph type="sldNum" idx="7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21F4F18E-2570-4DC6-B56E-E1D1A802690A}" type="slidenum">
              <a:rPr lang="en-US" sz="1200" b="0" strike="noStrike" spc="-1">
                <a:solidFill>
                  <a:srgbClr val="000000"/>
                </a:solidFill>
                <a:latin typeface="Times New Roman"/>
              </a:rPr>
              <a:t>6</a:t>
            </a:fld>
            <a:endParaRPr lang="es-AR" sz="12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 name="PlaceHolder 1"/>
          <p:cNvSpPr>
            <a:spLocks noGrp="1" noRot="1" noChangeAspect="1"/>
          </p:cNvSpPr>
          <p:nvPr>
            <p:ph type="sldImg"/>
          </p:nvPr>
        </p:nvSpPr>
        <p:spPr>
          <a:xfrm>
            <a:off x="685800" y="1143000"/>
            <a:ext cx="5485680" cy="3085560"/>
          </a:xfrm>
          <a:prstGeom prst="rect">
            <a:avLst/>
          </a:prstGeom>
          <a:ln w="0">
            <a:noFill/>
          </a:ln>
        </p:spPr>
      </p:sp>
      <p:sp>
        <p:nvSpPr>
          <p:cNvPr id="72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FLOR  ·  10 s  ·  de 4:00 a 4:10</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Para responderla, no empezamos por el modelo. Empezamos por entender los datos.</a:t>
            </a:r>
          </a:p>
        </p:txBody>
      </p:sp>
      <p:sp>
        <p:nvSpPr>
          <p:cNvPr id="725" name="PlaceHolder 3"/>
          <p:cNvSpPr>
            <a:spLocks noGrp="1"/>
          </p:cNvSpPr>
          <p:nvPr>
            <p:ph type="sldNum" idx="7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0437418C-B230-4B2E-89BF-A393E2E497F6}" type="slidenum">
              <a:rPr lang="en-US" sz="1200" b="0" strike="noStrike" spc="-1">
                <a:solidFill>
                  <a:srgbClr val="000000"/>
                </a:solidFill>
                <a:latin typeface="Times New Roman"/>
              </a:rPr>
              <a:t>7</a:t>
            </a:fld>
            <a:endParaRPr lang="es-AR" sz="12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 name="PlaceHolder 1"/>
          <p:cNvSpPr>
            <a:spLocks noGrp="1" noRot="1" noChangeAspect="1"/>
          </p:cNvSpPr>
          <p:nvPr>
            <p:ph type="sldImg"/>
          </p:nvPr>
        </p:nvSpPr>
        <p:spPr>
          <a:xfrm>
            <a:off x="685800" y="1143000"/>
            <a:ext cx="5485680" cy="3085560"/>
          </a:xfrm>
          <a:prstGeom prst="rect">
            <a:avLst/>
          </a:prstGeom>
          <a:ln w="0">
            <a:noFill/>
          </a:ln>
        </p:spPr>
      </p:sp>
      <p:sp>
        <p:nvSpPr>
          <p:cNvPr id="72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FLOR  ·  110 s  ·  de 4:10 a 6:00</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Trabajamos con más de seiscientas mil líneas de la agenda de turnos y casi sesenta mil ventas de Ranger, de 2024 a hoy. Y les confieso algo: arrancamos con una idea equivocada.</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Creíamos que el service era una vez por año. Y los datos nos dijeron que no.</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Primera lección: el service va por kilómetros, no por calendario. Una Ranger hace unos veintidós mil kilómetros por año, y el plan oficial pide service cada dieciséis mil. O sea: le toca cada seis a ocho meses, no cada doce. Si esperamos "al año" para recordarle, llegamos tarde: el ochenta y seis por ciento ya lo había hecho.</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Por eso a cada Ranger le calculamos su propia ventana, según sus kilómetros reales.</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Segunda lección: el momento crítico es el primer service. Más de un tercio de los clientes no hace el primero en un concesionario oficial. En el segundo, baja a uno de cada cuatro. Dicho simple: el que vuelve una vez, se queda.</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Y la tercera, la más importante: el que se va, se ve venir. Llega tarde respecto de su plan, viene poco, es una flota, depende de qué concesionario lo atiende.</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Y algo que nos sorprendió: la encuesta de satisfacción no anticipa nada. Se responde antes del turno, no después del service.</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[RECORTE] También descubrimos que un dato, mirado solo, puede engañar. Por ejemplo, los que faltan a un turno parecen volver igual que el resto. Pero es porque, para faltar a un turno, primero hay que tenerlo. Comparando clientes con la misma cantidad de turnos, el que falta sí vuelve menos.</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[PAUSA]</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Esas señales ya están en los datos de Ford. Martín ya las está mostrando. Lo que faltaba era leerlas a tiempo.</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Franco les cuenta cómo lo hicimos.</a:t>
            </a:r>
          </a:p>
        </p:txBody>
      </p:sp>
      <p:sp>
        <p:nvSpPr>
          <p:cNvPr id="728" name="PlaceHolder 3"/>
          <p:cNvSpPr>
            <a:spLocks noGrp="1"/>
          </p:cNvSpPr>
          <p:nvPr>
            <p:ph type="sldNum" idx="7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80B35AC8-E3C1-4F4C-A304-70ABAC5098C9}" type="slidenum">
              <a:rPr lang="en-US" sz="1200" b="0" strike="noStrike" spc="-1">
                <a:solidFill>
                  <a:srgbClr val="000000"/>
                </a:solidFill>
                <a:latin typeface="Times New Roman"/>
              </a:rPr>
              <a:t>8</a:t>
            </a:fld>
            <a:endParaRPr lang="es-AR" sz="12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 name="PlaceHolder 1"/>
          <p:cNvSpPr>
            <a:spLocks noGrp="1" noRot="1" noChangeAspect="1"/>
          </p:cNvSpPr>
          <p:nvPr>
            <p:ph type="sldImg"/>
          </p:nvPr>
        </p:nvSpPr>
        <p:spPr>
          <a:xfrm>
            <a:off x="685800" y="1143000"/>
            <a:ext cx="5485680" cy="3085560"/>
          </a:xfrm>
          <a:prstGeom prst="rect">
            <a:avLst/>
          </a:prstGeom>
          <a:ln w="0">
            <a:noFill/>
          </a:ln>
        </p:spPr>
      </p:sp>
      <p:sp>
        <p:nvSpPr>
          <p:cNvPr id="73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FRANCO  ·  50 s  ·  de 6:00 a 6:50</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Gracias, Flor.</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Lo primero que queremos dejar claro es que no venimos a cambiarle el proceso a nadie. Lo que construimos es una sola pieza nueva, que encaja en lo que Ford ya hace.</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La Ranger de Martín entra en su ventana de service. Como hoy.</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Y acá está lo nuevo: nuestra solución la ordena por riesgo de dejar Ford, y explica por qué.</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Con ese orden, el concesionario contacta primero a quien más lo necesita. Al resto le llega el recordatorio de FordPass, como siempre.</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Y el cliente vuelve al taller.</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Mismo proceso. [PAUSA] Otro orden. [PAUSA] Más clientes que vuelven.</a:t>
            </a:r>
          </a:p>
        </p:txBody>
      </p:sp>
      <p:sp>
        <p:nvSpPr>
          <p:cNvPr id="731" name="PlaceHolder 3"/>
          <p:cNvSpPr>
            <a:spLocks noGrp="1"/>
          </p:cNvSpPr>
          <p:nvPr>
            <p:ph type="sldNum" idx="8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0D692D15-1CB6-428C-AB46-BFDB03D81CE2}" type="slidenum">
              <a:rPr lang="en-US" sz="1200" b="0" strike="noStrike" spc="-1">
                <a:solidFill>
                  <a:srgbClr val="000000"/>
                </a:solidFill>
                <a:latin typeface="Times New Roman"/>
              </a:rPr>
              <a:t>9</a:t>
            </a:fld>
            <a:endParaRPr lang="es-AR" sz="12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 name="PlaceHolder 1"/>
          <p:cNvSpPr>
            <a:spLocks noGrp="1" noRot="1" noChangeAspect="1"/>
          </p:cNvSpPr>
          <p:nvPr>
            <p:ph type="sldImg"/>
          </p:nvPr>
        </p:nvSpPr>
        <p:spPr>
          <a:xfrm>
            <a:off x="685800" y="1143000"/>
            <a:ext cx="5485680" cy="3085560"/>
          </a:xfrm>
          <a:prstGeom prst="rect">
            <a:avLst/>
          </a:prstGeom>
          <a:ln w="0">
            <a:noFill/>
          </a:ln>
        </p:spPr>
      </p:sp>
      <p:sp>
        <p:nvSpPr>
          <p:cNvPr id="73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FRANCO  ·  75 s  ·  de 6:50 a 8:05</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La pregunta obvia es: ¿funciona?</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Y lo probamos de la única forma honesta: como se usaría de verdad. (técnico) Hicimos una validación temporal, fuera de tiempo. Entrenamos el modelo, un LightGBM, con datos hasta septiembre de 2025, lo calibramos con el último trimestre, y lo pusimos a prueba en enero, febrero y marzo de este año: casi veinte mil ventanas que nunca había visto.</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Dicho simple: le dimos el pasado, y le pedimos que adivine el futuro.</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Hoy, como se le habla a todos igual, de cada diez contactos, cuatro llegan a alguien que estaba dejando Ford.</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Con nuestra solución, contactando al primer veinte por ciento de la lista, son ocho.</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[PAUSA] El doble. Con el mismo esfuerzo.</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Y si miramos sólo a los primeros de la lista, nueve de cada diez se estaban yendo de verdad.</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Llevado a la operación real: con tres mil contactos por mes entre todos los concesionarios, que son unos treinta por concesionario, a dos de cada tres clientes que se van les llegamos a tiempo.</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¿Y cómo sabemos que no es suerte? Teo les muestra la evidencia.</a:t>
            </a:r>
          </a:p>
        </p:txBody>
      </p:sp>
      <p:sp>
        <p:nvSpPr>
          <p:cNvPr id="734" name="PlaceHolder 3"/>
          <p:cNvSpPr>
            <a:spLocks noGrp="1"/>
          </p:cNvSpPr>
          <p:nvPr>
            <p:ph type="sldNum" idx="8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74FF66F6-8BAD-4FB3-9ED0-F212EECAC4E9}" type="slidenum">
              <a:rPr lang="en-US" sz="1200" b="0" strike="noStrike" spc="-1">
                <a:solidFill>
                  <a:srgbClr val="000000"/>
                </a:solidFill>
                <a:latin typeface="Times New Roman"/>
              </a:rPr>
              <a:t>10</a:t>
            </a:fld>
            <a:endParaRPr lang="es-AR" sz="12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 name="PlaceHolder 1"/>
          <p:cNvSpPr>
            <a:spLocks noGrp="1" noRot="1" noChangeAspect="1"/>
          </p:cNvSpPr>
          <p:nvPr>
            <p:ph type="sldImg"/>
          </p:nvPr>
        </p:nvSpPr>
        <p:spPr>
          <a:xfrm>
            <a:off x="685800" y="1143000"/>
            <a:ext cx="5485680" cy="3085560"/>
          </a:xfrm>
          <a:prstGeom prst="rect">
            <a:avLst/>
          </a:prstGeom>
          <a:ln w="0">
            <a:noFill/>
          </a:ln>
        </p:spPr>
      </p:sp>
      <p:sp>
        <p:nvSpPr>
          <p:cNvPr id="73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TEO  ·  85 s  ·  de 8:05 a 9:30</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Primero, cómo llega el modelo a estos resultados. Para cada Ranger que entra en su ventana, mira más de ochenta señales de su historia: cuándo fue su último service, cada cuánto viene, cuántos kilómetros hace, qué tan atrasado está respecto de su plan, qué concesionario lo atiende. (técnico) Aprendió de más de cien mil ventanas del pasado, combinando cientos de árboles de decisión, donde cada uno corrige los errores del anterior. El resultado es un puntaje de riesgo para cada cliente.</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Y acá está la evidencia de que ese puntaje funciona.</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A la izquierda, (técnico) la curva de ganancia. Ordenamos a todos los clientes por riesgo, y la línea naranja muestra a cuántos de los que se van alcanzamos según cuántos contactamos. La gris es lo de hoy: contactar sin orden. Con el veinte por ciento de los contactos llegamos al treinta y seis por ciento de los que se van. Sin orden, al veinte.</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Y a la derecha, algo que para nosotros es igual de importante: (técnico) la calibración. Después de entrenarlo, ajustamos ese puntaje con los últimos tres meses de 2025, para que sea una probabilidad de verdad. Cuando nuestra solución dice "setenta por ciento de riesgo", efectivamente siete de cada diez de esos clientes no vuelven. El error promedio es de un punto.</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¿Por qué importa? Porque así el porcentaje deja de ser un puntaje y pasa a ser una probabilidad real. Y con probabilidades reales, Posventa puede planificar.</a:t>
            </a:r>
          </a:p>
        </p:txBody>
      </p:sp>
      <p:sp>
        <p:nvSpPr>
          <p:cNvPr id="737" name="PlaceHolder 3"/>
          <p:cNvSpPr>
            <a:spLocks noGrp="1"/>
          </p:cNvSpPr>
          <p:nvPr>
            <p:ph type="sldNum" idx="8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34CD3DDB-CA26-466E-A998-F204084E4CC8}" type="slidenum">
              <a:rPr lang="en-US" sz="1200" b="0" strike="noStrike" spc="-1">
                <a:solidFill>
                  <a:srgbClr val="000000"/>
                </a:solidFill>
                <a:latin typeface="Times New Roman"/>
              </a:rPr>
              <a:t>11</a:t>
            </a:fld>
            <a:endParaRPr lang="es-AR" sz="1200" b="0" strike="noStrike" spc="-1">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 name="PlaceHolder 1"/>
          <p:cNvSpPr>
            <a:spLocks noGrp="1" noRot="1" noChangeAspect="1"/>
          </p:cNvSpPr>
          <p:nvPr>
            <p:ph type="sldImg"/>
          </p:nvPr>
        </p:nvSpPr>
        <p:spPr>
          <a:xfrm>
            <a:off x="685800" y="1143000"/>
            <a:ext cx="5485680" cy="3085560"/>
          </a:xfrm>
          <a:prstGeom prst="rect">
            <a:avLst/>
          </a:prstGeom>
          <a:ln w="0">
            <a:noFill/>
          </a:ln>
        </p:spPr>
      </p:sp>
      <p:sp>
        <p:nvSpPr>
          <p:cNvPr id="73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TEO  ·  65 s  ·  de 9:30 a 10:35</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Y ahora les quiero contar algo que no suele contarse en un pitch.</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En un momento del trabajo, nuestro modelo llegó a cero coma ochenta y uno, en una escala donde cero coma cinco es tirar una moneda y uno es perfecto. Estábamos contentos.</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Hasta que miramos de dónde salía. Había dos columnas del dataset, el kilometraje y la conectividad, que no eran datos de cada momento: eran una foto de hoy, copiada hacia el pasado. Información que, el día que hay que decidir a quién llamar, todavía no existe. (técnico) Es lo que en ciencia de datos se llama leakage: el modelo estaba mirando las respuestas.</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Así que las sacamos. Y nos quedamos con cero coma setenta y cuatro.</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Es un número menos lindo. [PAUSA] Pero es el que se cumple cuando se usa de verdad.</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Preferimos prometer lo que se puede cumplir.</a:t>
            </a:r>
          </a:p>
        </p:txBody>
      </p:sp>
      <p:sp>
        <p:nvSpPr>
          <p:cNvPr id="740" name="PlaceHolder 3"/>
          <p:cNvSpPr>
            <a:spLocks noGrp="1"/>
          </p:cNvSpPr>
          <p:nvPr>
            <p:ph type="sldNum" idx="8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08F961FE-5BEB-4FD9-ACD4-CEA158B8EA93}" type="slidenum">
              <a:rPr lang="en-US" sz="1200" b="0" strike="noStrike" spc="-1">
                <a:solidFill>
                  <a:srgbClr val="000000"/>
                </a:solidFill>
                <a:latin typeface="Times New Roman"/>
              </a:rPr>
              <a:t>12</a:t>
            </a:fld>
            <a:endParaRPr lang="es-AR" sz="1200" b="0" strike="noStrike" spc="-1">
              <a:solidFill>
                <a:srgbClr val="000000"/>
              </a:solidFill>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t>ORADOR: TEO</a:t>
            </a:r>
          </a:p>
          <a:p>
            <a:endParaRPr/>
          </a:p>
          <a:p>
            <a:r>
              <a:t>SHAP distribuye la diferencia entre la salida base del modelo y la predicción de cada registro entre sus variables. Aquí se explica el modelo LightGBM de abandono antes de la calibración isotónica. La contribución positiva aumenta el score bruto de abandono y la negativa lo reduce. Las unidades son log-odds. No deben interpretarse como puntos porcentuales de la probabilidad calibrada.</a:t>
            </a:r>
          </a:p>
          <a:p>
            <a:endParaRPr/>
          </a:p>
          <a:p>
            <a:r>
              <a:t>La barra global muestra el promedio del valor absoluto de SHAP, que mide magnitud, no dirección. Por eso este ranking no implica que una versión o un concesionario siempre aumenten el riesgo. Cada vehículo tiene sus propios aportes y los tres motivos mostrados en la lista se ordenan por magnitud absoluta. SHAP describe cómo usa el modelo sus variables, sin demostrar causalidad ni estimar el efecto del contacto comercial.</a:t>
            </a:r>
          </a:p>
          <a:p>
            <a:endParaRPr/>
          </a:p>
          <a:p>
            <a:r>
              <a:t>Datos del proyecto: desafio-1-repurchase-propensity/data/models/shap_global.csv, columna mean_abs_shap_logodds. Valores exactos: tma 0.27998781401611383; maint_per_year_observed 0.18864681768064867; last_maint_dealer 0.18345771059995925; vehicle_age_days 0.17058201559424355; fleet_size_sales 0.13163563602380587. El gráfico muestra tres decimales. La columna mean_abs_shap es un proxy reescalado y no se usa en esta slide.</a:t>
            </a:r>
          </a:p>
          <a:p>
            <a:endParaRPr/>
          </a:p>
          <a:p>
            <a:r>
              <a:t>Método: src/repurchase/explicabilidad.py, shap_values, usa shap.TreeExplainer(booster). src/repurchase/modelo.py ajusta la calibración isotónica en validación. scripts/run_pipeline.py genera el ranking global con una muestra de 8.000 de las 19.709 ventanas del test. La etapa operativa conserva los SHAP originales y no constituye un segundo modelo de respuesta al contacto.</a:t>
            </a:r>
          </a:p>
          <a:p>
            <a:endParaRPr/>
          </a:p>
          <a:p>
            <a:r>
              <a:t>Esta explicación precede al caso individual de la siguiente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 name="PlaceHolder 1"/>
          <p:cNvSpPr>
            <a:spLocks noGrp="1" noRot="1" noChangeAspect="1"/>
          </p:cNvSpPr>
          <p:nvPr>
            <p:ph type="sldImg"/>
          </p:nvPr>
        </p:nvSpPr>
        <p:spPr>
          <a:xfrm>
            <a:off x="685800" y="1143000"/>
            <a:ext cx="5485680" cy="3085560"/>
          </a:xfrm>
          <a:prstGeom prst="rect">
            <a:avLst/>
          </a:prstGeom>
          <a:ln w="0">
            <a:noFill/>
          </a:ln>
        </p:spPr>
      </p:sp>
      <p:sp>
        <p:nvSpPr>
          <p:cNvPr id="74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dirty="0">
                <a:solidFill>
                  <a:srgbClr val="000000"/>
                </a:solidFill>
                <a:latin typeface="Arial"/>
              </a:rPr>
              <a:t>ORADOR: TEO  ·  90 s  ·  de 10:35 a 12:05</a:t>
            </a:r>
          </a:p>
          <a:p>
            <a:pPr marL="216000" indent="0">
              <a:lnSpc>
                <a:spcPct val="100000"/>
              </a:lnSpc>
              <a:buNone/>
              <a:tabLst>
                <a:tab pos="0" algn="l"/>
              </a:tabLst>
            </a:pPr>
            <a:endParaRPr lang="es-AR" sz="2000" b="0" strike="noStrike" spc="-1" dirty="0">
              <a:solidFill>
                <a:srgbClr val="000000"/>
              </a:solidFill>
              <a:latin typeface="Arial"/>
            </a:endParaRPr>
          </a:p>
          <a:p>
            <a:pPr marL="216000" indent="0">
              <a:lnSpc>
                <a:spcPct val="100000"/>
              </a:lnSpc>
              <a:buNone/>
              <a:tabLst>
                <a:tab pos="0" algn="l"/>
              </a:tabLst>
            </a:pPr>
            <a:r>
              <a:rPr lang="es-AR" sz="2000" b="0" strike="noStrike" spc="-1" dirty="0">
                <a:solidFill>
                  <a:srgbClr val="000000"/>
                </a:solidFill>
                <a:latin typeface="Arial"/>
              </a:rPr>
              <a:t>¿Se acuerdan de Martín? [PAUSA] Les presento a Martín.</a:t>
            </a:r>
          </a:p>
          <a:p>
            <a:pPr marL="216000" indent="0">
              <a:lnSpc>
                <a:spcPct val="100000"/>
              </a:lnSpc>
              <a:buNone/>
              <a:tabLst>
                <a:tab pos="0" algn="l"/>
              </a:tabLst>
            </a:pPr>
            <a:endParaRPr lang="es-AR" sz="2000" b="0" strike="noStrike" spc="-1" dirty="0">
              <a:solidFill>
                <a:srgbClr val="000000"/>
              </a:solidFill>
              <a:latin typeface="Arial"/>
            </a:endParaRPr>
          </a:p>
          <a:p>
            <a:pPr marL="216000" indent="0">
              <a:lnSpc>
                <a:spcPct val="100000"/>
              </a:lnSpc>
              <a:buNone/>
              <a:tabLst>
                <a:tab pos="0" algn="l"/>
              </a:tabLst>
            </a:pPr>
            <a:r>
              <a:rPr lang="es-AR" sz="2000" b="0" strike="noStrike" spc="-1" dirty="0">
                <a:solidFill>
                  <a:srgbClr val="000000"/>
                </a:solidFill>
                <a:latin typeface="Arial"/>
              </a:rPr>
              <a:t>[CLIC] Tiene una Ranger 2019. Hace unos veintisiete mil kilómetros por año: la usa para trabajar. Hizo dos </a:t>
            </a:r>
            <a:r>
              <a:rPr lang="es-AR" sz="2000" b="0" strike="noStrike" spc="-1" dirty="0" err="1">
                <a:solidFill>
                  <a:srgbClr val="000000"/>
                </a:solidFill>
                <a:latin typeface="Arial"/>
              </a:rPr>
              <a:t>services</a:t>
            </a:r>
            <a:r>
              <a:rPr lang="es-AR" sz="2000" b="0" strike="noStrike" spc="-1" dirty="0">
                <a:solidFill>
                  <a:srgbClr val="000000"/>
                </a:solidFill>
                <a:latin typeface="Arial"/>
              </a:rPr>
              <a:t> en un concesionario oficial. Hoy, para Ford, es uno más en la lista de recordatorios.</a:t>
            </a:r>
          </a:p>
          <a:p>
            <a:pPr marL="216000" indent="0">
              <a:lnSpc>
                <a:spcPct val="100000"/>
              </a:lnSpc>
              <a:buNone/>
              <a:tabLst>
                <a:tab pos="0" algn="l"/>
              </a:tabLst>
            </a:pPr>
            <a:endParaRPr lang="es-AR" sz="2000" b="0" strike="noStrike" spc="-1" dirty="0">
              <a:solidFill>
                <a:srgbClr val="000000"/>
              </a:solidFill>
              <a:latin typeface="Arial"/>
            </a:endParaRPr>
          </a:p>
          <a:p>
            <a:pPr marL="216000" indent="0">
              <a:lnSpc>
                <a:spcPct val="100000"/>
              </a:lnSpc>
              <a:buNone/>
              <a:tabLst>
                <a:tab pos="0" algn="l"/>
              </a:tabLst>
            </a:pPr>
            <a:r>
              <a:rPr lang="es-AR" sz="2000" b="0" strike="noStrike" spc="-1" dirty="0">
                <a:solidFill>
                  <a:srgbClr val="000000"/>
                </a:solidFill>
                <a:latin typeface="Arial"/>
              </a:rPr>
              <a:t>Pero sus datos cuentan otra historia.</a:t>
            </a:r>
          </a:p>
          <a:p>
            <a:pPr marL="216000" indent="0">
              <a:lnSpc>
                <a:spcPct val="100000"/>
              </a:lnSpc>
              <a:buNone/>
              <a:tabLst>
                <a:tab pos="0" algn="l"/>
              </a:tabLst>
            </a:pPr>
            <a:endParaRPr lang="es-AR" sz="2000" b="0" strike="noStrike" spc="-1" dirty="0">
              <a:solidFill>
                <a:srgbClr val="000000"/>
              </a:solidFill>
              <a:latin typeface="Arial"/>
            </a:endParaRPr>
          </a:p>
          <a:p>
            <a:pPr marL="216000" indent="0">
              <a:lnSpc>
                <a:spcPct val="100000"/>
              </a:lnSpc>
              <a:buNone/>
              <a:tabLst>
                <a:tab pos="0" algn="l"/>
              </a:tabLst>
            </a:pPr>
            <a:r>
              <a:rPr lang="es-AR" sz="2000" b="0" strike="noStrike" spc="-1" dirty="0">
                <a:solidFill>
                  <a:srgbClr val="000000"/>
                </a:solidFill>
                <a:latin typeface="Arial"/>
              </a:rPr>
              <a:t>[CLIC] Su camioneta tiene siete años: justo la etapa en la que más clientes dejan Ford.</a:t>
            </a:r>
          </a:p>
          <a:p>
            <a:pPr marL="216000" indent="0">
              <a:lnSpc>
                <a:spcPct val="100000"/>
              </a:lnSpc>
              <a:buNone/>
              <a:tabLst>
                <a:tab pos="0" algn="l"/>
              </a:tabLst>
            </a:pPr>
            <a:endParaRPr lang="es-AR" sz="2000" b="0" strike="noStrike" spc="-1" dirty="0">
              <a:solidFill>
                <a:srgbClr val="000000"/>
              </a:solidFill>
              <a:latin typeface="Arial"/>
            </a:endParaRPr>
          </a:p>
          <a:p>
            <a:pPr marL="216000" indent="0">
              <a:lnSpc>
                <a:spcPct val="100000"/>
              </a:lnSpc>
              <a:buNone/>
              <a:tabLst>
                <a:tab pos="0" algn="l"/>
              </a:tabLst>
            </a:pPr>
            <a:r>
              <a:rPr lang="es-AR" sz="2000" b="0" strike="noStrike" spc="-1" dirty="0">
                <a:solidFill>
                  <a:srgbClr val="000000"/>
                </a:solidFill>
                <a:latin typeface="Arial"/>
              </a:rPr>
              <a:t>[CLIC] Viene menos de una vez por año, aunque con el uso que le da, necesita </a:t>
            </a:r>
            <a:r>
              <a:rPr lang="es-AR" sz="2000" b="0" strike="noStrike" spc="-1" dirty="0" err="1">
                <a:solidFill>
                  <a:srgbClr val="000000"/>
                </a:solidFill>
                <a:latin typeface="Arial"/>
              </a:rPr>
              <a:t>service</a:t>
            </a:r>
            <a:r>
              <a:rPr lang="es-AR" sz="2000" b="0" strike="noStrike" spc="-1" dirty="0">
                <a:solidFill>
                  <a:srgbClr val="000000"/>
                </a:solidFill>
                <a:latin typeface="Arial"/>
              </a:rPr>
              <a:t> cada cuatro o cinco meses.</a:t>
            </a:r>
          </a:p>
          <a:p>
            <a:pPr marL="216000" indent="0">
              <a:lnSpc>
                <a:spcPct val="100000"/>
              </a:lnSpc>
              <a:buNone/>
              <a:tabLst>
                <a:tab pos="0" algn="l"/>
              </a:tabLst>
            </a:pPr>
            <a:endParaRPr lang="es-AR" sz="2000" b="0" strike="noStrike" spc="-1" dirty="0">
              <a:solidFill>
                <a:srgbClr val="000000"/>
              </a:solidFill>
              <a:latin typeface="Arial"/>
            </a:endParaRPr>
          </a:p>
          <a:p>
            <a:pPr marL="216000" indent="0">
              <a:lnSpc>
                <a:spcPct val="100000"/>
              </a:lnSpc>
              <a:buNone/>
              <a:tabLst>
                <a:tab pos="0" algn="l"/>
              </a:tabLst>
            </a:pPr>
            <a:r>
              <a:rPr lang="es-AR" sz="2000" b="0" strike="noStrike" spc="-1" dirty="0">
                <a:solidFill>
                  <a:srgbClr val="000000"/>
                </a:solidFill>
                <a:latin typeface="Arial"/>
              </a:rPr>
              <a:t>[CLIC] Y entre sus dos últimos </a:t>
            </a:r>
            <a:r>
              <a:rPr lang="es-AR" sz="2000" b="0" strike="noStrike" spc="-1" dirty="0" err="1">
                <a:solidFill>
                  <a:srgbClr val="000000"/>
                </a:solidFill>
                <a:latin typeface="Arial"/>
              </a:rPr>
              <a:t>services</a:t>
            </a:r>
            <a:r>
              <a:rPr lang="es-AR" sz="2000" b="0" strike="noStrike" spc="-1" dirty="0">
                <a:solidFill>
                  <a:srgbClr val="000000"/>
                </a:solidFill>
                <a:latin typeface="Arial"/>
              </a:rPr>
              <a:t> pasaron trece meses.</a:t>
            </a:r>
          </a:p>
          <a:p>
            <a:pPr marL="216000" indent="0">
              <a:lnSpc>
                <a:spcPct val="100000"/>
              </a:lnSpc>
              <a:buNone/>
              <a:tabLst>
                <a:tab pos="0" algn="l"/>
              </a:tabLst>
            </a:pPr>
            <a:endParaRPr lang="es-AR" sz="2000" b="0" strike="noStrike" spc="-1" dirty="0">
              <a:solidFill>
                <a:srgbClr val="000000"/>
              </a:solidFill>
              <a:latin typeface="Arial"/>
            </a:endParaRPr>
          </a:p>
          <a:p>
            <a:pPr marL="216000" indent="0">
              <a:lnSpc>
                <a:spcPct val="100000"/>
              </a:lnSpc>
              <a:buNone/>
              <a:tabLst>
                <a:tab pos="0" algn="l"/>
              </a:tabLst>
            </a:pPr>
            <a:r>
              <a:rPr lang="es-AR" sz="2000" b="0" strike="noStrike" spc="-1" dirty="0">
                <a:solidFill>
                  <a:srgbClr val="000000"/>
                </a:solidFill>
                <a:latin typeface="Arial"/>
              </a:rPr>
              <a:t>[PAUSA LARGA]</a:t>
            </a:r>
          </a:p>
          <a:p>
            <a:pPr marL="216000" indent="0">
              <a:lnSpc>
                <a:spcPct val="100000"/>
              </a:lnSpc>
              <a:buNone/>
              <a:tabLst>
                <a:tab pos="0" algn="l"/>
              </a:tabLst>
            </a:pPr>
            <a:endParaRPr lang="es-AR" sz="2000" b="0" strike="noStrike" spc="-1" dirty="0">
              <a:solidFill>
                <a:srgbClr val="000000"/>
              </a:solidFill>
              <a:latin typeface="Arial"/>
            </a:endParaRPr>
          </a:p>
          <a:p>
            <a:pPr marL="216000" indent="0">
              <a:lnSpc>
                <a:spcPct val="100000"/>
              </a:lnSpc>
              <a:buNone/>
              <a:tabLst>
                <a:tab pos="0" algn="l"/>
              </a:tabLst>
            </a:pPr>
            <a:r>
              <a:rPr lang="es-AR" sz="2000" b="0" strike="noStrike" spc="-1" dirty="0">
                <a:solidFill>
                  <a:srgbClr val="000000"/>
                </a:solidFill>
                <a:latin typeface="Arial"/>
              </a:rPr>
              <a:t>Martín se está yendo. Y hoy nadie lo está viendo.</a:t>
            </a:r>
          </a:p>
          <a:p>
            <a:pPr marL="216000" indent="0">
              <a:lnSpc>
                <a:spcPct val="100000"/>
              </a:lnSpc>
              <a:buNone/>
              <a:tabLst>
                <a:tab pos="0" algn="l"/>
              </a:tabLst>
            </a:pPr>
            <a:endParaRPr lang="es-AR" sz="2000" b="0" strike="noStrike" spc="-1" dirty="0">
              <a:solidFill>
                <a:srgbClr val="000000"/>
              </a:solidFill>
              <a:latin typeface="Arial"/>
            </a:endParaRPr>
          </a:p>
          <a:p>
            <a:pPr marL="216000" indent="0">
              <a:lnSpc>
                <a:spcPct val="100000"/>
              </a:lnSpc>
              <a:buNone/>
              <a:tabLst>
                <a:tab pos="0" algn="l"/>
              </a:tabLst>
            </a:pPr>
            <a:r>
              <a:rPr lang="es-AR" sz="2000" b="0" strike="noStrike" spc="-1" dirty="0">
                <a:solidFill>
                  <a:srgbClr val="000000"/>
                </a:solidFill>
                <a:latin typeface="Arial"/>
              </a:rPr>
              <a:t>[CLIC] Con nuestra solución, Martín aparece arriba de la lista de su concesionario: setenta y seis por ciento de probabilidad de dejar Ford, con estos tres motivos. (técnico) Los motivos los calcula el mismo modelo, con SHAP, una técnica que mide cuánto empuja cada dato el riesgo de cada cliente. Y nosotros los traducimos a palabras.</a:t>
            </a:r>
          </a:p>
          <a:p>
            <a:pPr marL="216000" indent="0">
              <a:lnSpc>
                <a:spcPct val="100000"/>
              </a:lnSpc>
              <a:buNone/>
              <a:tabLst>
                <a:tab pos="0" algn="l"/>
              </a:tabLst>
            </a:pPr>
            <a:endParaRPr lang="es-AR" sz="2000" b="0" strike="noStrike" spc="-1" dirty="0">
              <a:solidFill>
                <a:srgbClr val="000000"/>
              </a:solidFill>
              <a:latin typeface="Arial"/>
            </a:endParaRPr>
          </a:p>
          <a:p>
            <a:pPr marL="216000" indent="0">
              <a:lnSpc>
                <a:spcPct val="100000"/>
              </a:lnSpc>
              <a:buNone/>
              <a:tabLst>
                <a:tab pos="0" algn="l"/>
              </a:tabLst>
            </a:pPr>
            <a:r>
              <a:rPr lang="es-AR" sz="2000" b="0" strike="noStrike" spc="-1" dirty="0">
                <a:solidFill>
                  <a:srgbClr val="000000"/>
                </a:solidFill>
                <a:latin typeface="Arial"/>
              </a:rPr>
              <a:t>[CLIC] Entonces, el asesor no recibe un número. [PAUSA] Recibe una conversación. Sabe qué decirle a Martín antes de levantar el teléfono. Y lo ve así, tal cual, en el tablero que construimos para cada concesionario.</a:t>
            </a:r>
          </a:p>
        </p:txBody>
      </p:sp>
      <p:sp>
        <p:nvSpPr>
          <p:cNvPr id="743" name="PlaceHolder 3"/>
          <p:cNvSpPr>
            <a:spLocks noGrp="1"/>
          </p:cNvSpPr>
          <p:nvPr>
            <p:ph type="sldNum" idx="8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98E60558-0B8E-40CD-B2EE-37D87B631E0B}" type="slidenum">
              <a:rPr lang="en-US" sz="1200" b="0" strike="noStrike" spc="-1">
                <a:solidFill>
                  <a:srgbClr val="000000"/>
                </a:solidFill>
                <a:latin typeface="Times New Roman"/>
              </a:rPr>
              <a:t>14</a:t>
            </a:fld>
            <a:endParaRPr lang="es-AR" sz="1200" b="0" strike="noStrike" spc="-1">
              <a:solidFill>
                <a:srgbClr val="000000"/>
              </a:solidFill>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 name="PlaceHolder 1"/>
          <p:cNvSpPr>
            <a:spLocks noGrp="1" noRot="1" noChangeAspect="1"/>
          </p:cNvSpPr>
          <p:nvPr>
            <p:ph type="sldImg"/>
          </p:nvPr>
        </p:nvSpPr>
        <p:spPr>
          <a:xfrm>
            <a:off x="685800" y="1143000"/>
            <a:ext cx="5485680" cy="3085560"/>
          </a:xfrm>
          <a:prstGeom prst="rect">
            <a:avLst/>
          </a:prstGeom>
          <a:ln w="0">
            <a:noFill/>
          </a:ln>
        </p:spPr>
      </p:sp>
      <p:sp>
        <p:nvSpPr>
          <p:cNvPr id="74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TEO  ·  80 s  ·  de 12:05 a 13:25</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El flujo tiene dos etapas. La primera entrena el modelo con los CSV disponibles, estima la probabilidad de abandono (prob_churn) por vehículo y calcula los tres motivos SHAP. Conserva los grupos alto 20 %, medio 30 % y bajo 50 %. Los porcentajes son cuotas del ranking, no umbrales de probabilidad.</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La segunda etapa reúne alto y medio, el 50 % de vehículos, y aplica una prioridad operativa explicable usando los datos actuales. Comprueba turno, margen mínimo de 14 días y vínculo previo. Los casos sin evidencia suficiente pasan a revisión. Las señales SHAP orientables a una acción, el vínculo reciente y el riesgo original ordenan a los clientes elegibles.</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La salida selecciona un vehículo representativo elegible por customer_id para evitar contactos duplicados. La lista conserva customer_id, vehicle_id, fecha de scoring, probabilidad de abandono original (0 a 1), grupo original y tres motivos SHAP, y agrega estado y motivos operativos. El grupo bajo permanece en el resultado del primer análisis.</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Alcance: esta etapa no entrena un segundo modelo ni estima recuperación o el efecto causal de contactar. Un riesgo alto no demuestra que un cliente sea irrecuperable. Sin historial de campaña y resultados de contacto/control, los datos sólo permiten priorizar operativamente. Las métricas históricas, porcentajes de abandono y supuestos económicos de las demás slides corresponden a la etapa 1 y no validan el efecto de este segundo filtro. Medir el efecto real del contacto sigue siendo trabajo del piloto.</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Referencia técnica para la distinción entre riesgo y efecto incremental del contacto: scikit-uplift, documentación oficial, https://www.uplift-modeling.com/en/latest/ .</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[PAUSA] Franco les cuenta cómo medir y evaluar la operación.</a:t>
            </a:r>
          </a:p>
        </p:txBody>
      </p:sp>
      <p:sp>
        <p:nvSpPr>
          <p:cNvPr id="746" name="PlaceHolder 3"/>
          <p:cNvSpPr>
            <a:spLocks noGrp="1"/>
          </p:cNvSpPr>
          <p:nvPr>
            <p:ph type="sldNum" idx="8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C7396732-C456-43A1-AB26-8D701166CE45}" type="slidenum">
              <a:rPr lang="en-US" sz="1200" b="0" strike="noStrike" spc="-1">
                <a:solidFill>
                  <a:srgbClr val="000000"/>
                </a:solidFill>
                <a:latin typeface="Times New Roman"/>
              </a:rPr>
              <a:t>15</a:t>
            </a:fld>
            <a:endParaRPr lang="es-AR" sz="1200" b="0" strike="noStrike" spc="-1">
              <a:solidFill>
                <a:srgbClr val="000000"/>
              </a:solidFill>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 name="PlaceHolder 1"/>
          <p:cNvSpPr>
            <a:spLocks noGrp="1" noRot="1" noChangeAspect="1"/>
          </p:cNvSpPr>
          <p:nvPr>
            <p:ph type="sldImg"/>
          </p:nvPr>
        </p:nvSpPr>
        <p:spPr>
          <a:xfrm>
            <a:off x="685800" y="1143000"/>
            <a:ext cx="5485680" cy="3085560"/>
          </a:xfrm>
          <a:prstGeom prst="rect">
            <a:avLst/>
          </a:prstGeom>
          <a:ln w="0">
            <a:noFill/>
          </a:ln>
        </p:spPr>
      </p:sp>
      <p:sp>
        <p:nvSpPr>
          <p:cNvPr id="74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FRANCO  ·  8 s  ·  de 13:25 a 13:33</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Gracias, Teo. Porque la pregunta de cualquier gerente es otra: ¿cuánto vale esto?</a:t>
            </a:r>
          </a:p>
        </p:txBody>
      </p:sp>
      <p:sp>
        <p:nvSpPr>
          <p:cNvPr id="749" name="PlaceHolder 3"/>
          <p:cNvSpPr>
            <a:spLocks noGrp="1"/>
          </p:cNvSpPr>
          <p:nvPr>
            <p:ph type="sldNum" idx="8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1F8B43D4-4B0B-4598-8D04-BF20D922118D}" type="slidenum">
              <a:rPr lang="en-US" sz="1200" b="0" strike="noStrike" spc="-1">
                <a:solidFill>
                  <a:srgbClr val="000000"/>
                </a:solidFill>
                <a:latin typeface="Times New Roman"/>
              </a:rPr>
              <a:t>16</a:t>
            </a:fld>
            <a:endParaRPr lang="es-AR" sz="1200" b="0" strike="noStrike" spc="-1">
              <a:solidFill>
                <a:srgbClr val="000000"/>
              </a:solidFill>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 name="PlaceHolder 1"/>
          <p:cNvSpPr>
            <a:spLocks noGrp="1" noRot="1" noChangeAspect="1"/>
          </p:cNvSpPr>
          <p:nvPr>
            <p:ph type="sldImg"/>
          </p:nvPr>
        </p:nvSpPr>
        <p:spPr>
          <a:xfrm>
            <a:off x="685800" y="1143000"/>
            <a:ext cx="5485680" cy="3085560"/>
          </a:xfrm>
          <a:prstGeom prst="rect">
            <a:avLst/>
          </a:prstGeom>
          <a:ln w="0">
            <a:noFill/>
          </a:ln>
        </p:spPr>
      </p:sp>
      <p:sp>
        <p:nvSpPr>
          <p:cNvPr id="75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FRANCO  ·  75 s  ·  de 13:33 a 14:48</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Hicimos la cuenta con supuestos conservadores, y los dejamos escritos para que Posventa los reemplace por los suyos. Un contacto recupera al quince por ciento de los que se iban; un service retenido vale doscientos cincuenta dólares; y un contacto cuesta tres.</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Con la misma cantidad de contactos, nuestra solución recupera un ochenta por ciento más de services que contactando sin orden.</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Eso son unos doscientos mil dólares por año de margen adicional. Y eso sin contar lo que vale la próxima compra de Martín.</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¿Y si el modelo se equivoca? Miren la asimetría: contactar de más cuesta tres dólares. No contactar a quien se va cuesta el service. [PAUSA] Ochenta a uno. Equivocarse para el lado de llamar sale casi gratis.</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La inversión es de treinta a cuarenta y cinco mil dólares el primer año, y se recupera en el primer trimestre.</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[RECORTE] Y lo probamos al revés: aunque el contacto recupere sólo al cinco por ciento, y el service valga cien dólares, sigue siendo rentable.</a:t>
            </a:r>
          </a:p>
        </p:txBody>
      </p:sp>
      <p:sp>
        <p:nvSpPr>
          <p:cNvPr id="752" name="PlaceHolder 3"/>
          <p:cNvSpPr>
            <a:spLocks noGrp="1"/>
          </p:cNvSpPr>
          <p:nvPr>
            <p:ph type="sldNum" idx="8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07652B6F-77F9-433F-80F3-66C2289340ED}" type="slidenum">
              <a:rPr lang="en-US" sz="1200" b="0" strike="noStrike" spc="-1">
                <a:solidFill>
                  <a:srgbClr val="000000"/>
                </a:solidFill>
                <a:latin typeface="Times New Roman"/>
              </a:rPr>
              <a:t>17</a:t>
            </a:fld>
            <a:endParaRPr lang="es-AR" sz="1200" b="0" strike="noStrike" spc="-1">
              <a:solidFill>
                <a:srgbClr val="000000"/>
              </a:solidFill>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 name="PlaceHolder 1"/>
          <p:cNvSpPr>
            <a:spLocks noGrp="1" noRot="1" noChangeAspect="1"/>
          </p:cNvSpPr>
          <p:nvPr>
            <p:ph type="sldImg"/>
          </p:nvPr>
        </p:nvSpPr>
        <p:spPr>
          <a:xfrm>
            <a:off x="685800" y="1143000"/>
            <a:ext cx="5486400" cy="3086100"/>
          </a:xfrm>
          <a:prstGeom prst="rect">
            <a:avLst/>
          </a:prstGeom>
          <a:ln w="0">
            <a:noFill/>
          </a:ln>
        </p:spPr>
      </p:sp>
      <p:sp>
        <p:nvSpPr>
          <p:cNvPr id="75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FRANCO  ·  62 s  ·  de 14:48 a 15:50</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Y acá viene lo más importante de esta parte: no les pedimos que nos crean. Les proponemos medirlo.</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Tomamos la lista de un mes, ordenada por riesgo, y la partimos en diez grupos.</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En cada grupo, a la mitad de los clientes se le aplica la acción, y la otra mitad sigue como hoy. (técnico) Es un A/B test con grupo de control por decil de riesgo: así medimos el efecto real del contacto, y no sólo si el modelo acierta.</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A los noventa días se compara: ¿quién hizo el service? Por grupo, por acción y por concesionario.</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Con el volumen de toda la red, en dos meses ya se ve si el contacto mejora el retorno en cinco puntos. Y no hace falta ningún sistema nuevo: usa Service Leads, FordPass y Service Reminder, que Ford ya tiene.</a:t>
            </a:r>
          </a:p>
        </p:txBody>
      </p:sp>
      <p:sp>
        <p:nvSpPr>
          <p:cNvPr id="755" name="PlaceHolder 3"/>
          <p:cNvSpPr>
            <a:spLocks noGrp="1"/>
          </p:cNvSpPr>
          <p:nvPr>
            <p:ph type="sldNum" idx="8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F4313AE6-E2AA-4F3A-B4DE-6A9A54A74B2A}" type="slidenum">
              <a:rPr lang="en-US" sz="1200" b="0" strike="noStrike" spc="-1">
                <a:solidFill>
                  <a:srgbClr val="000000"/>
                </a:solidFill>
                <a:latin typeface="Times New Roman"/>
              </a:rPr>
              <a:t>18</a:t>
            </a:fld>
            <a:endParaRPr lang="es-AR" sz="1200" b="0" strike="noStrike" spc="-1">
              <a:solidFill>
                <a:srgbClr val="000000"/>
              </a:solidFill>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 name="PlaceHolder 1"/>
          <p:cNvSpPr>
            <a:spLocks noGrp="1" noRot="1" noChangeAspect="1"/>
          </p:cNvSpPr>
          <p:nvPr>
            <p:ph type="sldImg"/>
          </p:nvPr>
        </p:nvSpPr>
        <p:spPr>
          <a:xfrm>
            <a:off x="685800" y="1143000"/>
            <a:ext cx="5485680" cy="3085560"/>
          </a:xfrm>
          <a:prstGeom prst="rect">
            <a:avLst/>
          </a:prstGeom>
          <a:ln w="0">
            <a:noFill/>
          </a:ln>
        </p:spPr>
      </p:sp>
      <p:sp>
        <p:nvSpPr>
          <p:cNvPr id="75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FRANCO  ·  7 s  ·  de 15:50 a 15:57</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¿Y qué nos hace distintos?</a:t>
            </a:r>
          </a:p>
        </p:txBody>
      </p:sp>
      <p:sp>
        <p:nvSpPr>
          <p:cNvPr id="758" name="PlaceHolder 3"/>
          <p:cNvSpPr>
            <a:spLocks noGrp="1"/>
          </p:cNvSpPr>
          <p:nvPr>
            <p:ph type="sldNum" idx="8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B7A32DFC-3D10-490C-AEE2-64004136D54E}" type="slidenum">
              <a:rPr lang="en-US" sz="1200" b="0" strike="noStrike" spc="-1">
                <a:solidFill>
                  <a:srgbClr val="000000"/>
                </a:solidFill>
                <a:latin typeface="Times New Roman"/>
              </a:rPr>
              <a:t>19</a:t>
            </a:fld>
            <a:endParaRPr lang="es-AR" sz="1200" b="0" strike="noStrike" spc="-1">
              <a:solidFill>
                <a:srgbClr val="000000"/>
              </a:solidFill>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 name="PlaceHolder 1"/>
          <p:cNvSpPr>
            <a:spLocks noGrp="1" noRot="1" noChangeAspect="1"/>
          </p:cNvSpPr>
          <p:nvPr>
            <p:ph type="sldImg"/>
          </p:nvPr>
        </p:nvSpPr>
        <p:spPr>
          <a:xfrm>
            <a:off x="685800" y="1143000"/>
            <a:ext cx="5486400" cy="3086100"/>
          </a:xfrm>
          <a:prstGeom prst="rect">
            <a:avLst/>
          </a:prstGeom>
          <a:ln w="0">
            <a:noFill/>
          </a:ln>
        </p:spPr>
      </p:sp>
      <p:sp>
        <p:nvSpPr>
          <p:cNvPr id="76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FRANCO  ·  55 s  ·  de 15:57 a 16:52</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Cuatro palabras.</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Precisa. Cada Ranger tiene su propio calendario, según sus kilómetros reales. No una fecha fija para todos.</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Honesta. Sus resultados se sostienen, porque descartamos los datos que la hacían parecer mejor de lo que era. Ya lo contó Teo.</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Clara. Cada caso llega explicado, en palabras que el asesor puede usar con el cliente.</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Y verificada. Resolvimos el problema dos veces, por caminos separados, y comparamos. Las dos soluciones coincidieron en quién entra y qué cuenta como volver. Y una le corrigió un detalle a la otra: el plan oficial de la Ranger nueva es cada dieciséis mil kilómetros, no quince.</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[PAUSA] Pero una buena solución no termina en una lista. Flor les cuenta qué sigue.</a:t>
            </a:r>
          </a:p>
        </p:txBody>
      </p:sp>
      <p:sp>
        <p:nvSpPr>
          <p:cNvPr id="761" name="PlaceHolder 3"/>
          <p:cNvSpPr>
            <a:spLocks noGrp="1"/>
          </p:cNvSpPr>
          <p:nvPr>
            <p:ph type="sldNum" idx="9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FF289ABB-6E65-474C-9DB0-D9011E6DE741}" type="slidenum">
              <a:rPr lang="en-US" sz="1200" b="0" strike="noStrike" spc="-1">
                <a:solidFill>
                  <a:srgbClr val="000000"/>
                </a:solidFill>
                <a:latin typeface="Times New Roman"/>
              </a:rPr>
              <a:t>20</a:t>
            </a:fld>
            <a:endParaRPr lang="es-AR" sz="1200" b="0" strike="noStrike" spc="-1">
              <a:solidFill>
                <a:srgbClr val="000000"/>
              </a:solidFill>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 name="PlaceHolder 1"/>
          <p:cNvSpPr>
            <a:spLocks noGrp="1" noRot="1" noChangeAspect="1"/>
          </p:cNvSpPr>
          <p:nvPr>
            <p:ph type="sldImg"/>
          </p:nvPr>
        </p:nvSpPr>
        <p:spPr>
          <a:xfrm>
            <a:off x="685800" y="1143000"/>
            <a:ext cx="5485680" cy="3085560"/>
          </a:xfrm>
          <a:prstGeom prst="rect">
            <a:avLst/>
          </a:prstGeom>
          <a:ln w="0">
            <a:noFill/>
          </a:ln>
        </p:spPr>
      </p:sp>
      <p:sp>
        <p:nvSpPr>
          <p:cNvPr id="76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FLOR  ·  8 s  ·  de 16:52 a 17:00</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Porque esto no es el final. Es el primer paso.</a:t>
            </a:r>
          </a:p>
        </p:txBody>
      </p:sp>
      <p:sp>
        <p:nvSpPr>
          <p:cNvPr id="764" name="PlaceHolder 3"/>
          <p:cNvSpPr>
            <a:spLocks noGrp="1"/>
          </p:cNvSpPr>
          <p:nvPr>
            <p:ph type="sldNum" idx="9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4A2E982E-50E5-4B06-913E-376F3E0CD380}" type="slidenum">
              <a:rPr lang="en-US" sz="1200" b="0" strike="noStrike" spc="-1">
                <a:solidFill>
                  <a:srgbClr val="000000"/>
                </a:solidFill>
                <a:latin typeface="Times New Roman"/>
              </a:rPr>
              <a:t>21</a:t>
            </a:fld>
            <a:endParaRPr lang="es-AR" sz="1200" b="0" strike="noStrike" spc="-1">
              <a:solidFill>
                <a:srgbClr val="000000"/>
              </a:solidFill>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 name="PlaceHolder 1"/>
          <p:cNvSpPr>
            <a:spLocks noGrp="1" noRot="1" noChangeAspect="1"/>
          </p:cNvSpPr>
          <p:nvPr>
            <p:ph type="sldImg"/>
          </p:nvPr>
        </p:nvSpPr>
        <p:spPr>
          <a:xfrm>
            <a:off x="685800" y="1143000"/>
            <a:ext cx="5486400" cy="3086100"/>
          </a:xfrm>
          <a:prstGeom prst="rect">
            <a:avLst/>
          </a:prstGeom>
          <a:ln w="0">
            <a:noFill/>
          </a:ln>
        </p:spPr>
      </p:sp>
      <p:sp>
        <p:nvSpPr>
          <p:cNvPr id="76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FLOR  ·  60 s  ·  de 17:00 a 18:00</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Ahora: el piloto de noventa días, con Posventa y un grupo de concesionarios. Y validar con ustedes las reglas de ventana por modelo y la capacidad real de contacto de cada concesionario.</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En los próximos seis meses: meter la lista dentro de Service Leads y Service Reminder, todos los meses. Y sumar el kilometraje real de los vehículos conectados: con eso, el primer service, que es donde más clientes perdemos, se predice mucho mejor.</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Y después, el salto. Dejar de preguntarnos sólo "¿quién se va?" y preguntarnos "¿a quién el llamado le cambia la decisión?". (técnico) Es lo que se llama uplift modeling. Llevarlo a toda la gama Ford. Y usar la relación del taller para anticipar la próxima compra.</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Que es, al final, de lo que se trata este desafío.</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Teo cierra.</a:t>
            </a:r>
          </a:p>
        </p:txBody>
      </p:sp>
      <p:sp>
        <p:nvSpPr>
          <p:cNvPr id="767" name="PlaceHolder 3"/>
          <p:cNvSpPr>
            <a:spLocks noGrp="1"/>
          </p:cNvSpPr>
          <p:nvPr>
            <p:ph type="sldNum" idx="9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CC95B981-2085-4DC0-9213-EAB7DFEBA348}" type="slidenum">
              <a:rPr lang="en-US" sz="1200" b="0" strike="noStrike" spc="-1">
                <a:solidFill>
                  <a:srgbClr val="000000"/>
                </a:solidFill>
                <a:latin typeface="Times New Roman"/>
              </a:rPr>
              <a:t>22</a:t>
            </a:fld>
            <a:endParaRPr lang="es-AR" sz="1200" b="0" strike="noStrike" spc="-1">
              <a:solidFill>
                <a:srgbClr val="000000"/>
              </a:solidFill>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 name="PlaceHolder 1"/>
          <p:cNvSpPr>
            <a:spLocks noGrp="1" noRot="1" noChangeAspect="1"/>
          </p:cNvSpPr>
          <p:nvPr>
            <p:ph type="sldImg"/>
          </p:nvPr>
        </p:nvSpPr>
        <p:spPr>
          <a:xfrm>
            <a:off x="685800" y="1143000"/>
            <a:ext cx="5485680" cy="3085560"/>
          </a:xfrm>
          <a:prstGeom prst="rect">
            <a:avLst/>
          </a:prstGeom>
          <a:ln w="0">
            <a:noFill/>
          </a:ln>
        </p:spPr>
      </p:sp>
      <p:sp>
        <p:nvSpPr>
          <p:cNvPr id="76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TEO  ·  7 s  ·  de 18:00 a 18:07</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Para cerrar, volvamos a Martín.</a:t>
            </a:r>
          </a:p>
        </p:txBody>
      </p:sp>
      <p:sp>
        <p:nvSpPr>
          <p:cNvPr id="770" name="PlaceHolder 3"/>
          <p:cNvSpPr>
            <a:spLocks noGrp="1"/>
          </p:cNvSpPr>
          <p:nvPr>
            <p:ph type="sldNum" idx="9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FBC66C23-4E45-4867-8C87-6961660DC4E1}" type="slidenum">
              <a:rPr lang="en-US" sz="1200" b="0" strike="noStrike" spc="-1">
                <a:solidFill>
                  <a:srgbClr val="000000"/>
                </a:solidFill>
                <a:latin typeface="Times New Roman"/>
              </a:rPr>
              <a:t>23</a:t>
            </a:fld>
            <a:endParaRPr lang="es-AR" sz="1200" b="0" strike="noStrike" spc="-1">
              <a:solidFill>
                <a:srgbClr val="000000"/>
              </a:solidFill>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 name="PlaceHolder 1"/>
          <p:cNvSpPr>
            <a:spLocks noGrp="1" noRot="1" noChangeAspect="1"/>
          </p:cNvSpPr>
          <p:nvPr>
            <p:ph type="sldImg"/>
          </p:nvPr>
        </p:nvSpPr>
        <p:spPr>
          <a:xfrm>
            <a:off x="685800" y="1143000"/>
            <a:ext cx="5485680" cy="3085560"/>
          </a:xfrm>
          <a:prstGeom prst="rect">
            <a:avLst/>
          </a:prstGeom>
          <a:ln w="0">
            <a:noFill/>
          </a:ln>
        </p:spPr>
      </p:sp>
      <p:sp>
        <p:nvSpPr>
          <p:cNvPr id="77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TEO  ·  53 s  ·  de 18:07 a 19:00</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Si se llevan tres ideas de hoy, que sean estas.</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Uno. Hoy se pierden cuatro de cada diez services, porque se le habla igual a todos.</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Dos. Nuestra solución pone primero a quien se está yendo, y explica por qué. Cada contacto rinde el doble.</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[CLIC] Tres. Funciona con lo que Ford ya tiene, y en noventa días se prueba.</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[PAUSA]</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Martín todavía no se fue. Este mes le toca el service. Con esto, su asesor lo llama esta semana, sabiendo qué decirle.</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Y dentro de unos años, cuando cambie la camioneta… que la decisión la tome con nosotros.</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[PAUSA LARGA]</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Muchas gracias. ¿Preguntas?</a:t>
            </a:r>
          </a:p>
        </p:txBody>
      </p:sp>
      <p:sp>
        <p:nvSpPr>
          <p:cNvPr id="773" name="PlaceHolder 3"/>
          <p:cNvSpPr>
            <a:spLocks noGrp="1"/>
          </p:cNvSpPr>
          <p:nvPr>
            <p:ph type="sldNum" idx="9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2BEF21AB-1FDA-458F-A7C0-61DF175A4D5C}" type="slidenum">
              <a:rPr lang="en-US" sz="1200" b="0" strike="noStrike" spc="-1">
                <a:solidFill>
                  <a:srgbClr val="000000"/>
                </a:solidFill>
                <a:latin typeface="Times New Roman"/>
              </a:rPr>
              <a:t>24</a:t>
            </a:fld>
            <a:endParaRPr lang="es-AR" sz="1200" b="0" strike="noStrike" spc="-1">
              <a:solidFill>
                <a:srgbClr val="000000"/>
              </a:solidFill>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 name="PlaceHolder 1"/>
          <p:cNvSpPr>
            <a:spLocks noGrp="1" noRot="1" noChangeAspect="1"/>
          </p:cNvSpPr>
          <p:nvPr>
            <p:ph type="sldImg"/>
          </p:nvPr>
        </p:nvSpPr>
        <p:spPr>
          <a:xfrm>
            <a:off x="685800" y="1143000"/>
            <a:ext cx="5485680" cy="3085560"/>
          </a:xfrm>
          <a:prstGeom prst="rect">
            <a:avLst/>
          </a:prstGeom>
          <a:ln w="0">
            <a:noFill/>
          </a:ln>
        </p:spPr>
      </p:sp>
      <p:sp>
        <p:nvSpPr>
          <p:cNvPr id="77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s-AR" sz="2000" b="0" strike="noStrike" spc="-1">
                <a:solidFill>
                  <a:srgbClr val="000000"/>
                </a:solidFill>
                <a:latin typeface="Arial"/>
              </a:rPr>
              <a:t>ORADOR: TEO  ·  5 s  ·  de 13:35 a 13:40</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¿Preguntas?</a:t>
            </a:r>
          </a:p>
          <a:p>
            <a:pPr marL="216000" indent="0">
              <a:lnSpc>
                <a:spcPct val="100000"/>
              </a:lnSpc>
              <a:buNone/>
              <a:tabLst>
                <a:tab pos="0" algn="l"/>
              </a:tabLst>
            </a:pPr>
            <a:endParaRPr lang="es-AR" sz="2000" b="0" strike="noStrike" spc="-1">
              <a:solidFill>
                <a:srgbClr val="000000"/>
              </a:solidFill>
              <a:latin typeface="Arial"/>
            </a:endParaRPr>
          </a:p>
          <a:p>
            <a:pPr marL="216000" indent="0">
              <a:lnSpc>
                <a:spcPct val="100000"/>
              </a:lnSpc>
              <a:buNone/>
              <a:tabLst>
                <a:tab pos="0" algn="l"/>
              </a:tabLst>
            </a:pPr>
            <a:r>
              <a:rPr lang="es-AR" sz="2000" b="0" strike="noStrike" spc="-1">
                <a:solidFill>
                  <a:srgbClr val="000000"/>
                </a:solidFill>
                <a:latin typeface="Arial"/>
              </a:rPr>
              <a:t>[Respuestas cortas en las slides de respaldo, ocultas: número de slide + Enter.]</a:t>
            </a:r>
          </a:p>
        </p:txBody>
      </p:sp>
      <p:sp>
        <p:nvSpPr>
          <p:cNvPr id="776" name="PlaceHolder 3"/>
          <p:cNvSpPr>
            <a:spLocks noGrp="1"/>
          </p:cNvSpPr>
          <p:nvPr>
            <p:ph type="sldNum" idx="9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52953C43-A9B2-40C6-8153-862117F07D4B}" type="slidenum">
              <a:rPr lang="en-US" sz="1200" b="0" strike="noStrike" spc="-1">
                <a:solidFill>
                  <a:srgbClr val="000000"/>
                </a:solidFill>
                <a:latin typeface="Times New Roman"/>
              </a:rPr>
              <a:t>25</a:t>
            </a:fld>
            <a:endParaRPr lang="es-AR"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Cover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lstStyle/>
          <a:p>
            <a:fld id="{1B4A4A3C-5980-40C4-A172-63389AB0E23C}"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Large Statement">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lstStyle/>
          <a:p>
            <a:fld id="{0C6CF06E-71A6-4E06-A78F-34AD0B51DEF6}"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Full Body">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lstStyle/>
          <a:p>
            <a:fld id="{C20CEA07-0BFA-4EFF-A4EB-0009A34393D1}"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1_Full Body">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lstStyle/>
          <a:p>
            <a:fld id="{1F27209D-6B64-4122-8471-6764D7F7116C}"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Full Body with Bumper">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lstStyle/>
          <a:p>
            <a:fld id="{88B1FB75-EF83-46F1-BF7A-8DA11DC3C674}"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wo Column">
    <p:spTree>
      <p:nvGrpSpPr>
        <p:cNvPr id="1" name=""/>
        <p:cNvGrpSpPr/>
        <p:nvPr/>
      </p:nvGrpSpPr>
      <p:grpSpPr>
        <a:xfrm>
          <a:off x="0" y="0"/>
          <a:ext cx="0" cy="0"/>
          <a:chOff x="0" y="0"/>
          <a:chExt cx="0" cy="0"/>
        </a:xfrm>
      </p:grpSpPr>
      <p:sp>
        <p:nvSpPr>
          <p:cNvPr id="2" name="PlaceHolder 1"/>
          <p:cNvSpPr>
            <a:spLocks noGrp="1"/>
          </p:cNvSpPr>
          <p:nvPr>
            <p:ph type="sldNum" idx="6"/>
          </p:nvPr>
        </p:nvSpPr>
        <p:spPr/>
        <p:txBody>
          <a:bodyPr/>
          <a:lstStyle/>
          <a:p>
            <a:fld id="{67EF6624-8569-471A-8BDA-F66BAD9DF5D9}"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wo Column Bumper">
    <p:spTree>
      <p:nvGrpSpPr>
        <p:cNvPr id="1" name=""/>
        <p:cNvGrpSpPr/>
        <p:nvPr/>
      </p:nvGrpSpPr>
      <p:grpSpPr>
        <a:xfrm>
          <a:off x="0" y="0"/>
          <a:ext cx="0" cy="0"/>
          <a:chOff x="0" y="0"/>
          <a:chExt cx="0" cy="0"/>
        </a:xfrm>
      </p:grpSpPr>
      <p:sp>
        <p:nvSpPr>
          <p:cNvPr id="2" name="PlaceHolder 1"/>
          <p:cNvSpPr>
            <a:spLocks noGrp="1"/>
          </p:cNvSpPr>
          <p:nvPr>
            <p:ph type="sldNum" idx="7"/>
          </p:nvPr>
        </p:nvSpPr>
        <p:spPr/>
        <p:txBody>
          <a:bodyPr/>
          <a:lstStyle/>
          <a:p>
            <a:fld id="{396B5403-ACE0-4F4F-87A0-59BCDA3611E6}"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ull Body w/Image">
    <p:spTree>
      <p:nvGrpSpPr>
        <p:cNvPr id="1" name=""/>
        <p:cNvGrpSpPr/>
        <p:nvPr/>
      </p:nvGrpSpPr>
      <p:grpSpPr>
        <a:xfrm>
          <a:off x="0" y="0"/>
          <a:ext cx="0" cy="0"/>
          <a:chOff x="0" y="0"/>
          <a:chExt cx="0" cy="0"/>
        </a:xfrm>
      </p:grpSpPr>
      <p:sp>
        <p:nvSpPr>
          <p:cNvPr id="2" name="PlaceHolder 1"/>
          <p:cNvSpPr>
            <a:spLocks noGrp="1"/>
          </p:cNvSpPr>
          <p:nvPr>
            <p:ph type="sldNum" idx="8"/>
          </p:nvPr>
        </p:nvSpPr>
        <p:spPr/>
        <p:txBody>
          <a:bodyPr/>
          <a:lstStyle/>
          <a:p>
            <a:fld id="{F4BC4416-D6E8-419E-8E66-DE8403062244}"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Split White/Grey">
    <p:spTree>
      <p:nvGrpSpPr>
        <p:cNvPr id="1" name=""/>
        <p:cNvGrpSpPr/>
        <p:nvPr/>
      </p:nvGrpSpPr>
      <p:grpSpPr>
        <a:xfrm>
          <a:off x="0" y="0"/>
          <a:ext cx="0" cy="0"/>
          <a:chOff x="0" y="0"/>
          <a:chExt cx="0" cy="0"/>
        </a:xfrm>
      </p:grpSpPr>
      <p:sp>
        <p:nvSpPr>
          <p:cNvPr id="2" name="PlaceHolder 1"/>
          <p:cNvSpPr>
            <a:spLocks noGrp="1"/>
          </p:cNvSpPr>
          <p:nvPr>
            <p:ph type="sldNum" idx="9"/>
          </p:nvPr>
        </p:nvSpPr>
        <p:spPr/>
        <p:txBody>
          <a:bodyPr/>
          <a:lstStyle/>
          <a:p>
            <a:fld id="{6CBCD667-9EFB-4116-88BA-1D7C80B1EB86}"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2_Three Column">
    <p:spTree>
      <p:nvGrpSpPr>
        <p:cNvPr id="1" name=""/>
        <p:cNvGrpSpPr/>
        <p:nvPr/>
      </p:nvGrpSpPr>
      <p:grpSpPr>
        <a:xfrm>
          <a:off x="0" y="0"/>
          <a:ext cx="0" cy="0"/>
          <a:chOff x="0" y="0"/>
          <a:chExt cx="0" cy="0"/>
        </a:xfrm>
      </p:grpSpPr>
      <p:sp>
        <p:nvSpPr>
          <p:cNvPr id="2" name="PlaceHolder 1"/>
          <p:cNvSpPr>
            <a:spLocks noGrp="1"/>
          </p:cNvSpPr>
          <p:nvPr>
            <p:ph type="sldNum" idx="10"/>
          </p:nvPr>
        </p:nvSpPr>
        <p:spPr/>
        <p:txBody>
          <a:bodyPr/>
          <a:lstStyle/>
          <a:p>
            <a:fld id="{21D888F7-F9D6-453C-BB0D-817302531CC1}"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Three statements">
    <p:spTree>
      <p:nvGrpSpPr>
        <p:cNvPr id="1" name=""/>
        <p:cNvGrpSpPr/>
        <p:nvPr/>
      </p:nvGrpSpPr>
      <p:grpSpPr>
        <a:xfrm>
          <a:off x="0" y="0"/>
          <a:ext cx="0" cy="0"/>
          <a:chOff x="0" y="0"/>
          <a:chExt cx="0" cy="0"/>
        </a:xfrm>
      </p:grpSpPr>
      <p:sp>
        <p:nvSpPr>
          <p:cNvPr id="2" name="PlaceHolder 1"/>
          <p:cNvSpPr>
            <a:spLocks noGrp="1"/>
          </p:cNvSpPr>
          <p:nvPr>
            <p:ph type="sldNum" idx="11"/>
          </p:nvPr>
        </p:nvSpPr>
        <p:spPr/>
        <p:txBody>
          <a:bodyPr/>
          <a:lstStyle/>
          <a:p>
            <a:fld id="{AE5CA931-DA34-4E85-99E8-E9C4152F2F18}"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1_Divider Slide-Pattern">
    <p:spTree>
      <p:nvGrpSpPr>
        <p:cNvPr id="1" name=""/>
        <p:cNvGrpSpPr/>
        <p:nvPr/>
      </p:nvGrpSpPr>
      <p:grpSpPr>
        <a:xfrm>
          <a:off x="0" y="0"/>
          <a:ext cx="0" cy="0"/>
          <a:chOff x="0" y="0"/>
          <a:chExt cx="0" cy="0"/>
        </a:xfrm>
      </p:grpSpPr>
      <p:sp>
        <p:nvSpPr>
          <p:cNvPr id="2" name="PlaceHolder 1"/>
          <p:cNvSpPr>
            <a:spLocks noGrp="1"/>
          </p:cNvSpPr>
          <p:nvPr>
            <p:ph type="sldNum" idx="12"/>
          </p:nvPr>
        </p:nvSpPr>
        <p:spPr/>
        <p:txBody>
          <a:bodyPr/>
          <a:lstStyle/>
          <a:p>
            <a:fld id="{127537A6-BD29-4DA6-8475-C20DDA8B564F}"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Numbers">
    <p:spTree>
      <p:nvGrpSpPr>
        <p:cNvPr id="1" name=""/>
        <p:cNvGrpSpPr/>
        <p:nvPr/>
      </p:nvGrpSpPr>
      <p:grpSpPr>
        <a:xfrm>
          <a:off x="0" y="0"/>
          <a:ext cx="0" cy="0"/>
          <a:chOff x="0" y="0"/>
          <a:chExt cx="0" cy="0"/>
        </a:xfrm>
      </p:grpSpPr>
      <p:sp>
        <p:nvSpPr>
          <p:cNvPr id="2" name="PlaceHolder 1"/>
          <p:cNvSpPr>
            <a:spLocks noGrp="1"/>
          </p:cNvSpPr>
          <p:nvPr>
            <p:ph type="sldNum" idx="13"/>
          </p:nvPr>
        </p:nvSpPr>
        <p:spPr/>
        <p:txBody>
          <a:bodyPr/>
          <a:lstStyle/>
          <a:p>
            <a:fld id="{FB93FAEB-3F0A-4983-B6BB-DFFA53D01E24}"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4 column-Icons">
    <p:spTree>
      <p:nvGrpSpPr>
        <p:cNvPr id="1" name=""/>
        <p:cNvGrpSpPr/>
        <p:nvPr/>
      </p:nvGrpSpPr>
      <p:grpSpPr>
        <a:xfrm>
          <a:off x="0" y="0"/>
          <a:ext cx="0" cy="0"/>
          <a:chOff x="0" y="0"/>
          <a:chExt cx="0" cy="0"/>
        </a:xfrm>
      </p:grpSpPr>
      <p:sp>
        <p:nvSpPr>
          <p:cNvPr id="2" name="PlaceHolder 1"/>
          <p:cNvSpPr>
            <a:spLocks noGrp="1"/>
          </p:cNvSpPr>
          <p:nvPr>
            <p:ph type="sldNum" idx="14"/>
          </p:nvPr>
        </p:nvSpPr>
        <p:spPr/>
        <p:txBody>
          <a:bodyPr/>
          <a:lstStyle/>
          <a:p>
            <a:fld id="{DFFBB25A-E00E-40C7-8E69-4F9FC7D5239F}"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1_Now Near Far">
    <p:spTree>
      <p:nvGrpSpPr>
        <p:cNvPr id="1" name=""/>
        <p:cNvGrpSpPr/>
        <p:nvPr/>
      </p:nvGrpSpPr>
      <p:grpSpPr>
        <a:xfrm>
          <a:off x="0" y="0"/>
          <a:ext cx="0" cy="0"/>
          <a:chOff x="0" y="0"/>
          <a:chExt cx="0" cy="0"/>
        </a:xfrm>
      </p:grpSpPr>
      <p:sp>
        <p:nvSpPr>
          <p:cNvPr id="2" name="PlaceHolder 1"/>
          <p:cNvSpPr>
            <a:spLocks noGrp="1"/>
          </p:cNvSpPr>
          <p:nvPr>
            <p:ph type="sldNum" idx="15"/>
          </p:nvPr>
        </p:nvSpPr>
        <p:spPr/>
        <p:txBody>
          <a:bodyPr/>
          <a:lstStyle/>
          <a:p>
            <a:fld id="{86F2237E-AD8B-4A42-82D0-A713771ABD26}"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reative">
    <p:spTree>
      <p:nvGrpSpPr>
        <p:cNvPr id="1" name=""/>
        <p:cNvGrpSpPr/>
        <p:nvPr/>
      </p:nvGrpSpPr>
      <p:grpSpPr>
        <a:xfrm>
          <a:off x="0" y="0"/>
          <a:ext cx="0" cy="0"/>
          <a:chOff x="0" y="0"/>
          <a:chExt cx="0" cy="0"/>
        </a:xfrm>
      </p:grpSpPr>
      <p:sp>
        <p:nvSpPr>
          <p:cNvPr id="2" name="PlaceHolder 1"/>
          <p:cNvSpPr>
            <a:spLocks noGrp="1"/>
          </p:cNvSpPr>
          <p:nvPr>
            <p:ph type="sldNum" idx="16"/>
          </p:nvPr>
        </p:nvSpPr>
        <p:spPr/>
        <p:txBody>
          <a:bodyPr/>
          <a:lstStyle/>
          <a:p>
            <a:fld id="{8FEC1DB0-D0C5-4918-8782-14AEFC249C89}"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Global Brand Framework">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rand Health Performance">
    <p:spTree>
      <p:nvGrpSpPr>
        <p:cNvPr id="1" name=""/>
        <p:cNvGrpSpPr/>
        <p:nvPr/>
      </p:nvGrpSpPr>
      <p:grpSpPr>
        <a:xfrm>
          <a:off x="0" y="0"/>
          <a:ext cx="0" cy="0"/>
          <a:chOff x="0" y="0"/>
          <a:chExt cx="0" cy="0"/>
        </a:xfrm>
      </p:grpSpPr>
      <p:sp>
        <p:nvSpPr>
          <p:cNvPr id="2" name="PlaceHolder 1"/>
          <p:cNvSpPr>
            <a:spLocks noGrp="1"/>
          </p:cNvSpPr>
          <p:nvPr>
            <p:ph type="sldNum" idx="17"/>
          </p:nvPr>
        </p:nvSpPr>
        <p:spPr/>
        <p:txBody>
          <a:bodyPr/>
          <a:lstStyle/>
          <a:p>
            <a:fld id="{0C563544-7465-454F-8397-A611256432EF}"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2/3 Image">
    <p:spTree>
      <p:nvGrpSpPr>
        <p:cNvPr id="1" name=""/>
        <p:cNvGrpSpPr/>
        <p:nvPr/>
      </p:nvGrpSpPr>
      <p:grpSpPr>
        <a:xfrm>
          <a:off x="0" y="0"/>
          <a:ext cx="0" cy="0"/>
          <a:chOff x="0" y="0"/>
          <a:chExt cx="0" cy="0"/>
        </a:xfrm>
      </p:grpSpPr>
      <p:sp>
        <p:nvSpPr>
          <p:cNvPr id="2" name="PlaceHolder 1"/>
          <p:cNvSpPr>
            <a:spLocks noGrp="1"/>
          </p:cNvSpPr>
          <p:nvPr>
            <p:ph type="sldNum" idx="18"/>
          </p:nvPr>
        </p:nvSpPr>
        <p:spPr/>
        <p:txBody>
          <a:bodyPr/>
          <a:lstStyle/>
          <a:p>
            <a:fld id="{738F9F04-A1BA-46DB-BA68-309BD60313DD}"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plit_Data+Image">
    <p:spTree>
      <p:nvGrpSpPr>
        <p:cNvPr id="1" name=""/>
        <p:cNvGrpSpPr/>
        <p:nvPr/>
      </p:nvGrpSpPr>
      <p:grpSpPr>
        <a:xfrm>
          <a:off x="0" y="0"/>
          <a:ext cx="0" cy="0"/>
          <a:chOff x="0" y="0"/>
          <a:chExt cx="0" cy="0"/>
        </a:xfrm>
      </p:grpSpPr>
      <p:sp>
        <p:nvSpPr>
          <p:cNvPr id="2" name="PlaceHolder 1"/>
          <p:cNvSpPr>
            <a:spLocks noGrp="1"/>
          </p:cNvSpPr>
          <p:nvPr>
            <p:ph type="sldNum" idx="19"/>
          </p:nvPr>
        </p:nvSpPr>
        <p:spPr/>
        <p:txBody>
          <a:bodyPr/>
          <a:lstStyle/>
          <a:p>
            <a:fld id="{8ECAB8AD-31E5-4823-B968-8633C0309B4C}" type="slidenum">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Three Column+Small Data callouts">
    <p:spTree>
      <p:nvGrpSpPr>
        <p:cNvPr id="1" name=""/>
        <p:cNvGrpSpPr/>
        <p:nvPr/>
      </p:nvGrpSpPr>
      <p:grpSpPr>
        <a:xfrm>
          <a:off x="0" y="0"/>
          <a:ext cx="0" cy="0"/>
          <a:chOff x="0" y="0"/>
          <a:chExt cx="0" cy="0"/>
        </a:xfrm>
      </p:grpSpPr>
      <p:sp>
        <p:nvSpPr>
          <p:cNvPr id="2" name="PlaceHolder 1"/>
          <p:cNvSpPr>
            <a:spLocks noGrp="1"/>
          </p:cNvSpPr>
          <p:nvPr>
            <p:ph type="sldNum" idx="20"/>
          </p:nvPr>
        </p:nvSpPr>
        <p:spPr/>
        <p:txBody>
          <a:bodyPr/>
          <a:lstStyle/>
          <a:p>
            <a:fld id="{DEEFCF33-9CF8-4456-AC59-1DA292D90EAA}" type="slidenum">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From To">
    <p:spTree>
      <p:nvGrpSpPr>
        <p:cNvPr id="1" name=""/>
        <p:cNvGrpSpPr/>
        <p:nvPr/>
      </p:nvGrpSpPr>
      <p:grpSpPr>
        <a:xfrm>
          <a:off x="0" y="0"/>
          <a:ext cx="0" cy="0"/>
          <a:chOff x="0" y="0"/>
          <a:chExt cx="0" cy="0"/>
        </a:xfrm>
      </p:grpSpPr>
      <p:sp>
        <p:nvSpPr>
          <p:cNvPr id="2" name="PlaceHolder 1"/>
          <p:cNvSpPr>
            <a:spLocks noGrp="1"/>
          </p:cNvSpPr>
          <p:nvPr>
            <p:ph type="sldNum" idx="21"/>
          </p:nvPr>
        </p:nvSpPr>
        <p:spPr/>
        <p:txBody>
          <a:bodyPr/>
          <a:lstStyle/>
          <a:p>
            <a:fld id="{B7BECB38-975E-4432-A081-02C71559F2C1}" type="slidenum">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Agenda">
    <p:spTree>
      <p:nvGrpSpPr>
        <p:cNvPr id="1" name=""/>
        <p:cNvGrpSpPr/>
        <p:nvPr/>
      </p:nvGrpSpPr>
      <p:grpSpPr>
        <a:xfrm>
          <a:off x="0" y="0"/>
          <a:ext cx="0" cy="0"/>
          <a:chOff x="0" y="0"/>
          <a:chExt cx="0" cy="0"/>
        </a:xfrm>
      </p:grpSpPr>
      <p:sp>
        <p:nvSpPr>
          <p:cNvPr id="2" name="PlaceHolder 1"/>
          <p:cNvSpPr>
            <a:spLocks noGrp="1"/>
          </p:cNvSpPr>
          <p:nvPr>
            <p:ph type="sldNum" idx="22"/>
          </p:nvPr>
        </p:nvSpPr>
        <p:spPr/>
        <p:txBody>
          <a:bodyPr/>
          <a:lstStyle/>
          <a:p>
            <a:fld id="{EB4D41E7-85F7-479A-B7EB-F346BB856C41}" type="slidenum">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From To w/Image">
    <p:spTree>
      <p:nvGrpSpPr>
        <p:cNvPr id="1" name=""/>
        <p:cNvGrpSpPr/>
        <p:nvPr/>
      </p:nvGrpSpPr>
      <p:grpSpPr>
        <a:xfrm>
          <a:off x="0" y="0"/>
          <a:ext cx="0" cy="0"/>
          <a:chOff x="0" y="0"/>
          <a:chExt cx="0" cy="0"/>
        </a:xfrm>
      </p:grpSpPr>
      <p:sp>
        <p:nvSpPr>
          <p:cNvPr id="2" name="PlaceHolder 1"/>
          <p:cNvSpPr>
            <a:spLocks noGrp="1"/>
          </p:cNvSpPr>
          <p:nvPr>
            <p:ph type="sldNum" idx="23"/>
          </p:nvPr>
        </p:nvSpPr>
        <p:spPr/>
        <p:txBody>
          <a:bodyPr/>
          <a:lstStyle/>
          <a:p>
            <a:fld id="{41BDD288-0211-4684-8531-4016FB07CE47}" type="slidenum">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3 Image w/Description">
    <p:spTree>
      <p:nvGrpSpPr>
        <p:cNvPr id="1" name=""/>
        <p:cNvGrpSpPr/>
        <p:nvPr/>
      </p:nvGrpSpPr>
      <p:grpSpPr>
        <a:xfrm>
          <a:off x="0" y="0"/>
          <a:ext cx="0" cy="0"/>
          <a:chOff x="0" y="0"/>
          <a:chExt cx="0" cy="0"/>
        </a:xfrm>
      </p:grpSpPr>
      <p:sp>
        <p:nvSpPr>
          <p:cNvPr id="2" name="PlaceHolder 1"/>
          <p:cNvSpPr>
            <a:spLocks noGrp="1"/>
          </p:cNvSpPr>
          <p:nvPr>
            <p:ph type="sldNum" idx="24"/>
          </p:nvPr>
        </p:nvSpPr>
        <p:spPr/>
        <p:txBody>
          <a:bodyPr/>
          <a:lstStyle/>
          <a:p>
            <a:fld id="{87B8AF2E-D4E6-404C-81FB-FEB13E4B44BD}" type="slidenum">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Three Column_image">
    <p:spTree>
      <p:nvGrpSpPr>
        <p:cNvPr id="1" name=""/>
        <p:cNvGrpSpPr/>
        <p:nvPr/>
      </p:nvGrpSpPr>
      <p:grpSpPr>
        <a:xfrm>
          <a:off x="0" y="0"/>
          <a:ext cx="0" cy="0"/>
          <a:chOff x="0" y="0"/>
          <a:chExt cx="0" cy="0"/>
        </a:xfrm>
      </p:grpSpPr>
      <p:sp>
        <p:nvSpPr>
          <p:cNvPr id="2" name="PlaceHolder 1"/>
          <p:cNvSpPr>
            <a:spLocks noGrp="1"/>
          </p:cNvSpPr>
          <p:nvPr>
            <p:ph type="sldNum" idx="25"/>
          </p:nvPr>
        </p:nvSpPr>
        <p:spPr/>
        <p:txBody>
          <a:bodyPr/>
          <a:lstStyle/>
          <a:p>
            <a:fld id="{D3B979C6-F941-46BA-AB72-9D4FB21DC1CD}" type="slidenum">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Montage Slide">
    <p:spTree>
      <p:nvGrpSpPr>
        <p:cNvPr id="1" name=""/>
        <p:cNvGrpSpPr/>
        <p:nvPr/>
      </p:nvGrpSpPr>
      <p:grpSpPr>
        <a:xfrm>
          <a:off x="0" y="0"/>
          <a:ext cx="0" cy="0"/>
          <a:chOff x="0" y="0"/>
          <a:chExt cx="0" cy="0"/>
        </a:xfrm>
      </p:grpSpPr>
      <p:sp>
        <p:nvSpPr>
          <p:cNvPr id="2" name="PlaceHolder 1"/>
          <p:cNvSpPr>
            <a:spLocks noGrp="1"/>
          </p:cNvSpPr>
          <p:nvPr>
            <p:ph type="sldNum" idx="26"/>
          </p:nvPr>
        </p:nvSpPr>
        <p:spPr/>
        <p:txBody>
          <a:bodyPr/>
          <a:lstStyle/>
          <a:p>
            <a:fld id="{72248D34-415D-4C6B-B4D2-902C16917BB1}" type="slidenum">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3 column Image+data callout">
    <p:spTree>
      <p:nvGrpSpPr>
        <p:cNvPr id="1" name=""/>
        <p:cNvGrpSpPr/>
        <p:nvPr/>
      </p:nvGrpSpPr>
      <p:grpSpPr>
        <a:xfrm>
          <a:off x="0" y="0"/>
          <a:ext cx="0" cy="0"/>
          <a:chOff x="0" y="0"/>
          <a:chExt cx="0" cy="0"/>
        </a:xfrm>
      </p:grpSpPr>
      <p:sp>
        <p:nvSpPr>
          <p:cNvPr id="2" name="PlaceHolder 1"/>
          <p:cNvSpPr>
            <a:spLocks noGrp="1"/>
          </p:cNvSpPr>
          <p:nvPr>
            <p:ph type="sldNum" idx="27"/>
          </p:nvPr>
        </p:nvSpPr>
        <p:spPr/>
        <p:txBody>
          <a:bodyPr/>
          <a:lstStyle/>
          <a:p>
            <a:fld id="{E55675B2-736E-4B55-A911-6B2C61EBFF10}" type="slidenum">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Quote">
    <p:spTree>
      <p:nvGrpSpPr>
        <p:cNvPr id="1" name=""/>
        <p:cNvGrpSpPr/>
        <p:nvPr/>
      </p:nvGrpSpPr>
      <p:grpSpPr>
        <a:xfrm>
          <a:off x="0" y="0"/>
          <a:ext cx="0" cy="0"/>
          <a:chOff x="0" y="0"/>
          <a:chExt cx="0" cy="0"/>
        </a:xfrm>
      </p:grpSpPr>
      <p:sp>
        <p:nvSpPr>
          <p:cNvPr id="2" name="PlaceHolder 1"/>
          <p:cNvSpPr>
            <a:spLocks noGrp="1"/>
          </p:cNvSpPr>
          <p:nvPr>
            <p:ph type="sldNum" idx="28"/>
          </p:nvPr>
        </p:nvSpPr>
        <p:spPr/>
        <p:txBody>
          <a:bodyPr/>
          <a:lstStyle/>
          <a:p>
            <a:fld id="{7974F63E-FF7C-4187-95C1-18C67B1A0CDE}" type="slidenum">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plit Image+Quote">
    <p:spTree>
      <p:nvGrpSpPr>
        <p:cNvPr id="1" name=""/>
        <p:cNvGrpSpPr/>
        <p:nvPr/>
      </p:nvGrpSpPr>
      <p:grpSpPr>
        <a:xfrm>
          <a:off x="0" y="0"/>
          <a:ext cx="0" cy="0"/>
          <a:chOff x="0" y="0"/>
          <a:chExt cx="0" cy="0"/>
        </a:xfrm>
      </p:grpSpPr>
      <p:sp>
        <p:nvSpPr>
          <p:cNvPr id="2" name="PlaceHolder 1"/>
          <p:cNvSpPr>
            <a:spLocks noGrp="1"/>
          </p:cNvSpPr>
          <p:nvPr>
            <p:ph type="sldNum" idx="29"/>
          </p:nvPr>
        </p:nvSpPr>
        <p:spPr/>
        <p:txBody>
          <a:bodyPr/>
          <a:lstStyle/>
          <a:p>
            <a:fld id="{44288D4F-A4BB-4DC6-A6A7-105C1BE56713}" type="slidenum">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Timeline">
    <p:spTree>
      <p:nvGrpSpPr>
        <p:cNvPr id="1" name=""/>
        <p:cNvGrpSpPr/>
        <p:nvPr/>
      </p:nvGrpSpPr>
      <p:grpSpPr>
        <a:xfrm>
          <a:off x="0" y="0"/>
          <a:ext cx="0" cy="0"/>
          <a:chOff x="0" y="0"/>
          <a:chExt cx="0" cy="0"/>
        </a:xfrm>
      </p:grpSpPr>
      <p:sp>
        <p:nvSpPr>
          <p:cNvPr id="2" name="PlaceHolder 1"/>
          <p:cNvSpPr>
            <a:spLocks noGrp="1"/>
          </p:cNvSpPr>
          <p:nvPr>
            <p:ph type="sldNum" idx="30"/>
          </p:nvPr>
        </p:nvSpPr>
        <p:spPr/>
        <p:txBody>
          <a:bodyPr/>
          <a:lstStyle/>
          <a:p>
            <a:fld id="{3C544DBB-57BB-47B5-BE29-BB23E9FF097F}" type="slidenum">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1_Growth Dashboard">
    <p:spTree>
      <p:nvGrpSpPr>
        <p:cNvPr id="1" name=""/>
        <p:cNvGrpSpPr/>
        <p:nvPr/>
      </p:nvGrpSpPr>
      <p:grpSpPr>
        <a:xfrm>
          <a:off x="0" y="0"/>
          <a:ext cx="0" cy="0"/>
          <a:chOff x="0" y="0"/>
          <a:chExt cx="0" cy="0"/>
        </a:xfrm>
      </p:grpSpPr>
      <p:sp>
        <p:nvSpPr>
          <p:cNvPr id="2" name="PlaceHolder 1"/>
          <p:cNvSpPr>
            <a:spLocks noGrp="1"/>
          </p:cNvSpPr>
          <p:nvPr>
            <p:ph type="sldNum" idx="31"/>
          </p:nvPr>
        </p:nvSpPr>
        <p:spPr/>
        <p:txBody>
          <a:bodyPr/>
          <a:lstStyle/>
          <a:p>
            <a:fld id="{8A3C9B47-B5C9-4E67-9D37-C68EE844957C}" type="slidenum">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Headline Blank Slide">
    <p:spTree>
      <p:nvGrpSpPr>
        <p:cNvPr id="1" name=""/>
        <p:cNvGrpSpPr/>
        <p:nvPr/>
      </p:nvGrpSpPr>
      <p:grpSpPr>
        <a:xfrm>
          <a:off x="0" y="0"/>
          <a:ext cx="0" cy="0"/>
          <a:chOff x="0" y="0"/>
          <a:chExt cx="0" cy="0"/>
        </a:xfrm>
      </p:grpSpPr>
      <p:sp>
        <p:nvSpPr>
          <p:cNvPr id="2" name="PlaceHolder 1"/>
          <p:cNvSpPr>
            <a:spLocks noGrp="1"/>
          </p:cNvSpPr>
          <p:nvPr>
            <p:ph type="sldNum" idx="32"/>
          </p:nvPr>
        </p:nvSpPr>
        <p:spPr/>
        <p:txBody>
          <a:bodyPr/>
          <a:lstStyle/>
          <a:p>
            <a:fld id="{3164012E-72B6-474E-B2C7-DCB7E3004CD6}" type="slidenum">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Agenda-2">
    <p:spTree>
      <p:nvGrpSpPr>
        <p:cNvPr id="1" name=""/>
        <p:cNvGrpSpPr/>
        <p:nvPr/>
      </p:nvGrpSpPr>
      <p:grpSpPr>
        <a:xfrm>
          <a:off x="0" y="0"/>
          <a:ext cx="0" cy="0"/>
          <a:chOff x="0" y="0"/>
          <a:chExt cx="0" cy="0"/>
        </a:xfrm>
      </p:grpSpPr>
      <p:sp>
        <p:nvSpPr>
          <p:cNvPr id="2" name="PlaceHolder 1"/>
          <p:cNvSpPr>
            <a:spLocks noGrp="1"/>
          </p:cNvSpPr>
          <p:nvPr>
            <p:ph type="sldNum" idx="33"/>
          </p:nvPr>
        </p:nvSpPr>
        <p:spPr/>
        <p:txBody>
          <a:bodyPr/>
          <a:lstStyle/>
          <a:p>
            <a:fld id="{EB5FEE53-D1D2-4F05-9417-1CF40E9806D1}" type="slidenum">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1_Split Large Statement+Chart">
    <p:spTree>
      <p:nvGrpSpPr>
        <p:cNvPr id="1" name=""/>
        <p:cNvGrpSpPr/>
        <p:nvPr/>
      </p:nvGrpSpPr>
      <p:grpSpPr>
        <a:xfrm>
          <a:off x="0" y="0"/>
          <a:ext cx="0" cy="0"/>
          <a:chOff x="0" y="0"/>
          <a:chExt cx="0" cy="0"/>
        </a:xfrm>
      </p:grpSpPr>
      <p:sp>
        <p:nvSpPr>
          <p:cNvPr id="2" name="PlaceHolder 1"/>
          <p:cNvSpPr>
            <a:spLocks noGrp="1"/>
          </p:cNvSpPr>
          <p:nvPr>
            <p:ph type="sldNum" idx="34"/>
          </p:nvPr>
        </p:nvSpPr>
        <p:spPr/>
        <p:txBody>
          <a:bodyPr/>
          <a:lstStyle/>
          <a:p>
            <a:fld id="{02B2A6CA-5246-4CC3-B777-75EDA6499ABA}" type="slidenum">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Header_Lower Grey">
    <p:spTree>
      <p:nvGrpSpPr>
        <p:cNvPr id="1" name=""/>
        <p:cNvGrpSpPr/>
        <p:nvPr/>
      </p:nvGrpSpPr>
      <p:grpSpPr>
        <a:xfrm>
          <a:off x="0" y="0"/>
          <a:ext cx="0" cy="0"/>
          <a:chOff x="0" y="0"/>
          <a:chExt cx="0" cy="0"/>
        </a:xfrm>
      </p:grpSpPr>
      <p:sp>
        <p:nvSpPr>
          <p:cNvPr id="2" name="PlaceHolder 1"/>
          <p:cNvSpPr>
            <a:spLocks noGrp="1"/>
          </p:cNvSpPr>
          <p:nvPr>
            <p:ph type="sldNum" idx="35"/>
          </p:nvPr>
        </p:nvSpPr>
        <p:spPr/>
        <p:txBody>
          <a:bodyPr/>
          <a:lstStyle/>
          <a:p>
            <a:fld id="{ECC4AB8D-E000-494E-8F16-51F8C6A273E5}" type="slidenum">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1_Header_Lower Grey">
    <p:spTree>
      <p:nvGrpSpPr>
        <p:cNvPr id="1" name=""/>
        <p:cNvGrpSpPr/>
        <p:nvPr/>
      </p:nvGrpSpPr>
      <p:grpSpPr>
        <a:xfrm>
          <a:off x="0" y="0"/>
          <a:ext cx="0" cy="0"/>
          <a:chOff x="0" y="0"/>
          <a:chExt cx="0" cy="0"/>
        </a:xfrm>
      </p:grpSpPr>
      <p:sp>
        <p:nvSpPr>
          <p:cNvPr id="2" name="PlaceHolder 1"/>
          <p:cNvSpPr>
            <a:spLocks noGrp="1"/>
          </p:cNvSpPr>
          <p:nvPr>
            <p:ph type="sldNum" idx="36"/>
          </p:nvPr>
        </p:nvSpPr>
        <p:spPr/>
        <p:txBody>
          <a:bodyPr/>
          <a:lstStyle/>
          <a:p>
            <a:fld id="{1B6AD819-3771-49DC-9C3E-3D1FA33D140D}" type="slidenum">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1_4 box">
    <p:spTree>
      <p:nvGrpSpPr>
        <p:cNvPr id="1" name=""/>
        <p:cNvGrpSpPr/>
        <p:nvPr/>
      </p:nvGrpSpPr>
      <p:grpSpPr>
        <a:xfrm>
          <a:off x="0" y="0"/>
          <a:ext cx="0" cy="0"/>
          <a:chOff x="0" y="0"/>
          <a:chExt cx="0" cy="0"/>
        </a:xfrm>
      </p:grpSpPr>
      <p:sp>
        <p:nvSpPr>
          <p:cNvPr id="2" name="PlaceHolder 1"/>
          <p:cNvSpPr>
            <a:spLocks noGrp="1"/>
          </p:cNvSpPr>
          <p:nvPr>
            <p:ph type="sldNum" idx="37"/>
          </p:nvPr>
        </p:nvSpPr>
        <p:spPr/>
        <p:txBody>
          <a:bodyPr/>
          <a:lstStyle/>
          <a:p>
            <a:fld id="{74407971-16C4-4720-8B23-EC94572D6CC6}" type="slidenum">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2_6 box">
    <p:spTree>
      <p:nvGrpSpPr>
        <p:cNvPr id="1" name=""/>
        <p:cNvGrpSpPr/>
        <p:nvPr/>
      </p:nvGrpSpPr>
      <p:grpSpPr>
        <a:xfrm>
          <a:off x="0" y="0"/>
          <a:ext cx="0" cy="0"/>
          <a:chOff x="0" y="0"/>
          <a:chExt cx="0" cy="0"/>
        </a:xfrm>
      </p:grpSpPr>
      <p:sp>
        <p:nvSpPr>
          <p:cNvPr id="2" name="PlaceHolder 1"/>
          <p:cNvSpPr>
            <a:spLocks noGrp="1"/>
          </p:cNvSpPr>
          <p:nvPr>
            <p:ph type="sldNum" idx="38"/>
          </p:nvPr>
        </p:nvSpPr>
        <p:spPr/>
        <p:txBody>
          <a:bodyPr/>
          <a:lstStyle/>
          <a:p>
            <a:fld id="{14D893EF-9AD0-4331-8B57-ECE78B79CC9A}" type="slidenum">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1_5 box">
    <p:spTree>
      <p:nvGrpSpPr>
        <p:cNvPr id="1" name=""/>
        <p:cNvGrpSpPr/>
        <p:nvPr/>
      </p:nvGrpSpPr>
      <p:grpSpPr>
        <a:xfrm>
          <a:off x="0" y="0"/>
          <a:ext cx="0" cy="0"/>
          <a:chOff x="0" y="0"/>
          <a:chExt cx="0" cy="0"/>
        </a:xfrm>
      </p:grpSpPr>
      <p:sp>
        <p:nvSpPr>
          <p:cNvPr id="2" name="PlaceHolder 1"/>
          <p:cNvSpPr>
            <a:spLocks noGrp="1"/>
          </p:cNvSpPr>
          <p:nvPr>
            <p:ph type="ftr" idx="39"/>
          </p:nvPr>
        </p:nvSpPr>
        <p:spPr/>
        <p:txBody>
          <a:bodyPr/>
          <a:lstStyle/>
          <a:p>
            <a:r>
              <a:t>Footer</a:t>
            </a:r>
          </a:p>
        </p:txBody>
      </p:sp>
      <p:sp>
        <p:nvSpPr>
          <p:cNvPr id="3" name="PlaceHolder 2"/>
          <p:cNvSpPr>
            <a:spLocks noGrp="1"/>
          </p:cNvSpPr>
          <p:nvPr>
            <p:ph type="sldNum" idx="40"/>
          </p:nvPr>
        </p:nvSpPr>
        <p:spPr/>
        <p:txBody>
          <a:bodyPr/>
          <a:lstStyle/>
          <a:p>
            <a:fld id="{6AC6A139-6532-4DCF-BD08-CC75FCB9CA35}" type="slidenum">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2_5 box">
    <p:spTree>
      <p:nvGrpSpPr>
        <p:cNvPr id="1" name=""/>
        <p:cNvGrpSpPr/>
        <p:nvPr/>
      </p:nvGrpSpPr>
      <p:grpSpPr>
        <a:xfrm>
          <a:off x="0" y="0"/>
          <a:ext cx="0" cy="0"/>
          <a:chOff x="0" y="0"/>
          <a:chExt cx="0" cy="0"/>
        </a:xfrm>
      </p:grpSpPr>
      <p:sp>
        <p:nvSpPr>
          <p:cNvPr id="2" name="PlaceHolder 1"/>
          <p:cNvSpPr>
            <a:spLocks noGrp="1"/>
          </p:cNvSpPr>
          <p:nvPr>
            <p:ph type="sldNum" idx="41"/>
          </p:nvPr>
        </p:nvSpPr>
        <p:spPr/>
        <p:txBody>
          <a:bodyPr/>
          <a:lstStyle/>
          <a:p>
            <a:fld id="{686060A4-F6EE-4DCF-92FF-5D271092D1A4}" type="slidenum">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1_2/3 white">
    <p:spTree>
      <p:nvGrpSpPr>
        <p:cNvPr id="1" name=""/>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2/3 white">
    <p:spTree>
      <p:nvGrpSpPr>
        <p:cNvPr id="1" name=""/>
        <p:cNvGrpSpPr/>
        <p:nvPr/>
      </p:nvGrpSpPr>
      <p:grpSpPr>
        <a:xfrm>
          <a:off x="0" y="0"/>
          <a:ext cx="0" cy="0"/>
          <a:chOff x="0" y="0"/>
          <a:chExt cx="0" cy="0"/>
        </a:xfrm>
      </p:grpSpPr>
      <p:sp>
        <p:nvSpPr>
          <p:cNvPr id="2" name="PlaceHolder 1"/>
          <p:cNvSpPr>
            <a:spLocks noGrp="1"/>
          </p:cNvSpPr>
          <p:nvPr>
            <p:ph type="sldNum" idx="42"/>
          </p:nvPr>
        </p:nvSpPr>
        <p:spPr/>
        <p:txBody>
          <a:bodyPr/>
          <a:lstStyle/>
          <a:p>
            <a:fld id="{A1167F63-8BBE-48E3-A3AA-7DC8BF8143B0}" type="slidenum">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2/3 Gray Left Data Callout">
    <p:spTree>
      <p:nvGrpSpPr>
        <p:cNvPr id="1" name=""/>
        <p:cNvGrpSpPr/>
        <p:nvPr/>
      </p:nvGrpSpPr>
      <p:grpSpPr>
        <a:xfrm>
          <a:off x="0" y="0"/>
          <a:ext cx="0" cy="0"/>
          <a:chOff x="0" y="0"/>
          <a:chExt cx="0" cy="0"/>
        </a:xfrm>
      </p:grpSpPr>
      <p:sp>
        <p:nvSpPr>
          <p:cNvPr id="2" name="PlaceHolder 1"/>
          <p:cNvSpPr>
            <a:spLocks noGrp="1"/>
          </p:cNvSpPr>
          <p:nvPr>
            <p:ph type="sldNum" idx="43"/>
          </p:nvPr>
        </p:nvSpPr>
        <p:spPr/>
        <p:txBody>
          <a:bodyPr/>
          <a:lstStyle/>
          <a:p>
            <a:fld id="{96E69922-0A61-4353-8A20-9902BB63858E}" type="slidenum">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1_Executive Summary">
    <p:spTree>
      <p:nvGrpSpPr>
        <p:cNvPr id="1" name=""/>
        <p:cNvGrpSpPr/>
        <p:nvPr/>
      </p:nvGrpSpPr>
      <p:grpSpPr>
        <a:xfrm>
          <a:off x="0" y="0"/>
          <a:ext cx="0" cy="0"/>
          <a:chOff x="0" y="0"/>
          <a:chExt cx="0" cy="0"/>
        </a:xfrm>
      </p:grpSpPr>
      <p:sp>
        <p:nvSpPr>
          <p:cNvPr id="2" name="PlaceHolder 1"/>
          <p:cNvSpPr>
            <a:spLocks noGrp="1"/>
          </p:cNvSpPr>
          <p:nvPr>
            <p:ph type="sldNum" idx="44"/>
          </p:nvPr>
        </p:nvSpPr>
        <p:spPr/>
        <p:txBody>
          <a:bodyPr/>
          <a:lstStyle/>
          <a:p>
            <a:fld id="{CCB8CA25-2F17-42B1-872B-916E73D743E2}" type="slidenum">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Financials">
    <p:spTree>
      <p:nvGrpSpPr>
        <p:cNvPr id="1" name=""/>
        <p:cNvGrpSpPr/>
        <p:nvPr/>
      </p:nvGrpSpPr>
      <p:grpSpPr>
        <a:xfrm>
          <a:off x="0" y="0"/>
          <a:ext cx="0" cy="0"/>
          <a:chOff x="0" y="0"/>
          <a:chExt cx="0" cy="0"/>
        </a:xfrm>
      </p:grpSpPr>
      <p:sp>
        <p:nvSpPr>
          <p:cNvPr id="2" name="PlaceHolder 1"/>
          <p:cNvSpPr>
            <a:spLocks noGrp="1"/>
          </p:cNvSpPr>
          <p:nvPr>
            <p:ph type="sldNum" idx="45"/>
          </p:nvPr>
        </p:nvSpPr>
        <p:spPr/>
        <p:txBody>
          <a:bodyPr/>
          <a:lstStyle/>
          <a:p>
            <a:fld id="{BBC47FFA-272E-4100-9666-BE26C3F9CC48}" type="slidenum">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ditable Map + Data Points ">
    <p:spTree>
      <p:nvGrpSpPr>
        <p:cNvPr id="1" name=""/>
        <p:cNvGrpSpPr/>
        <p:nvPr/>
      </p:nvGrpSpPr>
      <p:grpSpPr>
        <a:xfrm>
          <a:off x="0" y="0"/>
          <a:ext cx="0" cy="0"/>
          <a:chOff x="0" y="0"/>
          <a:chExt cx="0" cy="0"/>
        </a:xfrm>
      </p:grpSpPr>
      <p:sp>
        <p:nvSpPr>
          <p:cNvPr id="2" name="PlaceHolder 1"/>
          <p:cNvSpPr>
            <a:spLocks noGrp="1"/>
          </p:cNvSpPr>
          <p:nvPr>
            <p:ph type="sldNum" idx="46"/>
          </p:nvPr>
        </p:nvSpPr>
        <p:spPr/>
        <p:txBody>
          <a:bodyPr/>
          <a:lstStyle/>
          <a:p>
            <a:fld id="{5A4F1DF9-5584-4A56-A754-D71AEAFF992E}" type="slidenum">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End Slide">
    <p:spTree>
      <p:nvGrpSpPr>
        <p:cNvPr id="1" name=""/>
        <p:cNvGrpSpPr/>
        <p:nvPr/>
      </p:nvGrpSpPr>
      <p:grpSpPr>
        <a:xfrm>
          <a:off x="0" y="0"/>
          <a:ext cx="0" cy="0"/>
          <a:chOff x="0" y="0"/>
          <a:chExt cx="0" cy="0"/>
        </a:xfrm>
      </p:grpSpPr>
      <p:sp>
        <p:nvSpPr>
          <p:cNvPr id="2" name="PlaceHolder 1"/>
          <p:cNvSpPr>
            <a:spLocks noGrp="1"/>
          </p:cNvSpPr>
          <p:nvPr>
            <p:ph type="sldNum" idx="47"/>
          </p:nvPr>
        </p:nvSpPr>
        <p:spPr/>
        <p:txBody>
          <a:bodyPr/>
          <a:lstStyle/>
          <a:p>
            <a:fld id="{7E62C7CF-D5D2-438A-8A7D-A06456F96A3A}" type="slidenum">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Summary Slide">
    <p:spTree>
      <p:nvGrpSpPr>
        <p:cNvPr id="1" name=""/>
        <p:cNvGrpSpPr/>
        <p:nvPr/>
      </p:nvGrpSpPr>
      <p:grpSpPr>
        <a:xfrm>
          <a:off x="0" y="0"/>
          <a:ext cx="0" cy="0"/>
          <a:chOff x="0" y="0"/>
          <a:chExt cx="0" cy="0"/>
        </a:xfrm>
      </p:grpSpPr>
      <p:sp>
        <p:nvSpPr>
          <p:cNvPr id="2" name="PlaceHolder 1"/>
          <p:cNvSpPr>
            <a:spLocks noGrp="1"/>
          </p:cNvSpPr>
          <p:nvPr>
            <p:ph type="sldNum" idx="48"/>
          </p:nvPr>
        </p:nvSpPr>
        <p:spPr/>
        <p:txBody>
          <a:bodyPr/>
          <a:lstStyle/>
          <a:p>
            <a:fld id="{6296293A-DC55-46D6-B792-1C1021F53974}" type="slidenum">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Context_Objectives">
    <p:spTree>
      <p:nvGrpSpPr>
        <p:cNvPr id="1" name=""/>
        <p:cNvGrpSpPr/>
        <p:nvPr/>
      </p:nvGrpSpPr>
      <p:grpSpPr>
        <a:xfrm>
          <a:off x="0" y="0"/>
          <a:ext cx="0" cy="0"/>
          <a:chOff x="0" y="0"/>
          <a:chExt cx="0" cy="0"/>
        </a:xfrm>
      </p:grpSpPr>
      <p:sp>
        <p:nvSpPr>
          <p:cNvPr id="2" name="PlaceHolder 1"/>
          <p:cNvSpPr>
            <a:spLocks noGrp="1"/>
          </p:cNvSpPr>
          <p:nvPr>
            <p:ph type="sldNum" idx="49"/>
          </p:nvPr>
        </p:nvSpPr>
        <p:spPr/>
        <p:txBody>
          <a:bodyPr/>
          <a:lstStyle/>
          <a:p>
            <a:fld id="{DB3C4B22-1930-4E97-91D8-AE11FA6C2F3F}" type="slidenum">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Ford+">
    <p:spTree>
      <p:nvGrpSpPr>
        <p:cNvPr id="1" name=""/>
        <p:cNvGrpSpPr/>
        <p:nvPr/>
      </p:nvGrpSpPr>
      <p:grpSpPr>
        <a:xfrm>
          <a:off x="0" y="0"/>
          <a:ext cx="0" cy="0"/>
          <a:chOff x="0" y="0"/>
          <a:chExt cx="0" cy="0"/>
        </a:xfrm>
      </p:grpSpPr>
      <p:sp>
        <p:nvSpPr>
          <p:cNvPr id="2" name="PlaceHolder 1"/>
          <p:cNvSpPr>
            <a:spLocks noGrp="1"/>
          </p:cNvSpPr>
          <p:nvPr>
            <p:ph type="sldNum" idx="50"/>
          </p:nvPr>
        </p:nvSpPr>
        <p:spPr/>
        <p:txBody>
          <a:bodyPr/>
          <a:lstStyle/>
          <a:p>
            <a:fld id="{000E91A0-DF27-44B0-9C38-733E12B63361}" type="slidenum">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Key Decisions">
    <p:spTree>
      <p:nvGrpSpPr>
        <p:cNvPr id="1" name=""/>
        <p:cNvGrpSpPr/>
        <p:nvPr/>
      </p:nvGrpSpPr>
      <p:grpSpPr>
        <a:xfrm>
          <a:off x="0" y="0"/>
          <a:ext cx="0" cy="0"/>
          <a:chOff x="0" y="0"/>
          <a:chExt cx="0" cy="0"/>
        </a:xfrm>
      </p:grpSpPr>
      <p:sp>
        <p:nvSpPr>
          <p:cNvPr id="2" name="PlaceHolder 1"/>
          <p:cNvSpPr>
            <a:spLocks noGrp="1"/>
          </p:cNvSpPr>
          <p:nvPr>
            <p:ph type="sldNum" idx="51"/>
          </p:nvPr>
        </p:nvSpPr>
        <p:spPr/>
        <p:txBody>
          <a:bodyPr/>
          <a:lstStyle/>
          <a:p>
            <a:fld id="{73CEC7C5-AA8A-466C-A2D7-0E30328266A2}" type="slidenum">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End Slide_">
    <p:spTree>
      <p:nvGrpSpPr>
        <p:cNvPr id="1" name=""/>
        <p:cNvGrpSpPr/>
        <p:nvPr/>
      </p:nvGrpSpPr>
      <p:grpSpPr>
        <a:xfrm>
          <a:off x="0" y="0"/>
          <a:ext cx="0" cy="0"/>
          <a:chOff x="0" y="0"/>
          <a:chExt cx="0" cy="0"/>
        </a:xfrm>
      </p:grpSpPr>
      <p:sp>
        <p:nvSpPr>
          <p:cNvPr id="2" name="PlaceHolder 1"/>
          <p:cNvSpPr>
            <a:spLocks noGrp="1"/>
          </p:cNvSpPr>
          <p:nvPr>
            <p:ph type="sldNum" idx="52"/>
          </p:nvPr>
        </p:nvSpPr>
        <p:spPr/>
        <p:txBody>
          <a:bodyPr/>
          <a:lstStyle/>
          <a:p>
            <a:fld id="{210A9C85-58EB-454A-88E0-CBC4AFEA7F80}"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2.xml"/><Relationship Id="rId1" Type="http://schemas.openxmlformats.org/officeDocument/2006/relationships/slideLayout" Target="../slideLayouts/slideLayout12.xml"/><Relationship Id="rId4" Type="http://schemas.openxmlformats.org/officeDocument/2006/relationships/image" Target="../media/image3.png"/></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8.xml"/><Relationship Id="rId1"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9.xml"/><Relationship Id="rId1" Type="http://schemas.openxmlformats.org/officeDocument/2006/relationships/slideLayout" Target="../slideLayouts/slideLayout19.xml"/></Relationships>
</file>

<file path=ppt/slideMasters/_rels/slideMaster2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0.xml"/><Relationship Id="rId1" Type="http://schemas.openxmlformats.org/officeDocument/2006/relationships/slideLayout" Target="../slideLayouts/slideLayout20.xml"/></Relationships>
</file>

<file path=ppt/slideMasters/_rels/slideMaster2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1.xml"/><Relationship Id="rId1" Type="http://schemas.openxmlformats.org/officeDocument/2006/relationships/slideLayout" Target="../slideLayouts/slideLayout21.xml"/></Relationships>
</file>

<file path=ppt/slideMasters/_rels/slideMaster2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2.xml"/><Relationship Id="rId1" Type="http://schemas.openxmlformats.org/officeDocument/2006/relationships/slideLayout" Target="../slideLayouts/slideLayout22.xml"/></Relationships>
</file>

<file path=ppt/slideMasters/_rels/slideMaster2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3.xml"/><Relationship Id="rId1" Type="http://schemas.openxmlformats.org/officeDocument/2006/relationships/slideLayout" Target="../slideLayouts/slideLayout23.xml"/></Relationships>
</file>

<file path=ppt/slideMasters/_rels/slideMaster2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4.xml"/><Relationship Id="rId1" Type="http://schemas.openxmlformats.org/officeDocument/2006/relationships/slideLayout" Target="../slideLayouts/slideLayout24.xml"/></Relationships>
</file>

<file path=ppt/slideMasters/_rels/slideMaster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5.xml"/><Relationship Id="rId1" Type="http://schemas.openxmlformats.org/officeDocument/2006/relationships/slideLayout" Target="../slideLayouts/slideLayout25.xml"/></Relationships>
</file>

<file path=ppt/slideMasters/_rels/slideMaster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6.xml"/><Relationship Id="rId1" Type="http://schemas.openxmlformats.org/officeDocument/2006/relationships/slideLayout" Target="../slideLayouts/slideLayout26.xml"/></Relationships>
</file>

<file path=ppt/slideMasters/_rels/slideMaster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7.xml"/><Relationship Id="rId1" Type="http://schemas.openxmlformats.org/officeDocument/2006/relationships/slideLayout" Target="../slideLayouts/slideLayout27.xml"/></Relationships>
</file>

<file path=ppt/slideMasters/_rels/slideMaster2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8.xml"/><Relationship Id="rId1" Type="http://schemas.openxmlformats.org/officeDocument/2006/relationships/slideLayout" Target="../slideLayouts/slideLayout28.xml"/></Relationships>
</file>

<file path=ppt/slideMasters/_rels/slideMaster2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9.xml"/><Relationship Id="rId1" Type="http://schemas.openxmlformats.org/officeDocument/2006/relationships/slideLayout" Target="../slideLayouts/slideLayout29.xml"/></Relationships>
</file>

<file path=ppt/slideMasters/_rels/slideMaster3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0.xml"/><Relationship Id="rId1" Type="http://schemas.openxmlformats.org/officeDocument/2006/relationships/slideLayout" Target="../slideLayouts/slideLayout30.xml"/></Relationships>
</file>

<file path=ppt/slideMasters/_rels/slideMaster3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1.xml"/><Relationship Id="rId1" Type="http://schemas.openxmlformats.org/officeDocument/2006/relationships/slideLayout" Target="../slideLayouts/slideLayout31.xml"/></Relationships>
</file>

<file path=ppt/slideMasters/_rels/slideMaster3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2.xml"/><Relationship Id="rId1" Type="http://schemas.openxmlformats.org/officeDocument/2006/relationships/slideLayout" Target="../slideLayouts/slideLayout32.xml"/></Relationships>
</file>

<file path=ppt/slideMasters/_rels/slideMaster3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3.xml"/><Relationship Id="rId1" Type="http://schemas.openxmlformats.org/officeDocument/2006/relationships/slideLayout" Target="../slideLayouts/slideLayout33.xml"/></Relationships>
</file>

<file path=ppt/slideMasters/_rels/slideMaster3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4.xml"/><Relationship Id="rId1" Type="http://schemas.openxmlformats.org/officeDocument/2006/relationships/slideLayout" Target="../slideLayouts/slideLayout34.xml"/></Relationships>
</file>

<file path=ppt/slideMasters/_rels/slideMaster3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5.xml"/><Relationship Id="rId1" Type="http://schemas.openxmlformats.org/officeDocument/2006/relationships/slideLayout" Target="../slideLayouts/slideLayout35.xml"/></Relationships>
</file>

<file path=ppt/slideMasters/_rels/slideMaster3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6.xml"/><Relationship Id="rId1" Type="http://schemas.openxmlformats.org/officeDocument/2006/relationships/slideLayout" Target="../slideLayouts/slideLayout36.xml"/></Relationships>
</file>

<file path=ppt/slideMasters/_rels/slideMaster3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7.xml"/><Relationship Id="rId1" Type="http://schemas.openxmlformats.org/officeDocument/2006/relationships/slideLayout" Target="../slideLayouts/slideLayout37.xml"/></Relationships>
</file>

<file path=ppt/slideMasters/_rels/slideMaster3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8.xml"/><Relationship Id="rId1" Type="http://schemas.openxmlformats.org/officeDocument/2006/relationships/slideLayout" Target="../slideLayouts/slideLayout38.xml"/></Relationships>
</file>

<file path=ppt/slideMasters/_rels/slideMaster3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9.xml"/><Relationship Id="rId1" Type="http://schemas.openxmlformats.org/officeDocument/2006/relationships/slideLayout" Target="../slideLayouts/slideLayout39.xml"/></Relationships>
</file>

<file path=ppt/slideMasters/_rels/slideMaster4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40.xml"/><Relationship Id="rId1" Type="http://schemas.openxmlformats.org/officeDocument/2006/relationships/slideLayout" Target="../slideLayouts/slideLayout40.xml"/></Relationships>
</file>

<file path=ppt/slideMasters/_rels/slideMaster4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41.xml"/><Relationship Id="rId1" Type="http://schemas.openxmlformats.org/officeDocument/2006/relationships/slideLayout" Target="../slideLayouts/slideLayout41.xml"/></Relationships>
</file>

<file path=ppt/slideMasters/_rels/slideMaster4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42.xml"/><Relationship Id="rId1" Type="http://schemas.openxmlformats.org/officeDocument/2006/relationships/slideLayout" Target="../slideLayouts/slideLayout42.xml"/></Relationships>
</file>

<file path=ppt/slideMasters/_rels/slideMaster4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43.xml"/><Relationship Id="rId1" Type="http://schemas.openxmlformats.org/officeDocument/2006/relationships/slideLayout" Target="../slideLayouts/slideLayout43.xml"/></Relationships>
</file>

<file path=ppt/slideMasters/_rels/slideMaster4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44.xml"/><Relationship Id="rId1" Type="http://schemas.openxmlformats.org/officeDocument/2006/relationships/slideLayout" Target="../slideLayouts/slideLayout44.xml"/></Relationships>
</file>

<file path=ppt/slideMasters/_rels/slideMaster4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45.xml"/><Relationship Id="rId1" Type="http://schemas.openxmlformats.org/officeDocument/2006/relationships/slideLayout" Target="../slideLayouts/slideLayout45.xml"/></Relationships>
</file>

<file path=ppt/slideMasters/_rels/slideMaster4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46.xml"/><Relationship Id="rId1" Type="http://schemas.openxmlformats.org/officeDocument/2006/relationships/slideLayout" Target="../slideLayouts/slideLayout46.xml"/></Relationships>
</file>

<file path=ppt/slideMasters/_rels/slideMaster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47.xml"/><Relationship Id="rId1" Type="http://schemas.openxmlformats.org/officeDocument/2006/relationships/slideLayout" Target="../slideLayouts/slideLayout47.xml"/></Relationships>
</file>

<file path=ppt/slideMasters/_rels/slideMaster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48.xml"/><Relationship Id="rId1" Type="http://schemas.openxmlformats.org/officeDocument/2006/relationships/slideLayout" Target="../slideLayouts/slideLayout48.xml"/><Relationship Id="rId5" Type="http://schemas.openxmlformats.org/officeDocument/2006/relationships/image" Target="../media/image4.svg"/><Relationship Id="rId4" Type="http://schemas.openxmlformats.org/officeDocument/2006/relationships/image" Target="../media/image3.png"/></Relationships>
</file>

<file path=ppt/slideMasters/_rels/slideMaster4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49.xml"/><Relationship Id="rId1" Type="http://schemas.openxmlformats.org/officeDocument/2006/relationships/slideLayout" Target="../slideLayouts/slideLayout49.xml"/></Relationships>
</file>

<file path=ppt/slideMasters/_rels/slideMaster5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50.xml"/><Relationship Id="rId1" Type="http://schemas.openxmlformats.org/officeDocument/2006/relationships/slideLayout" Target="../slideLayouts/slideLayout50.xml"/></Relationships>
</file>

<file path=ppt/slideMasters/_rels/slideMaster5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51.xml"/><Relationship Id="rId1" Type="http://schemas.openxmlformats.org/officeDocument/2006/relationships/slideLayout" Target="../slideLayouts/slideLayout51.xml"/></Relationships>
</file>

<file path=ppt/slideMasters/_rels/slideMaster5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52.xml"/><Relationship Id="rId1" Type="http://schemas.openxmlformats.org/officeDocument/2006/relationships/slideLayout" Target="../slideLayouts/slideLayout52.xml"/></Relationships>
</file>

<file path=ppt/slideMasters/_rels/slideMaster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53.xml"/><Relationship Id="rId1" Type="http://schemas.openxmlformats.org/officeDocument/2006/relationships/slideLayout" Target="../slideLayouts/slideLayout53.xml"/><Relationship Id="rId5" Type="http://schemas.openxmlformats.org/officeDocument/2006/relationships/image" Target="../media/image4.sv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pic>
        <p:nvPicPr>
          <p:cNvPr id="7" name="Picture 2" descr="Logo, company name&#10;&#10;Description automatically generated"/>
          <p:cNvPicPr/>
          <p:nvPr/>
        </p:nvPicPr>
        <p:blipFill>
          <a:blip r:embed="rId4"/>
          <a:srcRect l="6480" t="-2130" r="3669" b="13543"/>
          <a:stretch/>
        </p:blipFill>
        <p:spPr>
          <a:xfrm>
            <a:off x="8039160" y="4599720"/>
            <a:ext cx="3998160" cy="2017440"/>
          </a:xfrm>
          <a:prstGeom prst="rect">
            <a:avLst/>
          </a:prstGeom>
          <a:ln w="0">
            <a:noFill/>
          </a:ln>
        </p:spPr>
      </p:pic>
      <p:cxnSp>
        <p:nvCxnSpPr>
          <p:cNvPr id="2" name="Straight Connector 4"/>
          <p:cNvCxnSpPr/>
          <p:nvPr/>
        </p:nvCxnSpPr>
        <p:spPr>
          <a:xfrm>
            <a:off x="983880" y="3485160"/>
            <a:ext cx="262800" cy="720"/>
          </a:xfrm>
          <a:prstGeom prst="straightConnector1">
            <a:avLst/>
          </a:prstGeom>
          <a:ln w="19050">
            <a:solidFill>
              <a:srgbClr val="1700F3"/>
            </a:solidFill>
            <a:round/>
          </a:ln>
        </p:spPr>
      </p:cxnSp>
      <p:sp>
        <p:nvSpPr>
          <p:cNvPr id="3" name="PlaceHolder 1"/>
          <p:cNvSpPr>
            <a:spLocks noGrp="1"/>
          </p:cNvSpPr>
          <p:nvPr>
            <p:ph type="sldNum" idx="1"/>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F1AE5444-8B06-45A3-8648-1E600EC950AF}"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
        <p:nvSpPr>
          <p:cNvPr id="4"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s-AR" sz="4400" b="0" strike="noStrike" spc="-1">
                <a:solidFill>
                  <a:srgbClr val="000000"/>
                </a:solidFill>
                <a:latin typeface="Arial"/>
              </a:rPr>
              <a:t>Pulse para editar el formato del texto de título</a:t>
            </a:r>
          </a:p>
        </p:txBody>
      </p:sp>
      <p:sp>
        <p:nvSpPr>
          <p:cNvPr id="5"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AR" sz="3200" b="0" strike="noStrike" spc="-1">
                <a:solidFill>
                  <a:srgbClr val="000000"/>
                </a:solidFill>
                <a:latin typeface="Arial"/>
              </a:rPr>
              <a:t>Pulse para editar el formato de texto del esquema</a:t>
            </a:r>
          </a:p>
          <a:p>
            <a:pPr marL="864000" lvl="1" indent="-324000">
              <a:spcBef>
                <a:spcPts val="1134"/>
              </a:spcBef>
              <a:buClr>
                <a:srgbClr val="000000"/>
              </a:buClr>
              <a:buSzPct val="75000"/>
              <a:buFont typeface="Symbol" charset="2"/>
              <a:buChar char=""/>
            </a:pPr>
            <a:r>
              <a:rPr lang="es-AR" sz="2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AR" sz="24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AR" sz="20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AR" sz="20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AR" sz="20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AR" sz="2000" b="0" strike="noStrike" spc="-1">
                <a:solidFill>
                  <a:srgbClr val="000000"/>
                </a:solidFill>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7" name="PlaceHolder 1"/>
          <p:cNvSpPr>
            <a:spLocks noGrp="1"/>
          </p:cNvSpPr>
          <p:nvPr>
            <p:ph type="sldNum" idx="2"/>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6973F2BC-4172-4D93-86A5-75F447CC0911}"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
        <p:nvSpPr>
          <p:cNvPr id="8"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s-AR" sz="4400" b="0" strike="noStrike" spc="-1">
                <a:solidFill>
                  <a:srgbClr val="000000"/>
                </a:solidFill>
                <a:latin typeface="Arial"/>
              </a:rPr>
              <a:t>Pulse para editar el formato del texto de título</a:t>
            </a:r>
          </a:p>
        </p:txBody>
      </p:sp>
      <p:sp>
        <p:nvSpPr>
          <p:cNvPr id="9"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AR" sz="3200" b="0" strike="noStrike" spc="-1">
                <a:solidFill>
                  <a:srgbClr val="000000"/>
                </a:solidFill>
                <a:latin typeface="Arial"/>
              </a:rPr>
              <a:t>Pulse para editar el formato de texto del esquema</a:t>
            </a:r>
          </a:p>
          <a:p>
            <a:pPr marL="864000" lvl="1" indent="-324000">
              <a:spcBef>
                <a:spcPts val="1134"/>
              </a:spcBef>
              <a:buClr>
                <a:srgbClr val="000000"/>
              </a:buClr>
              <a:buSzPct val="75000"/>
              <a:buFont typeface="Symbol" charset="2"/>
              <a:buChar char=""/>
            </a:pPr>
            <a:r>
              <a:rPr lang="es-AR" sz="2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AR" sz="24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AR" sz="20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AR" sz="20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AR" sz="20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AR" sz="2000" b="0" strike="noStrike" spc="-1">
                <a:solidFill>
                  <a:srgbClr val="000000"/>
                </a:solidFill>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11" name="PlaceHolder 1"/>
          <p:cNvSpPr>
            <a:spLocks noGrp="1"/>
          </p:cNvSpPr>
          <p:nvPr>
            <p:ph type="sldNum" idx="3"/>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6D0BCA79-BF8E-4B71-B5A5-72FF832BA040}"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13" name="Text Placeholder 5"/>
          <p:cNvSpPr/>
          <p:nvPr/>
        </p:nvSpPr>
        <p:spPr>
          <a:xfrm>
            <a:off x="4276800" y="617040"/>
            <a:ext cx="7241400" cy="7241400"/>
          </a:xfrm>
          <a:prstGeom prst="chord">
            <a:avLst>
              <a:gd name="adj1" fmla="val 23405"/>
              <a:gd name="adj2" fmla="val 4101"/>
            </a:avLst>
          </a:prstGeom>
          <a:solidFill>
            <a:schemeClr val="bg1"/>
          </a:solidFill>
          <a:ln>
            <a:noFill/>
          </a:ln>
          <a:effectLst>
            <a:outerShdw blurRad="635040" sx="105000" sy="105000" algn="tl"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7200" rIns="90000" bIns="45000" anchor="ctr">
            <a:noAutofit/>
          </a:bodyPr>
          <a:lstStyle/>
          <a:p>
            <a:pPr marL="7920" algn="ctr" defTabSz="914400">
              <a:lnSpc>
                <a:spcPct val="90000"/>
              </a:lnSpc>
              <a:spcBef>
                <a:spcPts val="1001"/>
              </a:spcBef>
              <a:tabLst>
                <a:tab pos="0" algn="l"/>
              </a:tabLst>
            </a:pPr>
            <a:r>
              <a:rPr lang="en-US" sz="1600" b="1" strike="noStrike" cap="all" spc="46">
                <a:solidFill>
                  <a:schemeClr val="accent1"/>
                </a:solidFill>
                <a:latin typeface="Avenir Next LT Pro Demi"/>
              </a:rPr>
              <a:t>series</a:t>
            </a:r>
            <a:endParaRPr lang="es-AR" sz="1600" b="0" strike="noStrike" spc="-1">
              <a:solidFill>
                <a:srgbClr val="000000"/>
              </a:solidFill>
              <a:latin typeface="Arial"/>
            </a:endParaRPr>
          </a:p>
        </p:txBody>
      </p:sp>
      <p:sp>
        <p:nvSpPr>
          <p:cNvPr id="14" name="Text Placeholder 5"/>
          <p:cNvSpPr/>
          <p:nvPr/>
        </p:nvSpPr>
        <p:spPr>
          <a:xfrm>
            <a:off x="4276800" y="617040"/>
            <a:ext cx="7238520" cy="7238520"/>
          </a:xfrm>
          <a:prstGeom prst="chord">
            <a:avLst>
              <a:gd name="adj1" fmla="val 10800151"/>
              <a:gd name="adj2" fmla="val 21598022"/>
            </a:avLst>
          </a:prstGeom>
          <a:solidFill>
            <a:schemeClr val="bg1"/>
          </a:solidFill>
          <a:ln>
            <a:noFill/>
          </a:ln>
          <a:effectLst>
            <a:outerShdw blurRad="609480" algn="tl"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1280160" rIns="90000" bIns="45000" anchor="t">
            <a:noAutofit/>
          </a:bodyPr>
          <a:lstStyle/>
          <a:p>
            <a:pPr algn="ctr" defTabSz="914400">
              <a:lnSpc>
                <a:spcPct val="90000"/>
              </a:lnSpc>
              <a:spcBef>
                <a:spcPts val="1001"/>
              </a:spcBef>
              <a:tabLst>
                <a:tab pos="0" algn="l"/>
              </a:tabLst>
            </a:pPr>
            <a:r>
              <a:rPr lang="en-US" sz="9000" b="0" strike="noStrike" spc="46">
                <a:solidFill>
                  <a:schemeClr val="accent1"/>
                </a:solidFill>
                <a:latin typeface="Avenir Next LT Pro"/>
              </a:rPr>
              <a:t>$XX</a:t>
            </a:r>
            <a:endParaRPr lang="es-AR" sz="9000" b="0" strike="noStrike" spc="-1">
              <a:solidFill>
                <a:srgbClr val="000000"/>
              </a:solidFill>
              <a:latin typeface="Arial"/>
            </a:endParaRPr>
          </a:p>
        </p:txBody>
      </p:sp>
      <p:sp>
        <p:nvSpPr>
          <p:cNvPr id="15" name="Text Placeholder 5"/>
          <p:cNvSpPr/>
          <p:nvPr/>
        </p:nvSpPr>
        <p:spPr>
          <a:xfrm>
            <a:off x="2419560" y="2297520"/>
            <a:ext cx="3877560" cy="3877560"/>
          </a:xfrm>
          <a:prstGeom prst="chord">
            <a:avLst>
              <a:gd name="adj1" fmla="val 23405"/>
              <a:gd name="adj2" fmla="val 4101"/>
            </a:avLst>
          </a:prstGeom>
          <a:solidFill>
            <a:schemeClr val="bg1"/>
          </a:solidFill>
          <a:ln>
            <a:noFill/>
          </a:ln>
          <a:effectLst>
            <a:outerShdw blurRad="635040" sx="105000" sy="105000" algn="tl"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7200" rIns="90000" bIns="45000" anchor="ctr">
            <a:noAutofit/>
          </a:bodyPr>
          <a:lstStyle/>
          <a:p>
            <a:pPr marL="7920" algn="ctr" defTabSz="914400">
              <a:lnSpc>
                <a:spcPct val="90000"/>
              </a:lnSpc>
              <a:spcBef>
                <a:spcPts val="1001"/>
              </a:spcBef>
              <a:tabLst>
                <a:tab pos="0" algn="l"/>
              </a:tabLst>
            </a:pPr>
            <a:r>
              <a:rPr lang="en-US" sz="1600" b="1" strike="noStrike" cap="all" spc="46">
                <a:solidFill>
                  <a:schemeClr val="accent1"/>
                </a:solidFill>
                <a:latin typeface="Avenir Next LT Pro Demi"/>
              </a:rPr>
              <a:t>series</a:t>
            </a:r>
            <a:endParaRPr lang="es-AR" sz="1600" b="0" strike="noStrike" spc="-1">
              <a:solidFill>
                <a:srgbClr val="000000"/>
              </a:solidFill>
              <a:latin typeface="Arial"/>
            </a:endParaRPr>
          </a:p>
        </p:txBody>
      </p:sp>
      <p:sp>
        <p:nvSpPr>
          <p:cNvPr id="16" name="Text Placeholder 5"/>
          <p:cNvSpPr/>
          <p:nvPr/>
        </p:nvSpPr>
        <p:spPr>
          <a:xfrm>
            <a:off x="2419560" y="2297520"/>
            <a:ext cx="3877560" cy="3877560"/>
          </a:xfrm>
          <a:prstGeom prst="chord">
            <a:avLst>
              <a:gd name="adj1" fmla="val 10795454"/>
              <a:gd name="adj2" fmla="val 4101"/>
            </a:avLst>
          </a:prstGeom>
          <a:solidFill>
            <a:schemeClr val="bg1"/>
          </a:solidFill>
          <a:ln>
            <a:noFill/>
          </a:ln>
          <a:effectLst>
            <a:outerShdw blurRad="635040" sx="105000" sy="105000" algn="tl"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548640" rIns="90000" bIns="45000" anchor="t">
            <a:noAutofit/>
          </a:bodyPr>
          <a:lstStyle/>
          <a:p>
            <a:pPr marL="7920" algn="ctr" defTabSz="914400">
              <a:lnSpc>
                <a:spcPct val="90000"/>
              </a:lnSpc>
              <a:spcBef>
                <a:spcPts val="1001"/>
              </a:spcBef>
              <a:tabLst>
                <a:tab pos="0" algn="l"/>
              </a:tabLst>
            </a:pPr>
            <a:r>
              <a:rPr lang="en-US" sz="4800" b="0" strike="noStrike" spc="46">
                <a:solidFill>
                  <a:schemeClr val="accent1"/>
                </a:solidFill>
                <a:latin typeface="Avenir Next LT Pro"/>
              </a:rPr>
              <a:t>$XX</a:t>
            </a:r>
            <a:endParaRPr lang="es-AR" sz="4800" b="0" strike="noStrike" spc="-1">
              <a:solidFill>
                <a:srgbClr val="000000"/>
              </a:solidFill>
              <a:latin typeface="Arial"/>
            </a:endParaRPr>
          </a:p>
        </p:txBody>
      </p:sp>
      <p:sp>
        <p:nvSpPr>
          <p:cNvPr id="17" name="Text Placeholder 5"/>
          <p:cNvSpPr/>
          <p:nvPr/>
        </p:nvSpPr>
        <p:spPr>
          <a:xfrm>
            <a:off x="410040" y="3008520"/>
            <a:ext cx="2455920" cy="2455920"/>
          </a:xfrm>
          <a:prstGeom prst="chord">
            <a:avLst>
              <a:gd name="adj1" fmla="val 21590024"/>
              <a:gd name="adj2" fmla="val 10817800"/>
            </a:avLst>
          </a:prstGeom>
          <a:solidFill>
            <a:schemeClr val="accent1"/>
          </a:solidFill>
          <a:ln>
            <a:noFill/>
          </a:ln>
          <a:effectLst>
            <a:outerShdw blurRad="635040" sx="105000" sy="105000" algn="tl"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wrap="none" lIns="0" tIns="1188720" rIns="0" bIns="0" anchor="t">
            <a:noAutofit/>
          </a:bodyPr>
          <a:lstStyle/>
          <a:p>
            <a:pPr algn="ctr" defTabSz="914400">
              <a:lnSpc>
                <a:spcPct val="90000"/>
              </a:lnSpc>
              <a:spcBef>
                <a:spcPts val="1001"/>
              </a:spcBef>
              <a:tabLst>
                <a:tab pos="0" algn="l"/>
              </a:tabLst>
            </a:pPr>
            <a:r>
              <a:rPr lang="en-US" sz="3600" b="0" strike="noStrike" spc="46">
                <a:solidFill>
                  <a:schemeClr val="lt1"/>
                </a:solidFill>
                <a:latin typeface="Avenir Next LT Pro"/>
              </a:rPr>
              <a:t>$XX</a:t>
            </a:r>
            <a:endParaRPr lang="es-AR" sz="3600" b="0" strike="noStrike" spc="-1">
              <a:solidFill>
                <a:srgbClr val="FFFFFF"/>
              </a:solidFill>
              <a:latin typeface="Arial"/>
            </a:endParaRPr>
          </a:p>
        </p:txBody>
      </p:sp>
      <p:sp>
        <p:nvSpPr>
          <p:cNvPr id="18" name="PlaceHolder 1"/>
          <p:cNvSpPr>
            <a:spLocks noGrp="1"/>
          </p:cNvSpPr>
          <p:nvPr>
            <p:ph type="sldNum" idx="4"/>
          </p:nvPr>
        </p:nvSpPr>
        <p:spPr>
          <a:xfrm>
            <a:off x="11521440" y="640080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F590B361-1E07-4558-8E32-5B71412319CA}"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20" name="Rectangle 10"/>
          <p:cNvSpPr/>
          <p:nvPr/>
        </p:nvSpPr>
        <p:spPr>
          <a:xfrm>
            <a:off x="178560" y="6031440"/>
            <a:ext cx="11833920" cy="6850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21" name="PlaceHolder 1"/>
          <p:cNvSpPr>
            <a:spLocks noGrp="1"/>
          </p:cNvSpPr>
          <p:nvPr>
            <p:ph type="sldNum" idx="5"/>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lt1"/>
                </a:solidFill>
                <a:latin typeface="Avenir Next LT Pro"/>
                <a:ea typeface="Avenir Next"/>
              </a:defRPr>
            </a:lvl1pPr>
          </a:lstStyle>
          <a:p>
            <a:pPr indent="0" algn="r" defTabSz="914400">
              <a:lnSpc>
                <a:spcPct val="100000"/>
              </a:lnSpc>
              <a:buNone/>
              <a:tabLst>
                <a:tab pos="0" algn="l"/>
              </a:tabLst>
            </a:pPr>
            <a:fld id="{7588448C-AD2D-462A-884E-3B93FBC4C437}" type="slidenum">
              <a:rPr lang="en-US" sz="800" b="0" strike="noStrike" spc="-1">
                <a:solidFill>
                  <a:schemeClr val="lt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2"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23" name="PlaceHolder 1"/>
          <p:cNvSpPr>
            <a:spLocks noGrp="1"/>
          </p:cNvSpPr>
          <p:nvPr>
            <p:ph type="sldNum" idx="6"/>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948D769B-DAA6-49D3-876B-64D2835C9E98}"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4"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25" name="Rectangle 7"/>
          <p:cNvSpPr/>
          <p:nvPr/>
        </p:nvSpPr>
        <p:spPr>
          <a:xfrm>
            <a:off x="178560" y="6031440"/>
            <a:ext cx="11833920" cy="6850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26" name="PlaceHolder 1"/>
          <p:cNvSpPr>
            <a:spLocks noGrp="1"/>
          </p:cNvSpPr>
          <p:nvPr>
            <p:ph type="sldNum" idx="7"/>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lt1"/>
                </a:solidFill>
                <a:latin typeface="Avenir Next LT Pro"/>
                <a:ea typeface="Avenir Next"/>
              </a:defRPr>
            </a:lvl1pPr>
          </a:lstStyle>
          <a:p>
            <a:pPr indent="0" algn="r" defTabSz="914400">
              <a:lnSpc>
                <a:spcPct val="100000"/>
              </a:lnSpc>
              <a:buNone/>
              <a:tabLst>
                <a:tab pos="0" algn="l"/>
              </a:tabLst>
            </a:pPr>
            <a:fld id="{C4F44EAD-CBD6-4C18-868E-AC55CE8700CC}" type="slidenum">
              <a:rPr lang="en-US" sz="800" b="0" strike="noStrike" spc="-1">
                <a:solidFill>
                  <a:schemeClr val="lt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7"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pic>
        <p:nvPicPr>
          <p:cNvPr id="28" name="Graphic 1"/>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29" name="PlaceHolder 1"/>
          <p:cNvSpPr>
            <a:spLocks noGrp="1"/>
          </p:cNvSpPr>
          <p:nvPr>
            <p:ph type="sldNum" idx="8"/>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733D7D63-6065-4950-9CBF-3AB9F4C0ADAD}"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0"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31" name="Rectangle 1"/>
          <p:cNvSpPr/>
          <p:nvPr/>
        </p:nvSpPr>
        <p:spPr>
          <a:xfrm>
            <a:off x="6095880" y="0"/>
            <a:ext cx="6095160" cy="68572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pic>
        <p:nvPicPr>
          <p:cNvPr id="32" name="Graphic 2"/>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33" name="PlaceHolder 1"/>
          <p:cNvSpPr>
            <a:spLocks noGrp="1"/>
          </p:cNvSpPr>
          <p:nvPr>
            <p:ph type="sldNum" idx="9"/>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3CFA29BD-4898-43EB-AC4B-A49286A6D7B4}"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4"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35" name="Rectangle 5"/>
          <p:cNvSpPr/>
          <p:nvPr/>
        </p:nvSpPr>
        <p:spPr>
          <a:xfrm flipV="1">
            <a:off x="0" y="-720"/>
            <a:ext cx="12191400" cy="1816200"/>
          </a:xfrm>
          <a:prstGeom prst="rect">
            <a:avLst/>
          </a:prstGeom>
          <a:solidFill>
            <a:schemeClr val="bg1"/>
          </a:solidFill>
          <a:ln>
            <a:noFill/>
          </a:ln>
          <a:effectLst>
            <a:outerShdw blurRad="635040" sx="105000" sy="105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36" name="Rounded Rectangle 7"/>
          <p:cNvSpPr/>
          <p:nvPr/>
        </p:nvSpPr>
        <p:spPr>
          <a:xfrm>
            <a:off x="549360" y="2670840"/>
            <a:ext cx="2958840" cy="3561120"/>
          </a:xfrm>
          <a:prstGeom prst="roundRect">
            <a:avLst>
              <a:gd name="adj" fmla="val 4811"/>
            </a:avLst>
          </a:prstGeom>
          <a:solidFill>
            <a:schemeClr val="bg1"/>
          </a:solidFill>
          <a:ln>
            <a:noFill/>
          </a:ln>
          <a:effectLst>
            <a:outerShdw blurRad="635040" sx="105000" sy="105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37" name="Rounded Rectangle 9"/>
          <p:cNvSpPr/>
          <p:nvPr/>
        </p:nvSpPr>
        <p:spPr>
          <a:xfrm>
            <a:off x="4629240" y="2670840"/>
            <a:ext cx="2958840" cy="3561120"/>
          </a:xfrm>
          <a:prstGeom prst="roundRect">
            <a:avLst>
              <a:gd name="adj" fmla="val 4811"/>
            </a:avLst>
          </a:prstGeom>
          <a:solidFill>
            <a:schemeClr val="bg1"/>
          </a:solidFill>
          <a:ln>
            <a:noFill/>
          </a:ln>
          <a:effectLst>
            <a:outerShdw blurRad="635040" sx="105000" sy="105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38" name="Rounded Rectangle 11"/>
          <p:cNvSpPr/>
          <p:nvPr/>
        </p:nvSpPr>
        <p:spPr>
          <a:xfrm>
            <a:off x="8709480" y="2670840"/>
            <a:ext cx="2958840" cy="3561120"/>
          </a:xfrm>
          <a:prstGeom prst="roundRect">
            <a:avLst>
              <a:gd name="adj" fmla="val 4811"/>
            </a:avLst>
          </a:prstGeom>
          <a:solidFill>
            <a:schemeClr val="bg1"/>
          </a:solidFill>
          <a:ln>
            <a:noFill/>
          </a:ln>
          <a:effectLst>
            <a:outerShdw blurRad="635040" sx="105000" sy="105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39" name="Cross 14"/>
          <p:cNvSpPr/>
          <p:nvPr/>
        </p:nvSpPr>
        <p:spPr>
          <a:xfrm>
            <a:off x="3764160" y="4116960"/>
            <a:ext cx="601560" cy="601560"/>
          </a:xfrm>
          <a:prstGeom prst="plus">
            <a:avLst>
              <a:gd name="adj" fmla="val 40362"/>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a:endParaRPr>
          </a:p>
        </p:txBody>
      </p:sp>
      <p:sp>
        <p:nvSpPr>
          <p:cNvPr id="40" name="Equal 15"/>
          <p:cNvSpPr/>
          <p:nvPr/>
        </p:nvSpPr>
        <p:spPr>
          <a:xfrm>
            <a:off x="7741440" y="4116240"/>
            <a:ext cx="823680" cy="602640"/>
          </a:xfrm>
          <a:prstGeom prst="mathEqual">
            <a:avLst>
              <a:gd name="adj1" fmla="val 18785"/>
              <a:gd name="adj2" fmla="val 19125"/>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a:endParaRPr>
          </a:p>
        </p:txBody>
      </p:sp>
      <p:pic>
        <p:nvPicPr>
          <p:cNvPr id="41" name="Graphic 13"/>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42" name="PlaceHolder 1"/>
          <p:cNvSpPr>
            <a:spLocks noGrp="1"/>
          </p:cNvSpPr>
          <p:nvPr>
            <p:ph type="sldNum" idx="10"/>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27425911-7922-4075-AA9C-6E5D9448BDE7}"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3"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44" name="Cross 5"/>
          <p:cNvSpPr/>
          <p:nvPr/>
        </p:nvSpPr>
        <p:spPr>
          <a:xfrm>
            <a:off x="3297240" y="3128040"/>
            <a:ext cx="601560" cy="601560"/>
          </a:xfrm>
          <a:prstGeom prst="plus">
            <a:avLst>
              <a:gd name="adj" fmla="val 40362"/>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a:endParaRPr>
          </a:p>
        </p:txBody>
      </p:sp>
      <p:sp>
        <p:nvSpPr>
          <p:cNvPr id="45" name="Cross 6"/>
          <p:cNvSpPr/>
          <p:nvPr/>
        </p:nvSpPr>
        <p:spPr>
          <a:xfrm>
            <a:off x="7475040" y="3128040"/>
            <a:ext cx="601560" cy="601560"/>
          </a:xfrm>
          <a:prstGeom prst="plus">
            <a:avLst>
              <a:gd name="adj" fmla="val 40362"/>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a:endParaRPr>
          </a:p>
        </p:txBody>
      </p:sp>
      <p:sp>
        <p:nvSpPr>
          <p:cNvPr id="46" name="PlaceHolder 1"/>
          <p:cNvSpPr>
            <a:spLocks noGrp="1"/>
          </p:cNvSpPr>
          <p:nvPr>
            <p:ph type="sldNum" idx="11"/>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A77F51F2-E43D-49C9-B932-4D48FE691FA8}"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
        <p:nvSpPr>
          <p:cNvPr id="47"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s-AR" sz="4400" b="0" strike="noStrike" spc="-1">
                <a:solidFill>
                  <a:srgbClr val="000000"/>
                </a:solidFill>
                <a:latin typeface="Arial"/>
              </a:rPr>
              <a:t>Pulse para editar el formato del texto de título</a:t>
            </a:r>
          </a:p>
        </p:txBody>
      </p:sp>
      <p:sp>
        <p:nvSpPr>
          <p:cNvPr id="48"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AR" sz="3200" b="0" strike="noStrike" spc="-1">
                <a:solidFill>
                  <a:srgbClr val="000000"/>
                </a:solidFill>
                <a:latin typeface="Arial"/>
              </a:rPr>
              <a:t>Pulse para editar el formato de texto del esquema</a:t>
            </a:r>
          </a:p>
          <a:p>
            <a:pPr marL="864000" lvl="1" indent="-324000">
              <a:spcBef>
                <a:spcPts val="1134"/>
              </a:spcBef>
              <a:buClr>
                <a:srgbClr val="000000"/>
              </a:buClr>
              <a:buSzPct val="75000"/>
              <a:buFont typeface="Symbol" charset="2"/>
              <a:buChar char=""/>
            </a:pPr>
            <a:r>
              <a:rPr lang="es-AR" sz="2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AR" sz="24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AR" sz="20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AR" sz="20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AR" sz="20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AR" sz="2000" b="0" strike="noStrike" spc="-1">
                <a:solidFill>
                  <a:srgbClr val="000000"/>
                </a:solidFill>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9"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pic>
        <p:nvPicPr>
          <p:cNvPr id="50" name="Picture 8"/>
          <p:cNvPicPr/>
          <p:nvPr/>
        </p:nvPicPr>
        <p:blipFill>
          <a:blip r:embed="rId4">
            <a:alphaModFix amt="65000"/>
          </a:blip>
          <a:stretch/>
        </p:blipFill>
        <p:spPr>
          <a:xfrm rot="10800000">
            <a:off x="720" y="0"/>
            <a:ext cx="12191400" cy="6857280"/>
          </a:xfrm>
          <a:prstGeom prst="rect">
            <a:avLst/>
          </a:prstGeom>
          <a:ln w="0">
            <a:noFill/>
          </a:ln>
        </p:spPr>
      </p:pic>
      <p:cxnSp>
        <p:nvCxnSpPr>
          <p:cNvPr id="51" name="Straight Connector 6"/>
          <p:cNvCxnSpPr/>
          <p:nvPr/>
        </p:nvCxnSpPr>
        <p:spPr>
          <a:xfrm>
            <a:off x="971640" y="2788920"/>
            <a:ext cx="783720" cy="720"/>
          </a:xfrm>
          <a:prstGeom prst="straightConnector1">
            <a:avLst/>
          </a:prstGeom>
          <a:ln w="19050">
            <a:solidFill>
              <a:srgbClr val="1700F3"/>
            </a:solidFill>
            <a:round/>
          </a:ln>
        </p:spPr>
      </p:cxnSp>
      <p:sp>
        <p:nvSpPr>
          <p:cNvPr id="52" name="PlaceHolder 1"/>
          <p:cNvSpPr>
            <a:spLocks noGrp="1"/>
          </p:cNvSpPr>
          <p:nvPr>
            <p:ph type="sldNum" idx="12"/>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DE69FE97-DC81-4B1C-BE68-8C6A1C2BC488}"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
        <p:nvSpPr>
          <p:cNvPr id="53"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s-AR" sz="4400" b="0" strike="noStrike" spc="-1">
                <a:solidFill>
                  <a:srgbClr val="000000"/>
                </a:solidFill>
                <a:latin typeface="Arial"/>
              </a:rPr>
              <a:t>Pulse para editar el formato del texto de título</a:t>
            </a:r>
          </a:p>
        </p:txBody>
      </p:sp>
      <p:sp>
        <p:nvSpPr>
          <p:cNvPr id="54"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AR" sz="3200" b="0" strike="noStrike" spc="-1">
                <a:solidFill>
                  <a:srgbClr val="000000"/>
                </a:solidFill>
                <a:latin typeface="Arial"/>
              </a:rPr>
              <a:t>Pulse para editar el formato de texto del esquema</a:t>
            </a:r>
          </a:p>
          <a:p>
            <a:pPr marL="864000" lvl="1" indent="-324000">
              <a:spcBef>
                <a:spcPts val="1134"/>
              </a:spcBef>
              <a:buClr>
                <a:srgbClr val="000000"/>
              </a:buClr>
              <a:buSzPct val="75000"/>
              <a:buFont typeface="Symbol" charset="2"/>
              <a:buChar char=""/>
            </a:pPr>
            <a:r>
              <a:rPr lang="es-AR" sz="2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AR" sz="24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AR" sz="20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AR" sz="20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AR" sz="20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AR" sz="2000" b="0" strike="noStrike" spc="-1">
                <a:solidFill>
                  <a:srgbClr val="000000"/>
                </a:solidFill>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5"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56" name="PlaceHolder 1"/>
          <p:cNvSpPr>
            <a:spLocks noGrp="1"/>
          </p:cNvSpPr>
          <p:nvPr>
            <p:ph type="sldNum" idx="13"/>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93B6A8E9-2C00-4A1B-A897-22468D0D7EC5}"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7"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58" name="PlaceHolder 1"/>
          <p:cNvSpPr>
            <a:spLocks noGrp="1"/>
          </p:cNvSpPr>
          <p:nvPr>
            <p:ph type="sldNum" idx="14"/>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FEEE8991-7FF6-4B4F-818E-23A5B0AA5F57}"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9"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60" name="Rectangle 1"/>
          <p:cNvSpPr/>
          <p:nvPr/>
        </p:nvSpPr>
        <p:spPr>
          <a:xfrm>
            <a:off x="4064040" y="0"/>
            <a:ext cx="4063320" cy="68572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a:endParaRPr>
          </a:p>
        </p:txBody>
      </p:sp>
      <p:sp>
        <p:nvSpPr>
          <p:cNvPr id="61" name="Text Placeholder 5"/>
          <p:cNvSpPr/>
          <p:nvPr/>
        </p:nvSpPr>
        <p:spPr>
          <a:xfrm>
            <a:off x="8484120" y="3879000"/>
            <a:ext cx="3370680" cy="2375640"/>
          </a:xfrm>
          <a:prstGeom prst="roundRect">
            <a:avLst>
              <a:gd name="adj" fmla="val 3710"/>
            </a:avLst>
          </a:prstGeom>
          <a:solidFill>
            <a:schemeClr val="bg1"/>
          </a:solidFill>
          <a:ln w="28575">
            <a:noFill/>
          </a:ln>
          <a:effectLst>
            <a:outerShdw blurRad="166680" sx="102000" sy="102000" algn="ctr" rotWithShape="0">
              <a:srgbClr val="000000">
                <a:alpha val="20000"/>
              </a:srgbClr>
            </a:outerShdw>
          </a:effectLst>
        </p:spPr>
        <p:style>
          <a:lnRef idx="0">
            <a:scrgbClr r="0" g="0" b="0"/>
          </a:lnRef>
          <a:fillRef idx="0">
            <a:scrgbClr r="0" g="0" b="0"/>
          </a:fillRef>
          <a:effectRef idx="0">
            <a:scrgbClr r="0" g="0" b="0"/>
          </a:effectRef>
          <a:fontRef idx="minor"/>
        </p:style>
        <p:txBody>
          <a:bodyPr lIns="182880" tIns="45000" rIns="90000" bIns="45000" anchor="ctr">
            <a:noAutofit/>
          </a:bodyPr>
          <a:lstStyle/>
          <a:p>
            <a:pPr defTabSz="914400">
              <a:lnSpc>
                <a:spcPct val="100000"/>
              </a:lnSpc>
              <a:spcBef>
                <a:spcPts val="1001"/>
              </a:spcBef>
              <a:tabLst>
                <a:tab pos="0" algn="l"/>
              </a:tabLst>
            </a:pPr>
            <a:r>
              <a:rPr lang="en-US" sz="1900" b="0" strike="noStrike" spc="-1">
                <a:solidFill>
                  <a:schemeClr val="dk1"/>
                </a:solidFill>
                <a:latin typeface="Avenir Next LT Pro"/>
                <a:ea typeface="Avenir Next"/>
              </a:rPr>
              <a:t>Click to edit Master text styles</a:t>
            </a:r>
            <a:endParaRPr lang="es-AR" sz="1900" b="0" strike="noStrike" spc="-1">
              <a:solidFill>
                <a:srgbClr val="000000"/>
              </a:solidFill>
              <a:latin typeface="Arial"/>
            </a:endParaRPr>
          </a:p>
        </p:txBody>
      </p:sp>
      <p:sp>
        <p:nvSpPr>
          <p:cNvPr id="62" name="PlaceHolder 1"/>
          <p:cNvSpPr>
            <a:spLocks noGrp="1"/>
          </p:cNvSpPr>
          <p:nvPr>
            <p:ph type="sldNum" idx="15"/>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53CCBFF7-1E87-45CF-8BED-F6592F085539}"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
        <p:nvSpPr>
          <p:cNvPr id="63"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s-AR" sz="4400" b="0" strike="noStrike" spc="-1">
                <a:solidFill>
                  <a:srgbClr val="000000"/>
                </a:solidFill>
                <a:latin typeface="Arial"/>
              </a:rPr>
              <a:t>Pulse para editar el formato del texto de título</a:t>
            </a:r>
          </a:p>
        </p:txBody>
      </p:sp>
      <p:sp>
        <p:nvSpPr>
          <p:cNvPr id="64"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AR" sz="3200" b="0" strike="noStrike" spc="-1">
                <a:solidFill>
                  <a:srgbClr val="000000"/>
                </a:solidFill>
                <a:latin typeface="Arial"/>
              </a:rPr>
              <a:t>Pulse para editar el formato de texto del esquema</a:t>
            </a:r>
          </a:p>
          <a:p>
            <a:pPr marL="864000" lvl="1" indent="-324000">
              <a:spcBef>
                <a:spcPts val="1134"/>
              </a:spcBef>
              <a:buClr>
                <a:srgbClr val="000000"/>
              </a:buClr>
              <a:buSzPct val="75000"/>
              <a:buFont typeface="Symbol" charset="2"/>
              <a:buChar char=""/>
            </a:pPr>
            <a:r>
              <a:rPr lang="es-AR" sz="2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AR" sz="24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AR" sz="20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AR" sz="20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AR" sz="20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AR" sz="2000" b="0" strike="noStrike" spc="-1">
                <a:solidFill>
                  <a:srgbClr val="000000"/>
                </a:solidFill>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5"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66" name="PlaceHolder 1"/>
          <p:cNvSpPr>
            <a:spLocks noGrp="1"/>
          </p:cNvSpPr>
          <p:nvPr>
            <p:ph type="sldNum" idx="16"/>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8BB46037-67BA-433E-BFA7-E8EB62D6212E}"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7"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68" name="Slide Number Placeholder 5"/>
          <p:cNvSpPr/>
          <p:nvPr/>
        </p:nvSpPr>
        <p:spPr>
          <a:xfrm>
            <a:off x="11521440" y="6486120"/>
            <a:ext cx="320040" cy="364320"/>
          </a:xfrm>
          <a:prstGeom prst="rect">
            <a:avLst/>
          </a:prstGeom>
          <a:noFill/>
          <a:ln w="0">
            <a:noFill/>
          </a:ln>
        </p:spPr>
        <p:style>
          <a:lnRef idx="0">
            <a:scrgbClr r="0" g="0" b="0"/>
          </a:lnRef>
          <a:fillRef idx="0">
            <a:scrgbClr r="0" g="0" b="0"/>
          </a:fillRef>
          <a:effectRef idx="0">
            <a:scrgbClr r="0" g="0" b="0"/>
          </a:effectRef>
          <a:fontRef idx="minor"/>
        </p:style>
        <p:txBody>
          <a:bodyPr lIns="0" tIns="45000" rIns="0" bIns="45000" anchor="t">
            <a:noAutofit/>
          </a:bodyPr>
          <a:lstStyle/>
          <a:p>
            <a:pPr algn="r" defTabSz="914400">
              <a:lnSpc>
                <a:spcPct val="100000"/>
              </a:lnSpc>
            </a:pPr>
            <a:fld id="{13942C70-1461-4E14-8930-521E5D6A8F57}" type="slidenum">
              <a:rPr lang="en-US" sz="800" b="0" strike="noStrike" spc="-1">
                <a:solidFill>
                  <a:schemeClr val="dk1"/>
                </a:solidFill>
                <a:latin typeface="Avenir Next LT Pro"/>
                <a:ea typeface="Avenir Next"/>
              </a:rPr>
              <a:t>‹#›</a:t>
            </a:fld>
            <a:endParaRPr lang="es-AR" sz="8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9"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70" name="Rectangle 2"/>
          <p:cNvSpPr/>
          <p:nvPr/>
        </p:nvSpPr>
        <p:spPr>
          <a:xfrm>
            <a:off x="0" y="1076400"/>
            <a:ext cx="12191400" cy="57808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a:endParaRPr>
          </a:p>
        </p:txBody>
      </p:sp>
      <p:grpSp>
        <p:nvGrpSpPr>
          <p:cNvPr id="71" name="Group 26"/>
          <p:cNvGrpSpPr/>
          <p:nvPr/>
        </p:nvGrpSpPr>
        <p:grpSpPr>
          <a:xfrm>
            <a:off x="5075280" y="3254040"/>
            <a:ext cx="4747680" cy="3229200"/>
            <a:chOff x="5075280" y="3254040"/>
            <a:chExt cx="4747680" cy="3229200"/>
          </a:xfrm>
        </p:grpSpPr>
        <p:cxnSp>
          <p:nvCxnSpPr>
            <p:cNvPr id="72" name="Straight Connector 27"/>
            <p:cNvCxnSpPr/>
            <p:nvPr/>
          </p:nvCxnSpPr>
          <p:spPr>
            <a:xfrm>
              <a:off x="5075280" y="3254040"/>
              <a:ext cx="720" cy="3229560"/>
            </a:xfrm>
            <a:prstGeom prst="straightConnector1">
              <a:avLst/>
            </a:prstGeom>
            <a:ln w="12700">
              <a:solidFill>
                <a:srgbClr val="00095B"/>
              </a:solidFill>
              <a:prstDash val="sysDot"/>
              <a:round/>
            </a:ln>
          </p:spPr>
        </p:cxnSp>
        <p:cxnSp>
          <p:nvCxnSpPr>
            <p:cNvPr id="73" name="Straight Connector 28"/>
            <p:cNvCxnSpPr/>
            <p:nvPr/>
          </p:nvCxnSpPr>
          <p:spPr>
            <a:xfrm>
              <a:off x="9822600" y="3254040"/>
              <a:ext cx="720" cy="3229560"/>
            </a:xfrm>
            <a:prstGeom prst="straightConnector1">
              <a:avLst/>
            </a:prstGeom>
            <a:ln w="12700">
              <a:solidFill>
                <a:srgbClr val="00095B"/>
              </a:solidFill>
              <a:prstDash val="sysDot"/>
              <a:round/>
            </a:ln>
          </p:spPr>
        </p:cxnSp>
      </p:grpSp>
      <p:grpSp>
        <p:nvGrpSpPr>
          <p:cNvPr id="74" name="Group 65"/>
          <p:cNvGrpSpPr/>
          <p:nvPr/>
        </p:nvGrpSpPr>
        <p:grpSpPr>
          <a:xfrm>
            <a:off x="5075280" y="1352880"/>
            <a:ext cx="4747680" cy="1651680"/>
            <a:chOff x="5075280" y="1352880"/>
            <a:chExt cx="4747680" cy="1651680"/>
          </a:xfrm>
        </p:grpSpPr>
        <p:cxnSp>
          <p:nvCxnSpPr>
            <p:cNvPr id="75" name="Straight Connector 66"/>
            <p:cNvCxnSpPr/>
            <p:nvPr/>
          </p:nvCxnSpPr>
          <p:spPr>
            <a:xfrm>
              <a:off x="5075280" y="1352880"/>
              <a:ext cx="720" cy="1652040"/>
            </a:xfrm>
            <a:prstGeom prst="straightConnector1">
              <a:avLst/>
            </a:prstGeom>
            <a:ln w="12700">
              <a:solidFill>
                <a:srgbClr val="00095B"/>
              </a:solidFill>
              <a:prstDash val="sysDot"/>
              <a:round/>
            </a:ln>
          </p:spPr>
        </p:cxnSp>
        <p:cxnSp>
          <p:nvCxnSpPr>
            <p:cNvPr id="76" name="Straight Connector 67"/>
            <p:cNvCxnSpPr/>
            <p:nvPr/>
          </p:nvCxnSpPr>
          <p:spPr>
            <a:xfrm>
              <a:off x="9822600" y="1352880"/>
              <a:ext cx="720" cy="1652040"/>
            </a:xfrm>
            <a:prstGeom prst="straightConnector1">
              <a:avLst/>
            </a:prstGeom>
            <a:ln w="12700">
              <a:solidFill>
                <a:srgbClr val="00095B"/>
              </a:solidFill>
              <a:prstDash val="sysDot"/>
              <a:round/>
            </a:ln>
          </p:spPr>
        </p:cxnSp>
      </p:grpSp>
      <p:cxnSp>
        <p:nvCxnSpPr>
          <p:cNvPr id="77" name="Straight Connector 29"/>
          <p:cNvCxnSpPr/>
          <p:nvPr/>
        </p:nvCxnSpPr>
        <p:spPr>
          <a:xfrm>
            <a:off x="2954520" y="4936680"/>
            <a:ext cx="9043560" cy="720"/>
          </a:xfrm>
          <a:prstGeom prst="straightConnector1">
            <a:avLst/>
          </a:prstGeom>
          <a:ln w="12700">
            <a:solidFill>
              <a:srgbClr val="00095B"/>
            </a:solidFill>
            <a:prstDash val="sysDot"/>
            <a:round/>
          </a:ln>
        </p:spPr>
      </p:cxnSp>
      <p:cxnSp>
        <p:nvCxnSpPr>
          <p:cNvPr id="78" name="Straight Connector 4"/>
          <p:cNvCxnSpPr/>
          <p:nvPr/>
        </p:nvCxnSpPr>
        <p:spPr>
          <a:xfrm>
            <a:off x="2701800" y="1076400"/>
            <a:ext cx="720" cy="5782320"/>
          </a:xfrm>
          <a:prstGeom prst="straightConnector1">
            <a:avLst/>
          </a:prstGeom>
          <a:ln w="38100">
            <a:solidFill>
              <a:srgbClr val="FFFFFF"/>
            </a:solidFill>
            <a:round/>
          </a:ln>
        </p:spPr>
      </p:cxnSp>
      <p:cxnSp>
        <p:nvCxnSpPr>
          <p:cNvPr id="79" name="Straight Connector 25"/>
          <p:cNvCxnSpPr/>
          <p:nvPr/>
        </p:nvCxnSpPr>
        <p:spPr>
          <a:xfrm>
            <a:off x="7446600" y="1076400"/>
            <a:ext cx="720" cy="5782320"/>
          </a:xfrm>
          <a:prstGeom prst="straightConnector1">
            <a:avLst/>
          </a:prstGeom>
          <a:ln w="38100">
            <a:solidFill>
              <a:srgbClr val="FFFFFF"/>
            </a:solidFill>
            <a:round/>
          </a:ln>
        </p:spPr>
      </p:cxnSp>
      <p:sp>
        <p:nvSpPr>
          <p:cNvPr id="80" name="PlaceHolder 1"/>
          <p:cNvSpPr>
            <a:spLocks noGrp="1"/>
          </p:cNvSpPr>
          <p:nvPr>
            <p:ph type="sldNum" idx="17"/>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5537F14B-9337-4FB6-9498-2D2C15040A40}"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1"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82" name="PlaceHolder 1"/>
          <p:cNvSpPr>
            <a:spLocks noGrp="1"/>
          </p:cNvSpPr>
          <p:nvPr>
            <p:ph type="sldNum" idx="18"/>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FBFC2A2D-A2A4-4DBF-AB52-40E7C06DBBD3}"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3"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pic>
        <p:nvPicPr>
          <p:cNvPr id="84" name="Graphic 1"/>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85" name="PlaceHolder 1"/>
          <p:cNvSpPr>
            <a:spLocks noGrp="1"/>
          </p:cNvSpPr>
          <p:nvPr>
            <p:ph type="sldNum" idx="19"/>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C81042AD-B6AF-40F0-9581-73F9387B1EF0}"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6"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87" name="Rectangle 15"/>
          <p:cNvSpPr/>
          <p:nvPr/>
        </p:nvSpPr>
        <p:spPr>
          <a:xfrm>
            <a:off x="4064040" y="0"/>
            <a:ext cx="4063320" cy="68572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a:endParaRPr>
          </a:p>
        </p:txBody>
      </p:sp>
      <p:grpSp>
        <p:nvGrpSpPr>
          <p:cNvPr id="88" name="Group 6"/>
          <p:cNvGrpSpPr/>
          <p:nvPr/>
        </p:nvGrpSpPr>
        <p:grpSpPr>
          <a:xfrm>
            <a:off x="720" y="3986280"/>
            <a:ext cx="12190680" cy="63360"/>
            <a:chOff x="720" y="3986280"/>
            <a:chExt cx="12190680" cy="63360"/>
          </a:xfrm>
        </p:grpSpPr>
        <p:sp>
          <p:nvSpPr>
            <p:cNvPr id="89" name="Rectangle 3"/>
            <p:cNvSpPr/>
            <p:nvPr/>
          </p:nvSpPr>
          <p:spPr>
            <a:xfrm>
              <a:off x="720" y="3986280"/>
              <a:ext cx="4062240" cy="633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19080" rIns="90000" bIns="19080" anchor="ctr">
              <a:noAutofit/>
            </a:bodyPr>
            <a:lstStyle/>
            <a:p>
              <a:pPr algn="ctr" defTabSz="914400">
                <a:lnSpc>
                  <a:spcPct val="100000"/>
                </a:lnSpc>
              </a:pPr>
              <a:endParaRPr lang="en-US" sz="1800" b="0" strike="noStrike" spc="-1">
                <a:solidFill>
                  <a:schemeClr val="dk1"/>
                </a:solidFill>
                <a:latin typeface="Avenir Next"/>
              </a:endParaRPr>
            </a:p>
          </p:txBody>
        </p:sp>
        <p:sp>
          <p:nvSpPr>
            <p:cNvPr id="90" name="Rectangle 4"/>
            <p:cNvSpPr/>
            <p:nvPr/>
          </p:nvSpPr>
          <p:spPr>
            <a:xfrm>
              <a:off x="4063320" y="3986280"/>
              <a:ext cx="4068360" cy="63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19080" rIns="90000" bIns="19080" anchor="ctr">
              <a:noAutofit/>
            </a:bodyPr>
            <a:lstStyle/>
            <a:p>
              <a:pPr algn="ctr" defTabSz="914400">
                <a:lnSpc>
                  <a:spcPct val="100000"/>
                </a:lnSpc>
              </a:pPr>
              <a:endParaRPr lang="en-US" sz="1800" b="0" strike="noStrike" spc="-1">
                <a:solidFill>
                  <a:schemeClr val="dk1"/>
                </a:solidFill>
                <a:latin typeface="Avenir Next"/>
              </a:endParaRPr>
            </a:p>
          </p:txBody>
        </p:sp>
        <p:sp>
          <p:nvSpPr>
            <p:cNvPr id="91" name="Rectangle 5"/>
            <p:cNvSpPr/>
            <p:nvPr/>
          </p:nvSpPr>
          <p:spPr>
            <a:xfrm>
              <a:off x="8129160" y="3986280"/>
              <a:ext cx="4062240" cy="633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p:style>
          <p:txBody>
            <a:bodyPr lIns="90000" tIns="19080" rIns="90000" bIns="19080" anchor="ctr">
              <a:noAutofit/>
            </a:bodyPr>
            <a:lstStyle/>
            <a:p>
              <a:pPr algn="ctr" defTabSz="914400">
                <a:lnSpc>
                  <a:spcPct val="100000"/>
                </a:lnSpc>
              </a:pPr>
              <a:endParaRPr lang="en-US" sz="1800" b="0" strike="noStrike" spc="-1">
                <a:solidFill>
                  <a:schemeClr val="dk1"/>
                </a:solidFill>
                <a:latin typeface="Avenir Next"/>
              </a:endParaRPr>
            </a:p>
          </p:txBody>
        </p:sp>
      </p:grpSp>
      <p:sp>
        <p:nvSpPr>
          <p:cNvPr id="92" name="PlaceHolder 1"/>
          <p:cNvSpPr>
            <a:spLocks noGrp="1"/>
          </p:cNvSpPr>
          <p:nvPr>
            <p:ph type="sldNum" idx="20"/>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8C99FD6A-D7B3-415A-BADA-91CBBBCF2A71}"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3"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94" name="Rectangle 11"/>
          <p:cNvSpPr/>
          <p:nvPr/>
        </p:nvSpPr>
        <p:spPr>
          <a:xfrm>
            <a:off x="6108480" y="0"/>
            <a:ext cx="6099120" cy="68572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pic>
        <p:nvPicPr>
          <p:cNvPr id="95" name="Graphic 1"/>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96" name="PlaceHolder 1"/>
          <p:cNvSpPr>
            <a:spLocks noGrp="1"/>
          </p:cNvSpPr>
          <p:nvPr>
            <p:ph type="sldNum" idx="21"/>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AE8345F3-0624-436A-B152-A754EFC511FE}"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
        <p:nvSpPr>
          <p:cNvPr id="97"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s-AR" sz="4400" b="0" strike="noStrike" spc="-1">
                <a:solidFill>
                  <a:srgbClr val="000000"/>
                </a:solidFill>
                <a:latin typeface="Arial"/>
              </a:rPr>
              <a:t>Pulse para editar el formato del texto de título</a:t>
            </a:r>
          </a:p>
        </p:txBody>
      </p:sp>
      <p:sp>
        <p:nvSpPr>
          <p:cNvPr id="98"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AR" sz="3200" b="0" strike="noStrike" spc="-1">
                <a:solidFill>
                  <a:srgbClr val="000000"/>
                </a:solidFill>
                <a:latin typeface="Arial"/>
              </a:rPr>
              <a:t>Pulse para editar el formato de texto del esquema</a:t>
            </a:r>
          </a:p>
          <a:p>
            <a:pPr marL="864000" lvl="1" indent="-324000">
              <a:spcBef>
                <a:spcPts val="1134"/>
              </a:spcBef>
              <a:buClr>
                <a:srgbClr val="000000"/>
              </a:buClr>
              <a:buSzPct val="75000"/>
              <a:buFont typeface="Symbol" charset="2"/>
              <a:buChar char=""/>
            </a:pPr>
            <a:r>
              <a:rPr lang="es-AR" sz="2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AR" sz="24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AR" sz="20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AR" sz="20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AR" sz="20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AR" sz="2000" b="0" strike="noStrike" spc="-1">
                <a:solidFill>
                  <a:srgbClr val="000000"/>
                </a:solidFill>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9"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100" name="PlaceHolder 1"/>
          <p:cNvSpPr>
            <a:spLocks noGrp="1"/>
          </p:cNvSpPr>
          <p:nvPr>
            <p:ph type="sldNum" idx="22"/>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D0F4360F-D548-4FA9-BA8C-646315268D19}"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1"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102" name="Rectangle 11"/>
          <p:cNvSpPr/>
          <p:nvPr/>
        </p:nvSpPr>
        <p:spPr>
          <a:xfrm>
            <a:off x="6092280" y="0"/>
            <a:ext cx="6099120" cy="68572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pic>
        <p:nvPicPr>
          <p:cNvPr id="103" name="Graphic 1"/>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104" name="PlaceHolder 1"/>
          <p:cNvSpPr>
            <a:spLocks noGrp="1"/>
          </p:cNvSpPr>
          <p:nvPr>
            <p:ph type="sldNum" idx="23"/>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2374E3BD-7051-4030-A60F-580446DB650C}"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5"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106" name="PlaceHolder 1"/>
          <p:cNvSpPr>
            <a:spLocks noGrp="1"/>
          </p:cNvSpPr>
          <p:nvPr>
            <p:ph type="sldNum" idx="24"/>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C93D239F-7AEF-4B64-885B-F8635D2A5411}"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7"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108" name="Rectangle 22"/>
          <p:cNvSpPr/>
          <p:nvPr/>
        </p:nvSpPr>
        <p:spPr>
          <a:xfrm>
            <a:off x="0" y="1625760"/>
            <a:ext cx="12191400" cy="52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grpSp>
        <p:nvGrpSpPr>
          <p:cNvPr id="109" name="Group 24"/>
          <p:cNvGrpSpPr/>
          <p:nvPr/>
        </p:nvGrpSpPr>
        <p:grpSpPr>
          <a:xfrm>
            <a:off x="4070880" y="1472760"/>
            <a:ext cx="4060800" cy="5385600"/>
            <a:chOff x="4070880" y="1472760"/>
            <a:chExt cx="4060800" cy="5385600"/>
          </a:xfrm>
        </p:grpSpPr>
        <p:cxnSp>
          <p:nvCxnSpPr>
            <p:cNvPr id="110" name="Straight Connector 25"/>
            <p:cNvCxnSpPr/>
            <p:nvPr/>
          </p:nvCxnSpPr>
          <p:spPr>
            <a:xfrm>
              <a:off x="4070880" y="1472760"/>
              <a:ext cx="720" cy="5385960"/>
            </a:xfrm>
            <a:prstGeom prst="straightConnector1">
              <a:avLst/>
            </a:prstGeom>
            <a:ln w="38100">
              <a:solidFill>
                <a:srgbClr val="FFFFFF"/>
              </a:solidFill>
              <a:round/>
            </a:ln>
          </p:spPr>
        </p:cxnSp>
        <p:cxnSp>
          <p:nvCxnSpPr>
            <p:cNvPr id="111" name="Straight Connector 26"/>
            <p:cNvCxnSpPr/>
            <p:nvPr/>
          </p:nvCxnSpPr>
          <p:spPr>
            <a:xfrm>
              <a:off x="8131320" y="1472760"/>
              <a:ext cx="720" cy="5385960"/>
            </a:xfrm>
            <a:prstGeom prst="straightConnector1">
              <a:avLst/>
            </a:prstGeom>
            <a:ln w="38100">
              <a:solidFill>
                <a:srgbClr val="FFFFFF"/>
              </a:solidFill>
              <a:round/>
            </a:ln>
          </p:spPr>
        </p:cxnSp>
      </p:grpSp>
      <p:sp>
        <p:nvSpPr>
          <p:cNvPr id="112" name="Cross 29"/>
          <p:cNvSpPr/>
          <p:nvPr/>
        </p:nvSpPr>
        <p:spPr>
          <a:xfrm>
            <a:off x="3920040" y="1190880"/>
            <a:ext cx="301680" cy="301680"/>
          </a:xfrm>
          <a:prstGeom prst="plus">
            <a:avLst>
              <a:gd name="adj" fmla="val 40362"/>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113" name="Equal 30"/>
          <p:cNvSpPr/>
          <p:nvPr/>
        </p:nvSpPr>
        <p:spPr>
          <a:xfrm>
            <a:off x="7924320" y="1190520"/>
            <a:ext cx="413640" cy="302400"/>
          </a:xfrm>
          <a:prstGeom prst="mathEqual">
            <a:avLst>
              <a:gd name="adj1" fmla="val 18785"/>
              <a:gd name="adj2" fmla="val 19125"/>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114" name="PlaceHolder 1"/>
          <p:cNvSpPr>
            <a:spLocks noGrp="1"/>
          </p:cNvSpPr>
          <p:nvPr>
            <p:ph type="sldNum" idx="25"/>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C98C6CB8-BC2F-4D8B-961D-BF77B38EFC92}"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5"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116" name="PlaceHolder 1"/>
          <p:cNvSpPr>
            <a:spLocks noGrp="1"/>
          </p:cNvSpPr>
          <p:nvPr>
            <p:ph type="sldNum" idx="26"/>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DF3EA480-2D40-406F-AA89-32F7FDD2F5A5}"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7"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118" name="Text Placeholder 6"/>
          <p:cNvSpPr/>
          <p:nvPr/>
        </p:nvSpPr>
        <p:spPr>
          <a:xfrm>
            <a:off x="5428800" y="2169720"/>
            <a:ext cx="1306080" cy="1306080"/>
          </a:xfrm>
          <a:prstGeom prst="ellipse">
            <a:avLst/>
          </a:prstGeom>
          <a:noFill/>
          <a:ln w="0">
            <a:noFill/>
          </a:ln>
        </p:spPr>
        <p:style>
          <a:lnRef idx="0">
            <a:scrgbClr r="0" g="0" b="0"/>
          </a:lnRef>
          <a:fillRef idx="0">
            <a:scrgbClr r="0" g="0" b="0"/>
          </a:fillRef>
          <a:effectRef idx="0">
            <a:scrgbClr r="0" g="0" b="0"/>
          </a:effectRef>
          <a:fontRef idx="minor"/>
        </p:style>
        <p:txBody>
          <a:bodyPr wrap="none" lIns="0" tIns="45000" rIns="0" bIns="274320" anchor="ctr">
            <a:noAutofit/>
          </a:bodyPr>
          <a:lstStyle/>
          <a:p>
            <a:pPr algn="ctr" defTabSz="914400">
              <a:lnSpc>
                <a:spcPct val="90000"/>
              </a:lnSpc>
              <a:spcBef>
                <a:spcPts val="1001"/>
              </a:spcBef>
              <a:tabLst>
                <a:tab pos="0" algn="l"/>
              </a:tabLst>
            </a:pPr>
            <a:r>
              <a:rPr lang="en-US" sz="4400" b="0" strike="noStrike" spc="46">
                <a:solidFill>
                  <a:schemeClr val="dk1"/>
                </a:solidFill>
                <a:latin typeface="Avenir Next LT Pro"/>
                <a:ea typeface="Avenir Next"/>
              </a:rPr>
              <a:t>XX</a:t>
            </a:r>
            <a:endParaRPr lang="es-AR" sz="4400" b="0" strike="noStrike" spc="-1">
              <a:solidFill>
                <a:srgbClr val="000000"/>
              </a:solidFill>
              <a:latin typeface="Arial"/>
            </a:endParaRPr>
          </a:p>
        </p:txBody>
      </p:sp>
      <p:sp>
        <p:nvSpPr>
          <p:cNvPr id="119" name="Text Placeholder 6"/>
          <p:cNvSpPr/>
          <p:nvPr/>
        </p:nvSpPr>
        <p:spPr>
          <a:xfrm>
            <a:off x="9454680" y="2169720"/>
            <a:ext cx="1306080" cy="1306080"/>
          </a:xfrm>
          <a:prstGeom prst="ellipse">
            <a:avLst/>
          </a:prstGeom>
          <a:noFill/>
          <a:ln w="0">
            <a:noFill/>
          </a:ln>
        </p:spPr>
        <p:style>
          <a:lnRef idx="0">
            <a:scrgbClr r="0" g="0" b="0"/>
          </a:lnRef>
          <a:fillRef idx="0">
            <a:scrgbClr r="0" g="0" b="0"/>
          </a:fillRef>
          <a:effectRef idx="0">
            <a:scrgbClr r="0" g="0" b="0"/>
          </a:effectRef>
          <a:fontRef idx="minor"/>
        </p:style>
        <p:txBody>
          <a:bodyPr wrap="none" lIns="0" tIns="45000" rIns="0" bIns="274320" anchor="ctr">
            <a:noAutofit/>
          </a:bodyPr>
          <a:lstStyle/>
          <a:p>
            <a:pPr algn="ctr" defTabSz="914400">
              <a:lnSpc>
                <a:spcPct val="90000"/>
              </a:lnSpc>
              <a:spcBef>
                <a:spcPts val="1001"/>
              </a:spcBef>
              <a:tabLst>
                <a:tab pos="0" algn="l"/>
              </a:tabLst>
            </a:pPr>
            <a:r>
              <a:rPr lang="en-US" sz="4400" b="0" strike="noStrike" spc="46">
                <a:solidFill>
                  <a:schemeClr val="dk1"/>
                </a:solidFill>
                <a:latin typeface="Avenir Next LT Pro"/>
                <a:ea typeface="Avenir Next"/>
              </a:rPr>
              <a:t>XX</a:t>
            </a:r>
            <a:endParaRPr lang="es-AR" sz="4400" b="0" strike="noStrike" spc="-1">
              <a:solidFill>
                <a:srgbClr val="000000"/>
              </a:solidFill>
              <a:latin typeface="Arial"/>
            </a:endParaRPr>
          </a:p>
        </p:txBody>
      </p:sp>
      <p:grpSp>
        <p:nvGrpSpPr>
          <p:cNvPr id="120" name="Group 22"/>
          <p:cNvGrpSpPr/>
          <p:nvPr/>
        </p:nvGrpSpPr>
        <p:grpSpPr>
          <a:xfrm>
            <a:off x="4063680" y="1967400"/>
            <a:ext cx="4064400" cy="4357440"/>
            <a:chOff x="4063680" y="1967400"/>
            <a:chExt cx="4064400" cy="4357440"/>
          </a:xfrm>
        </p:grpSpPr>
        <p:cxnSp>
          <p:nvCxnSpPr>
            <p:cNvPr id="121" name="Straight Connector 23"/>
            <p:cNvCxnSpPr/>
            <p:nvPr/>
          </p:nvCxnSpPr>
          <p:spPr>
            <a:xfrm>
              <a:off x="4063680" y="1967400"/>
              <a:ext cx="720" cy="4357800"/>
            </a:xfrm>
            <a:prstGeom prst="straightConnector1">
              <a:avLst/>
            </a:prstGeom>
            <a:ln w="0">
              <a:solidFill>
                <a:srgbClr val="B9BCBD"/>
              </a:solidFill>
            </a:ln>
          </p:spPr>
        </p:cxnSp>
        <p:cxnSp>
          <p:nvCxnSpPr>
            <p:cNvPr id="122" name="Straight Connector 24"/>
            <p:cNvCxnSpPr/>
            <p:nvPr/>
          </p:nvCxnSpPr>
          <p:spPr>
            <a:xfrm>
              <a:off x="8127720" y="1967400"/>
              <a:ext cx="720" cy="4357800"/>
            </a:xfrm>
            <a:prstGeom prst="straightConnector1">
              <a:avLst/>
            </a:prstGeom>
            <a:ln w="0">
              <a:solidFill>
                <a:srgbClr val="B9BCBD"/>
              </a:solidFill>
            </a:ln>
          </p:spPr>
        </p:cxnSp>
      </p:grpSp>
      <p:sp>
        <p:nvSpPr>
          <p:cNvPr id="123" name="Text Placeholder 6"/>
          <p:cNvSpPr/>
          <p:nvPr/>
        </p:nvSpPr>
        <p:spPr>
          <a:xfrm>
            <a:off x="1331640" y="2169720"/>
            <a:ext cx="1306080" cy="1306080"/>
          </a:xfrm>
          <a:prstGeom prst="ellipse">
            <a:avLst/>
          </a:prstGeom>
          <a:noFill/>
          <a:ln w="0">
            <a:noFill/>
          </a:ln>
        </p:spPr>
        <p:style>
          <a:lnRef idx="0">
            <a:scrgbClr r="0" g="0" b="0"/>
          </a:lnRef>
          <a:fillRef idx="0">
            <a:scrgbClr r="0" g="0" b="0"/>
          </a:fillRef>
          <a:effectRef idx="0">
            <a:scrgbClr r="0" g="0" b="0"/>
          </a:effectRef>
          <a:fontRef idx="minor"/>
        </p:style>
        <p:txBody>
          <a:bodyPr wrap="none" lIns="0" tIns="45000" rIns="0" bIns="274320" anchor="ctr">
            <a:noAutofit/>
          </a:bodyPr>
          <a:lstStyle/>
          <a:p>
            <a:pPr algn="ctr" defTabSz="914400">
              <a:lnSpc>
                <a:spcPct val="90000"/>
              </a:lnSpc>
              <a:spcBef>
                <a:spcPts val="1001"/>
              </a:spcBef>
              <a:tabLst>
                <a:tab pos="0" algn="l"/>
              </a:tabLst>
            </a:pPr>
            <a:r>
              <a:rPr lang="en-US" sz="4400" b="0" strike="noStrike" spc="46">
                <a:solidFill>
                  <a:schemeClr val="dk1"/>
                </a:solidFill>
                <a:latin typeface="Avenir Next LT Pro"/>
                <a:ea typeface="Avenir Next"/>
              </a:rPr>
              <a:t>XX</a:t>
            </a:r>
            <a:endParaRPr lang="es-AR" sz="4400" b="0" strike="noStrike" spc="-1">
              <a:solidFill>
                <a:srgbClr val="000000"/>
              </a:solidFill>
              <a:latin typeface="Arial"/>
            </a:endParaRPr>
          </a:p>
        </p:txBody>
      </p:sp>
      <p:sp>
        <p:nvSpPr>
          <p:cNvPr id="124" name="PlaceHolder 1"/>
          <p:cNvSpPr>
            <a:spLocks noGrp="1"/>
          </p:cNvSpPr>
          <p:nvPr>
            <p:ph type="sldNum" idx="27"/>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CF5151F1-D5DD-49F8-825A-6FAD3A378147}"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0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5"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126" name="PlaceHolder 1"/>
          <p:cNvSpPr>
            <a:spLocks noGrp="1"/>
          </p:cNvSpPr>
          <p:nvPr>
            <p:ph type="sldNum" idx="28"/>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1FB843DE-3FE3-4700-85ED-6E58E2CD5BE0}"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0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7"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128" name="PlaceHolder 1"/>
          <p:cNvSpPr>
            <a:spLocks noGrp="1"/>
          </p:cNvSpPr>
          <p:nvPr>
            <p:ph type="sldNum" idx="29"/>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A05B8088-0776-467E-814B-A61956B580AD}"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0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9"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130" name="Rectangle 1"/>
          <p:cNvSpPr/>
          <p:nvPr/>
        </p:nvSpPr>
        <p:spPr>
          <a:xfrm>
            <a:off x="0" y="0"/>
            <a:ext cx="12209040" cy="68572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cxnSp>
        <p:nvCxnSpPr>
          <p:cNvPr id="131" name="Straight Connector 6"/>
          <p:cNvCxnSpPr/>
          <p:nvPr/>
        </p:nvCxnSpPr>
        <p:spPr>
          <a:xfrm>
            <a:off x="3047760" y="0"/>
            <a:ext cx="720" cy="6858360"/>
          </a:xfrm>
          <a:prstGeom prst="straightConnector1">
            <a:avLst/>
          </a:prstGeom>
          <a:ln w="47625">
            <a:solidFill>
              <a:srgbClr val="FFFFFF"/>
            </a:solidFill>
            <a:round/>
          </a:ln>
        </p:spPr>
      </p:cxnSp>
      <p:cxnSp>
        <p:nvCxnSpPr>
          <p:cNvPr id="132" name="Straight Connector 7"/>
          <p:cNvCxnSpPr/>
          <p:nvPr/>
        </p:nvCxnSpPr>
        <p:spPr>
          <a:xfrm>
            <a:off x="6095880" y="0"/>
            <a:ext cx="720" cy="6858360"/>
          </a:xfrm>
          <a:prstGeom prst="straightConnector1">
            <a:avLst/>
          </a:prstGeom>
          <a:ln w="47625">
            <a:solidFill>
              <a:srgbClr val="FFFFFF"/>
            </a:solidFill>
            <a:round/>
          </a:ln>
        </p:spPr>
      </p:cxnSp>
      <p:cxnSp>
        <p:nvCxnSpPr>
          <p:cNvPr id="133" name="Straight Connector 8"/>
          <p:cNvCxnSpPr/>
          <p:nvPr/>
        </p:nvCxnSpPr>
        <p:spPr>
          <a:xfrm>
            <a:off x="9144000" y="0"/>
            <a:ext cx="720" cy="6858360"/>
          </a:xfrm>
          <a:prstGeom prst="straightConnector1">
            <a:avLst/>
          </a:prstGeom>
          <a:ln w="47625">
            <a:solidFill>
              <a:srgbClr val="FFFFFF"/>
            </a:solidFill>
            <a:round/>
          </a:ln>
        </p:spPr>
      </p:cxnSp>
      <p:pic>
        <p:nvPicPr>
          <p:cNvPr id="134" name="Graphic 2"/>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135" name="PlaceHolder 1"/>
          <p:cNvSpPr>
            <a:spLocks noGrp="1"/>
          </p:cNvSpPr>
          <p:nvPr>
            <p:ph type="sldNum" idx="30"/>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91AB18E7-5E02-4F3B-8C2A-52E062B8E7AE}"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0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6"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137" name="Rectangle 1"/>
          <p:cNvSpPr/>
          <p:nvPr/>
        </p:nvSpPr>
        <p:spPr>
          <a:xfrm>
            <a:off x="0" y="1018080"/>
            <a:ext cx="12191400" cy="583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138" name="Rounded Rectangle 18"/>
          <p:cNvSpPr/>
          <p:nvPr/>
        </p:nvSpPr>
        <p:spPr>
          <a:xfrm>
            <a:off x="9185400" y="4065840"/>
            <a:ext cx="2797920" cy="2280960"/>
          </a:xfrm>
          <a:prstGeom prst="roundRect">
            <a:avLst>
              <a:gd name="adj" fmla="val 6170"/>
            </a:avLst>
          </a:prstGeom>
          <a:solidFill>
            <a:schemeClr val="bg1"/>
          </a:solidFill>
          <a:ln w="28575">
            <a:noFill/>
          </a:ln>
          <a:effectLst>
            <a:outerShdw blurRad="166680" sx="102000" sy="102000" algn="ctr" rotWithShape="0">
              <a:srgbClr val="000000">
                <a:alpha val="10000"/>
              </a:srgbClr>
            </a:outerShdw>
          </a:effectLst>
        </p:spPr>
        <p:style>
          <a:lnRef idx="0">
            <a:scrgbClr r="0" g="0" b="0"/>
          </a:lnRef>
          <a:fillRef idx="0">
            <a:scrgbClr r="0" g="0" b="0"/>
          </a:fillRef>
          <a:effectRef idx="0">
            <a:scrgbClr r="0" g="0" b="0"/>
          </a:effectRef>
          <a:fontRef idx="minor"/>
        </p:style>
        <p:txBody>
          <a:bodyPr lIns="182880" tIns="45000" rIns="90000" bIns="45000" anchor="ctr">
            <a:noAutofit/>
          </a:bodyPr>
          <a:lstStyle/>
          <a:p>
            <a:pPr defTabSz="914400">
              <a:lnSpc>
                <a:spcPct val="100000"/>
              </a:lnSpc>
              <a:spcBef>
                <a:spcPts val="1001"/>
              </a:spcBef>
              <a:tabLst>
                <a:tab pos="0" algn="l"/>
              </a:tabLst>
            </a:pPr>
            <a:endParaRPr lang="en-US" sz="1900" b="0" strike="noStrike" spc="-1">
              <a:solidFill>
                <a:schemeClr val="dk1"/>
              </a:solidFill>
              <a:latin typeface="Avenir Next LT Pro"/>
            </a:endParaRPr>
          </a:p>
        </p:txBody>
      </p:sp>
      <p:sp>
        <p:nvSpPr>
          <p:cNvPr id="139" name="Rounded Rectangle 19"/>
          <p:cNvSpPr/>
          <p:nvPr/>
        </p:nvSpPr>
        <p:spPr>
          <a:xfrm>
            <a:off x="6273000" y="4065840"/>
            <a:ext cx="2797920" cy="2280960"/>
          </a:xfrm>
          <a:prstGeom prst="roundRect">
            <a:avLst>
              <a:gd name="adj" fmla="val 6170"/>
            </a:avLst>
          </a:prstGeom>
          <a:solidFill>
            <a:schemeClr val="bg1"/>
          </a:solidFill>
          <a:ln w="28575">
            <a:noFill/>
          </a:ln>
          <a:effectLst>
            <a:outerShdw blurRad="166680" sx="102000" sy="102000" algn="ctr" rotWithShape="0">
              <a:srgbClr val="000000">
                <a:alpha val="10000"/>
              </a:srgbClr>
            </a:outerShdw>
          </a:effectLst>
        </p:spPr>
        <p:style>
          <a:lnRef idx="0">
            <a:scrgbClr r="0" g="0" b="0"/>
          </a:lnRef>
          <a:fillRef idx="0">
            <a:scrgbClr r="0" g="0" b="0"/>
          </a:fillRef>
          <a:effectRef idx="0">
            <a:scrgbClr r="0" g="0" b="0"/>
          </a:effectRef>
          <a:fontRef idx="minor"/>
        </p:style>
        <p:txBody>
          <a:bodyPr lIns="182880" tIns="45000" rIns="90000" bIns="45000" anchor="ctr">
            <a:noAutofit/>
          </a:bodyPr>
          <a:lstStyle/>
          <a:p>
            <a:pPr defTabSz="914400">
              <a:lnSpc>
                <a:spcPct val="100000"/>
              </a:lnSpc>
              <a:spcBef>
                <a:spcPts val="1001"/>
              </a:spcBef>
              <a:tabLst>
                <a:tab pos="0" algn="l"/>
              </a:tabLst>
            </a:pPr>
            <a:endParaRPr lang="en-US" sz="1900" b="0" strike="noStrike" spc="-1">
              <a:solidFill>
                <a:schemeClr val="dk1"/>
              </a:solidFill>
              <a:latin typeface="Avenir Next LT Pro"/>
            </a:endParaRPr>
          </a:p>
        </p:txBody>
      </p:sp>
      <p:sp>
        <p:nvSpPr>
          <p:cNvPr id="140" name="Rounded Rectangle 21"/>
          <p:cNvSpPr/>
          <p:nvPr/>
        </p:nvSpPr>
        <p:spPr>
          <a:xfrm>
            <a:off x="3129120" y="4065840"/>
            <a:ext cx="2797920" cy="2280960"/>
          </a:xfrm>
          <a:prstGeom prst="roundRect">
            <a:avLst>
              <a:gd name="adj" fmla="val 6170"/>
            </a:avLst>
          </a:prstGeom>
          <a:solidFill>
            <a:schemeClr val="bg1"/>
          </a:solidFill>
          <a:ln w="28575">
            <a:noFill/>
          </a:ln>
          <a:effectLst>
            <a:outerShdw blurRad="166680" sx="102000" sy="102000" algn="ctr" rotWithShape="0">
              <a:srgbClr val="000000">
                <a:alpha val="10000"/>
              </a:srgbClr>
            </a:outerShdw>
          </a:effectLst>
        </p:spPr>
        <p:style>
          <a:lnRef idx="0">
            <a:scrgbClr r="0" g="0" b="0"/>
          </a:lnRef>
          <a:fillRef idx="0">
            <a:scrgbClr r="0" g="0" b="0"/>
          </a:fillRef>
          <a:effectRef idx="0">
            <a:scrgbClr r="0" g="0" b="0"/>
          </a:effectRef>
          <a:fontRef idx="minor"/>
        </p:style>
        <p:txBody>
          <a:bodyPr lIns="182880" tIns="45000" rIns="90000" bIns="45000" anchor="ctr">
            <a:noAutofit/>
          </a:bodyPr>
          <a:lstStyle/>
          <a:p>
            <a:pPr defTabSz="914400">
              <a:lnSpc>
                <a:spcPct val="100000"/>
              </a:lnSpc>
              <a:spcBef>
                <a:spcPts val="1001"/>
              </a:spcBef>
              <a:tabLst>
                <a:tab pos="0" algn="l"/>
              </a:tabLst>
            </a:pPr>
            <a:endParaRPr lang="en-US" sz="1900" b="0" strike="noStrike" spc="-1">
              <a:solidFill>
                <a:schemeClr val="dk1"/>
              </a:solidFill>
              <a:latin typeface="Avenir Next LT Pro"/>
            </a:endParaRPr>
          </a:p>
        </p:txBody>
      </p:sp>
      <p:sp>
        <p:nvSpPr>
          <p:cNvPr id="141" name="Rounded Rectangle 22"/>
          <p:cNvSpPr/>
          <p:nvPr/>
        </p:nvSpPr>
        <p:spPr>
          <a:xfrm>
            <a:off x="216720" y="4065840"/>
            <a:ext cx="2797920" cy="2280960"/>
          </a:xfrm>
          <a:prstGeom prst="roundRect">
            <a:avLst>
              <a:gd name="adj" fmla="val 6170"/>
            </a:avLst>
          </a:prstGeom>
          <a:solidFill>
            <a:schemeClr val="bg1"/>
          </a:solidFill>
          <a:ln w="28575">
            <a:noFill/>
          </a:ln>
          <a:effectLst>
            <a:outerShdw blurRad="166680" sx="102000" sy="102000" algn="ctr" rotWithShape="0">
              <a:srgbClr val="000000">
                <a:alpha val="10000"/>
              </a:srgbClr>
            </a:outerShdw>
          </a:effectLst>
        </p:spPr>
        <p:style>
          <a:lnRef idx="0">
            <a:scrgbClr r="0" g="0" b="0"/>
          </a:lnRef>
          <a:fillRef idx="0">
            <a:scrgbClr r="0" g="0" b="0"/>
          </a:fillRef>
          <a:effectRef idx="0">
            <a:scrgbClr r="0" g="0" b="0"/>
          </a:effectRef>
          <a:fontRef idx="minor"/>
        </p:style>
        <p:txBody>
          <a:bodyPr lIns="182880" tIns="45000" rIns="90000" bIns="45000" anchor="ctr">
            <a:noAutofit/>
          </a:bodyPr>
          <a:lstStyle/>
          <a:p>
            <a:pPr defTabSz="914400">
              <a:lnSpc>
                <a:spcPct val="100000"/>
              </a:lnSpc>
              <a:spcBef>
                <a:spcPts val="1001"/>
              </a:spcBef>
              <a:tabLst>
                <a:tab pos="0" algn="l"/>
              </a:tabLst>
            </a:pPr>
            <a:endParaRPr lang="en-US" sz="1900" b="0" strike="noStrike" spc="-1">
              <a:solidFill>
                <a:schemeClr val="dk1"/>
              </a:solidFill>
              <a:latin typeface="Avenir Next LT Pro"/>
            </a:endParaRPr>
          </a:p>
        </p:txBody>
      </p:sp>
      <p:sp>
        <p:nvSpPr>
          <p:cNvPr id="142" name="Rounded Rectangle 16"/>
          <p:cNvSpPr/>
          <p:nvPr/>
        </p:nvSpPr>
        <p:spPr>
          <a:xfrm>
            <a:off x="9185400" y="1390680"/>
            <a:ext cx="2797920" cy="2280960"/>
          </a:xfrm>
          <a:prstGeom prst="roundRect">
            <a:avLst>
              <a:gd name="adj" fmla="val 6170"/>
            </a:avLst>
          </a:prstGeom>
          <a:solidFill>
            <a:schemeClr val="bg1"/>
          </a:solidFill>
          <a:ln w="28575">
            <a:noFill/>
          </a:ln>
          <a:effectLst>
            <a:outerShdw blurRad="166680" sx="102000" sy="102000" algn="ctr" rotWithShape="0">
              <a:srgbClr val="000000">
                <a:alpha val="10000"/>
              </a:srgbClr>
            </a:outerShdw>
          </a:effectLst>
        </p:spPr>
        <p:style>
          <a:lnRef idx="0">
            <a:scrgbClr r="0" g="0" b="0"/>
          </a:lnRef>
          <a:fillRef idx="0">
            <a:scrgbClr r="0" g="0" b="0"/>
          </a:fillRef>
          <a:effectRef idx="0">
            <a:scrgbClr r="0" g="0" b="0"/>
          </a:effectRef>
          <a:fontRef idx="minor"/>
        </p:style>
        <p:txBody>
          <a:bodyPr lIns="182880" tIns="45000" rIns="90000" bIns="45000" anchor="ctr">
            <a:noAutofit/>
          </a:bodyPr>
          <a:lstStyle/>
          <a:p>
            <a:pPr defTabSz="914400">
              <a:lnSpc>
                <a:spcPct val="100000"/>
              </a:lnSpc>
              <a:spcBef>
                <a:spcPts val="1001"/>
              </a:spcBef>
              <a:tabLst>
                <a:tab pos="0" algn="l"/>
              </a:tabLst>
            </a:pPr>
            <a:endParaRPr lang="en-US" sz="1900" b="0" strike="noStrike" spc="-1">
              <a:solidFill>
                <a:schemeClr val="dk1"/>
              </a:solidFill>
              <a:latin typeface="Avenir Next LT Pro"/>
            </a:endParaRPr>
          </a:p>
        </p:txBody>
      </p:sp>
      <p:sp>
        <p:nvSpPr>
          <p:cNvPr id="143" name="Rounded Rectangle 17"/>
          <p:cNvSpPr/>
          <p:nvPr/>
        </p:nvSpPr>
        <p:spPr>
          <a:xfrm>
            <a:off x="6273000" y="1390680"/>
            <a:ext cx="2797920" cy="2280960"/>
          </a:xfrm>
          <a:prstGeom prst="roundRect">
            <a:avLst>
              <a:gd name="adj" fmla="val 6170"/>
            </a:avLst>
          </a:prstGeom>
          <a:solidFill>
            <a:schemeClr val="bg1"/>
          </a:solidFill>
          <a:ln w="28575">
            <a:noFill/>
          </a:ln>
          <a:effectLst>
            <a:outerShdw blurRad="166680" sx="102000" sy="102000" algn="ctr" rotWithShape="0">
              <a:srgbClr val="000000">
                <a:alpha val="10000"/>
              </a:srgbClr>
            </a:outerShdw>
          </a:effectLst>
        </p:spPr>
        <p:style>
          <a:lnRef idx="0">
            <a:scrgbClr r="0" g="0" b="0"/>
          </a:lnRef>
          <a:fillRef idx="0">
            <a:scrgbClr r="0" g="0" b="0"/>
          </a:fillRef>
          <a:effectRef idx="0">
            <a:scrgbClr r="0" g="0" b="0"/>
          </a:effectRef>
          <a:fontRef idx="minor"/>
        </p:style>
        <p:txBody>
          <a:bodyPr lIns="182880" tIns="45000" rIns="90000" bIns="45000" anchor="ctr">
            <a:noAutofit/>
          </a:bodyPr>
          <a:lstStyle/>
          <a:p>
            <a:pPr defTabSz="914400">
              <a:lnSpc>
                <a:spcPct val="100000"/>
              </a:lnSpc>
              <a:spcBef>
                <a:spcPts val="1001"/>
              </a:spcBef>
              <a:tabLst>
                <a:tab pos="0" algn="l"/>
              </a:tabLst>
            </a:pPr>
            <a:endParaRPr lang="en-US" sz="1900" b="0" strike="noStrike" spc="-1">
              <a:solidFill>
                <a:schemeClr val="dk1"/>
              </a:solidFill>
              <a:latin typeface="Avenir Next LT Pro"/>
            </a:endParaRPr>
          </a:p>
        </p:txBody>
      </p:sp>
      <p:sp>
        <p:nvSpPr>
          <p:cNvPr id="144" name="Rounded Rectangle 15"/>
          <p:cNvSpPr/>
          <p:nvPr/>
        </p:nvSpPr>
        <p:spPr>
          <a:xfrm>
            <a:off x="3129120" y="1390680"/>
            <a:ext cx="2797920" cy="2280960"/>
          </a:xfrm>
          <a:prstGeom prst="roundRect">
            <a:avLst>
              <a:gd name="adj" fmla="val 6170"/>
            </a:avLst>
          </a:prstGeom>
          <a:solidFill>
            <a:schemeClr val="bg1"/>
          </a:solidFill>
          <a:ln w="28575">
            <a:noFill/>
          </a:ln>
          <a:effectLst>
            <a:outerShdw blurRad="166680" sx="102000" sy="102000" algn="ctr" rotWithShape="0">
              <a:srgbClr val="000000">
                <a:alpha val="10000"/>
              </a:srgbClr>
            </a:outerShdw>
          </a:effectLst>
        </p:spPr>
        <p:style>
          <a:lnRef idx="0">
            <a:scrgbClr r="0" g="0" b="0"/>
          </a:lnRef>
          <a:fillRef idx="0">
            <a:scrgbClr r="0" g="0" b="0"/>
          </a:fillRef>
          <a:effectRef idx="0">
            <a:scrgbClr r="0" g="0" b="0"/>
          </a:effectRef>
          <a:fontRef idx="minor"/>
        </p:style>
        <p:txBody>
          <a:bodyPr lIns="182880" tIns="45000" rIns="90000" bIns="45000" anchor="ctr">
            <a:noAutofit/>
          </a:bodyPr>
          <a:lstStyle/>
          <a:p>
            <a:pPr defTabSz="914400">
              <a:lnSpc>
                <a:spcPct val="100000"/>
              </a:lnSpc>
              <a:spcBef>
                <a:spcPts val="1001"/>
              </a:spcBef>
              <a:tabLst>
                <a:tab pos="0" algn="l"/>
              </a:tabLst>
            </a:pPr>
            <a:endParaRPr lang="en-US" sz="1900" b="0" strike="noStrike" spc="-1">
              <a:solidFill>
                <a:schemeClr val="dk1"/>
              </a:solidFill>
              <a:latin typeface="Avenir Next LT Pro"/>
            </a:endParaRPr>
          </a:p>
        </p:txBody>
      </p:sp>
      <p:sp>
        <p:nvSpPr>
          <p:cNvPr id="145" name="Rounded Rectangle 3"/>
          <p:cNvSpPr/>
          <p:nvPr/>
        </p:nvSpPr>
        <p:spPr>
          <a:xfrm>
            <a:off x="216720" y="1390680"/>
            <a:ext cx="2797920" cy="2280960"/>
          </a:xfrm>
          <a:prstGeom prst="roundRect">
            <a:avLst>
              <a:gd name="adj" fmla="val 6170"/>
            </a:avLst>
          </a:prstGeom>
          <a:solidFill>
            <a:schemeClr val="bg1"/>
          </a:solidFill>
          <a:ln w="28575">
            <a:noFill/>
          </a:ln>
          <a:effectLst>
            <a:outerShdw blurRad="166680" sx="102000" sy="102000" algn="ctr" rotWithShape="0">
              <a:srgbClr val="000000">
                <a:alpha val="10000"/>
              </a:srgbClr>
            </a:outerShdw>
          </a:effectLst>
        </p:spPr>
        <p:style>
          <a:lnRef idx="0">
            <a:scrgbClr r="0" g="0" b="0"/>
          </a:lnRef>
          <a:fillRef idx="0">
            <a:scrgbClr r="0" g="0" b="0"/>
          </a:fillRef>
          <a:effectRef idx="0">
            <a:scrgbClr r="0" g="0" b="0"/>
          </a:effectRef>
          <a:fontRef idx="minor"/>
        </p:style>
        <p:txBody>
          <a:bodyPr lIns="182880" tIns="45000" rIns="90000" bIns="45000" anchor="ctr">
            <a:noAutofit/>
          </a:bodyPr>
          <a:lstStyle/>
          <a:p>
            <a:pPr defTabSz="914400">
              <a:lnSpc>
                <a:spcPct val="100000"/>
              </a:lnSpc>
              <a:spcBef>
                <a:spcPts val="1001"/>
              </a:spcBef>
              <a:tabLst>
                <a:tab pos="0" algn="l"/>
              </a:tabLst>
            </a:pPr>
            <a:endParaRPr lang="en-US" sz="1900" b="0" strike="noStrike" spc="-1">
              <a:solidFill>
                <a:schemeClr val="dk1"/>
              </a:solidFill>
              <a:latin typeface="Avenir Next LT Pro"/>
            </a:endParaRPr>
          </a:p>
        </p:txBody>
      </p:sp>
      <p:sp>
        <p:nvSpPr>
          <p:cNvPr id="146" name="PlaceHolder 1"/>
          <p:cNvSpPr>
            <a:spLocks noGrp="1"/>
          </p:cNvSpPr>
          <p:nvPr>
            <p:ph type="sldNum" idx="31"/>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C39859FC-406E-43FA-863C-8031ECDA480D}"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1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7"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148" name="PlaceHolder 1"/>
          <p:cNvSpPr>
            <a:spLocks noGrp="1"/>
          </p:cNvSpPr>
          <p:nvPr>
            <p:ph type="sldNum" idx="32"/>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1A8DE814-570B-44E9-98D4-B686C078D674}"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
        <p:nvSpPr>
          <p:cNvPr id="149"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s-AR" sz="4400" b="0" strike="noStrike" spc="-1">
                <a:solidFill>
                  <a:srgbClr val="000000"/>
                </a:solidFill>
                <a:latin typeface="Arial"/>
              </a:rPr>
              <a:t>Pulse para editar el formato del texto de título</a:t>
            </a:r>
          </a:p>
        </p:txBody>
      </p:sp>
      <p:sp>
        <p:nvSpPr>
          <p:cNvPr id="150"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AR" sz="3200" b="0" strike="noStrike" spc="-1">
                <a:solidFill>
                  <a:srgbClr val="000000"/>
                </a:solidFill>
                <a:latin typeface="Arial"/>
              </a:rPr>
              <a:t>Pulse para editar el formato de texto del esquema</a:t>
            </a:r>
          </a:p>
          <a:p>
            <a:pPr marL="864000" lvl="1" indent="-324000">
              <a:spcBef>
                <a:spcPts val="1134"/>
              </a:spcBef>
              <a:buClr>
                <a:srgbClr val="000000"/>
              </a:buClr>
              <a:buSzPct val="75000"/>
              <a:buFont typeface="Symbol" charset="2"/>
              <a:buChar char=""/>
            </a:pPr>
            <a:r>
              <a:rPr lang="es-AR" sz="2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AR" sz="24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AR" sz="20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AR" sz="20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AR" sz="20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AR" sz="2000" b="0" strike="noStrike" spc="-1">
                <a:solidFill>
                  <a:srgbClr val="000000"/>
                </a:solidFill>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71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1"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152" name="PlaceHolder 1"/>
          <p:cNvSpPr>
            <a:spLocks noGrp="1"/>
          </p:cNvSpPr>
          <p:nvPr>
            <p:ph type="sldNum" idx="33"/>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02550630-F453-48F1-9B58-1A4EA7C1ED75}"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1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3"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154" name="PlaceHolder 1"/>
          <p:cNvSpPr>
            <a:spLocks noGrp="1"/>
          </p:cNvSpPr>
          <p:nvPr>
            <p:ph type="sldNum" idx="34"/>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0731EFB7-C4DA-4E8F-A670-6707F28D3F49}"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1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5"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156" name="Rectangle 11"/>
          <p:cNvSpPr/>
          <p:nvPr/>
        </p:nvSpPr>
        <p:spPr>
          <a:xfrm>
            <a:off x="0" y="1816920"/>
            <a:ext cx="12191400" cy="50403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157" name="PlaceHolder 1"/>
          <p:cNvSpPr>
            <a:spLocks noGrp="1"/>
          </p:cNvSpPr>
          <p:nvPr>
            <p:ph type="sldNum" idx="35"/>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28F8C079-09DC-45C1-86C8-AAA312DD1C45}"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1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8"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grpSp>
        <p:nvGrpSpPr>
          <p:cNvPr id="159" name="Group 2"/>
          <p:cNvGrpSpPr/>
          <p:nvPr/>
        </p:nvGrpSpPr>
        <p:grpSpPr>
          <a:xfrm>
            <a:off x="198000" y="1765080"/>
            <a:ext cx="11795400" cy="4345200"/>
            <a:chOff x="198000" y="1765080"/>
            <a:chExt cx="11795400" cy="4345200"/>
          </a:xfrm>
        </p:grpSpPr>
        <p:sp>
          <p:nvSpPr>
            <p:cNvPr id="160" name="Rounded Rectangle 3"/>
            <p:cNvSpPr/>
            <p:nvPr/>
          </p:nvSpPr>
          <p:spPr>
            <a:xfrm>
              <a:off x="8159040" y="1765080"/>
              <a:ext cx="3834360" cy="434520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161" name="Rounded Rectangle 5"/>
            <p:cNvSpPr/>
            <p:nvPr/>
          </p:nvSpPr>
          <p:spPr>
            <a:xfrm>
              <a:off x="4178520" y="1765080"/>
              <a:ext cx="3834360" cy="434520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162" name="Rounded Rectangle 7"/>
            <p:cNvSpPr/>
            <p:nvPr/>
          </p:nvSpPr>
          <p:spPr>
            <a:xfrm>
              <a:off x="198000" y="1765080"/>
              <a:ext cx="3834360" cy="434520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grpSp>
      <p:sp>
        <p:nvSpPr>
          <p:cNvPr id="163" name="PlaceHolder 1"/>
          <p:cNvSpPr>
            <a:spLocks noGrp="1"/>
          </p:cNvSpPr>
          <p:nvPr>
            <p:ph type="sldNum" idx="36"/>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E4FAF787-41F1-4C58-BF12-7BA694E61773}"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2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4"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165" name="Rounded Rectangle 1"/>
          <p:cNvSpPr/>
          <p:nvPr/>
        </p:nvSpPr>
        <p:spPr>
          <a:xfrm>
            <a:off x="374760" y="953280"/>
            <a:ext cx="5652000" cy="263052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166" name="Rounded Rectangle 2"/>
          <p:cNvSpPr/>
          <p:nvPr/>
        </p:nvSpPr>
        <p:spPr>
          <a:xfrm>
            <a:off x="6189480" y="953280"/>
            <a:ext cx="5652000" cy="263052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grpSp>
        <p:nvGrpSpPr>
          <p:cNvPr id="167" name="Group 13"/>
          <p:cNvGrpSpPr/>
          <p:nvPr/>
        </p:nvGrpSpPr>
        <p:grpSpPr>
          <a:xfrm>
            <a:off x="374760" y="3705840"/>
            <a:ext cx="11466720" cy="2630520"/>
            <a:chOff x="374760" y="3705840"/>
            <a:chExt cx="11466720" cy="2630520"/>
          </a:xfrm>
        </p:grpSpPr>
        <p:sp>
          <p:nvSpPr>
            <p:cNvPr id="168" name="Rounded Rectangle 5"/>
            <p:cNvSpPr/>
            <p:nvPr/>
          </p:nvSpPr>
          <p:spPr>
            <a:xfrm>
              <a:off x="374760" y="3705840"/>
              <a:ext cx="5652000" cy="263052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169" name="Rounded Rectangle 7"/>
            <p:cNvSpPr/>
            <p:nvPr/>
          </p:nvSpPr>
          <p:spPr>
            <a:xfrm>
              <a:off x="6189480" y="3705840"/>
              <a:ext cx="5652000" cy="263052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grpSp>
      <p:sp>
        <p:nvSpPr>
          <p:cNvPr id="170" name="PlaceHolder 1"/>
          <p:cNvSpPr>
            <a:spLocks noGrp="1"/>
          </p:cNvSpPr>
          <p:nvPr>
            <p:ph type="sldNum" idx="37"/>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AC7F973F-F881-4740-BD60-8782F659343D}"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2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71"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grpSp>
        <p:nvGrpSpPr>
          <p:cNvPr id="172" name="Group 1"/>
          <p:cNvGrpSpPr/>
          <p:nvPr/>
        </p:nvGrpSpPr>
        <p:grpSpPr>
          <a:xfrm>
            <a:off x="349920" y="956520"/>
            <a:ext cx="11491560" cy="5379840"/>
            <a:chOff x="349920" y="956520"/>
            <a:chExt cx="11491560" cy="5379840"/>
          </a:xfrm>
        </p:grpSpPr>
        <p:sp>
          <p:nvSpPr>
            <p:cNvPr id="173" name="Rounded Rectangle 9"/>
            <p:cNvSpPr/>
            <p:nvPr/>
          </p:nvSpPr>
          <p:spPr>
            <a:xfrm>
              <a:off x="4237560" y="956520"/>
              <a:ext cx="3715920" cy="261540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174" name="Rounded Rectangle 12"/>
            <p:cNvSpPr/>
            <p:nvPr/>
          </p:nvSpPr>
          <p:spPr>
            <a:xfrm>
              <a:off x="8125560" y="956520"/>
              <a:ext cx="3715920" cy="261540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175" name="Rounded Rectangle 13"/>
            <p:cNvSpPr/>
            <p:nvPr/>
          </p:nvSpPr>
          <p:spPr>
            <a:xfrm>
              <a:off x="4237560" y="3720960"/>
              <a:ext cx="3715920" cy="261540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176" name="Rounded Rectangle 15"/>
            <p:cNvSpPr/>
            <p:nvPr/>
          </p:nvSpPr>
          <p:spPr>
            <a:xfrm>
              <a:off x="8125560" y="3720960"/>
              <a:ext cx="3715920" cy="261540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177" name="Rounded Rectangle 16"/>
            <p:cNvSpPr/>
            <p:nvPr/>
          </p:nvSpPr>
          <p:spPr>
            <a:xfrm>
              <a:off x="349920" y="956520"/>
              <a:ext cx="3715920" cy="261540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178" name="Rounded Rectangle 17"/>
            <p:cNvSpPr/>
            <p:nvPr/>
          </p:nvSpPr>
          <p:spPr>
            <a:xfrm>
              <a:off x="349920" y="3720960"/>
              <a:ext cx="3715920" cy="261540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grpSp>
      <p:sp>
        <p:nvSpPr>
          <p:cNvPr id="179" name="PlaceHolder 1"/>
          <p:cNvSpPr>
            <a:spLocks noGrp="1"/>
          </p:cNvSpPr>
          <p:nvPr>
            <p:ph type="sldNum" idx="38"/>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DA2E92B6-F4F8-4B1A-A54A-5B0F198EEFE8}"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2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80"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181" name="Rectangle 7"/>
          <p:cNvSpPr/>
          <p:nvPr/>
        </p:nvSpPr>
        <p:spPr>
          <a:xfrm>
            <a:off x="11361240" y="100080"/>
            <a:ext cx="581760" cy="600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grpSp>
        <p:nvGrpSpPr>
          <p:cNvPr id="182" name="Group 2"/>
          <p:cNvGrpSpPr/>
          <p:nvPr/>
        </p:nvGrpSpPr>
        <p:grpSpPr>
          <a:xfrm>
            <a:off x="223560" y="953280"/>
            <a:ext cx="5803560" cy="5383080"/>
            <a:chOff x="223560" y="953280"/>
            <a:chExt cx="5803560" cy="5383080"/>
          </a:xfrm>
        </p:grpSpPr>
        <p:sp>
          <p:nvSpPr>
            <p:cNvPr id="183" name="Rounded Rectangle 8"/>
            <p:cNvSpPr/>
            <p:nvPr/>
          </p:nvSpPr>
          <p:spPr>
            <a:xfrm>
              <a:off x="223560" y="953280"/>
              <a:ext cx="5803560" cy="263052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184" name="Rounded Rectangle 11"/>
            <p:cNvSpPr/>
            <p:nvPr/>
          </p:nvSpPr>
          <p:spPr>
            <a:xfrm>
              <a:off x="223560" y="3705840"/>
              <a:ext cx="5803560" cy="263052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grpSp>
      <p:grpSp>
        <p:nvGrpSpPr>
          <p:cNvPr id="185" name="Group 12"/>
          <p:cNvGrpSpPr/>
          <p:nvPr/>
        </p:nvGrpSpPr>
        <p:grpSpPr>
          <a:xfrm>
            <a:off x="6189480" y="159480"/>
            <a:ext cx="5778360" cy="6176880"/>
            <a:chOff x="6189480" y="159480"/>
            <a:chExt cx="5778360" cy="6176880"/>
          </a:xfrm>
        </p:grpSpPr>
        <p:sp>
          <p:nvSpPr>
            <p:cNvPr id="186" name="Rounded Rectangle 13"/>
            <p:cNvSpPr/>
            <p:nvPr/>
          </p:nvSpPr>
          <p:spPr>
            <a:xfrm>
              <a:off x="6189480" y="159480"/>
              <a:ext cx="5778360" cy="199008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187" name="Rounded Rectangle 15"/>
            <p:cNvSpPr/>
            <p:nvPr/>
          </p:nvSpPr>
          <p:spPr>
            <a:xfrm>
              <a:off x="6189480" y="2252880"/>
              <a:ext cx="5778360" cy="199008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188" name="Rounded Rectangle 16"/>
            <p:cNvSpPr/>
            <p:nvPr/>
          </p:nvSpPr>
          <p:spPr>
            <a:xfrm>
              <a:off x="6189480" y="4346280"/>
              <a:ext cx="5778360" cy="199008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grpSp>
      <p:pic>
        <p:nvPicPr>
          <p:cNvPr id="189" name="Graphic 9"/>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190" name="PlaceHolder 1"/>
          <p:cNvSpPr>
            <a:spLocks noGrp="1"/>
          </p:cNvSpPr>
          <p:nvPr>
            <p:ph type="ftr" idx="39"/>
          </p:nvPr>
        </p:nvSpPr>
        <p:spPr>
          <a:xfrm>
            <a:off x="8132040" y="292680"/>
            <a:ext cx="3709800" cy="198000"/>
          </a:xfrm>
          <a:prstGeom prst="rect">
            <a:avLst/>
          </a:prstGeom>
          <a:noFill/>
          <a:ln w="0">
            <a:noFill/>
          </a:ln>
        </p:spPr>
        <p:txBody>
          <a:bodyPr lIns="91440" tIns="45720" rIns="0" bIns="45720" anchor="ctr">
            <a:noAutofit/>
          </a:bodyPr>
          <a:lstStyle>
            <a:lvl1pPr indent="0" algn="ctr">
              <a:lnSpc>
                <a:spcPct val="100000"/>
              </a:lnSpc>
              <a:buNone/>
              <a:tabLst>
                <a:tab pos="0" algn="l"/>
              </a:tabLst>
              <a:defRPr lang="es-AR" sz="1400" b="0" strike="noStrike" spc="-1">
                <a:solidFill>
                  <a:srgbClr val="000000"/>
                </a:solidFill>
                <a:latin typeface="Times New Roman"/>
              </a:defRPr>
            </a:lvl1pPr>
          </a:lstStyle>
          <a:p>
            <a:pPr indent="0" algn="ctr">
              <a:lnSpc>
                <a:spcPct val="100000"/>
              </a:lnSpc>
              <a:buNone/>
              <a:tabLst>
                <a:tab pos="0" algn="l"/>
              </a:tabLst>
            </a:pPr>
            <a:r>
              <a:rPr lang="es-AR" sz="1400" b="0" strike="noStrike" spc="-1">
                <a:solidFill>
                  <a:srgbClr val="000000"/>
                </a:solidFill>
                <a:latin typeface="Times New Roman"/>
              </a:rPr>
              <a:t>&lt;pie de página&gt;</a:t>
            </a:r>
          </a:p>
        </p:txBody>
      </p:sp>
      <p:sp>
        <p:nvSpPr>
          <p:cNvPr id="191" name="PlaceHolder 2"/>
          <p:cNvSpPr>
            <a:spLocks noGrp="1"/>
          </p:cNvSpPr>
          <p:nvPr>
            <p:ph type="sldNum" idx="40"/>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AD1A5B1D-6FEA-4DA8-A31D-49E547D443EC}"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2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2"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grpSp>
        <p:nvGrpSpPr>
          <p:cNvPr id="193" name="Group 17"/>
          <p:cNvGrpSpPr/>
          <p:nvPr/>
        </p:nvGrpSpPr>
        <p:grpSpPr>
          <a:xfrm>
            <a:off x="374760" y="3702960"/>
            <a:ext cx="11466720" cy="2633400"/>
            <a:chOff x="374760" y="3702960"/>
            <a:chExt cx="11466720" cy="2633400"/>
          </a:xfrm>
        </p:grpSpPr>
        <p:sp>
          <p:nvSpPr>
            <p:cNvPr id="194" name="Rounded Rectangle 1"/>
            <p:cNvSpPr/>
            <p:nvPr/>
          </p:nvSpPr>
          <p:spPr>
            <a:xfrm>
              <a:off x="4254480" y="3702960"/>
              <a:ext cx="3707640" cy="263340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195" name="Rounded Rectangle 7"/>
            <p:cNvSpPr/>
            <p:nvPr/>
          </p:nvSpPr>
          <p:spPr>
            <a:xfrm>
              <a:off x="8133840" y="3702960"/>
              <a:ext cx="3707640" cy="263340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196" name="Rounded Rectangle 14"/>
            <p:cNvSpPr/>
            <p:nvPr/>
          </p:nvSpPr>
          <p:spPr>
            <a:xfrm>
              <a:off x="374760" y="3702960"/>
              <a:ext cx="3707640" cy="263340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grpSp>
      <p:sp>
        <p:nvSpPr>
          <p:cNvPr id="197" name="Rounded Rectangle 8"/>
          <p:cNvSpPr/>
          <p:nvPr/>
        </p:nvSpPr>
        <p:spPr>
          <a:xfrm>
            <a:off x="374760" y="953280"/>
            <a:ext cx="5652000" cy="263052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198" name="Rounded Rectangle 11"/>
          <p:cNvSpPr/>
          <p:nvPr/>
        </p:nvSpPr>
        <p:spPr>
          <a:xfrm>
            <a:off x="6189480" y="953280"/>
            <a:ext cx="5652000" cy="2630520"/>
          </a:xfrm>
          <a:prstGeom prst="roundRect">
            <a:avLst>
              <a:gd name="adj" fmla="val 4811"/>
            </a:avLst>
          </a:prstGeom>
          <a:solidFill>
            <a:schemeClr val="bg1"/>
          </a:solidFill>
          <a:ln>
            <a:noFill/>
          </a:ln>
          <a:effectLst>
            <a:outerShdw blurRad="38088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199" name="PlaceHolder 1"/>
          <p:cNvSpPr>
            <a:spLocks noGrp="1"/>
          </p:cNvSpPr>
          <p:nvPr>
            <p:ph type="sldNum" idx="41"/>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87F2B0D8-F724-4298-B66D-79D102F985BB}"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2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0"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201" name="Rectangle 11"/>
          <p:cNvSpPr/>
          <p:nvPr/>
        </p:nvSpPr>
        <p:spPr>
          <a:xfrm>
            <a:off x="4061160" y="0"/>
            <a:ext cx="8129880" cy="68572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accent1"/>
              </a:solidFill>
              <a:latin typeface="Avenir Next LT Pro"/>
            </a:endParaRPr>
          </a:p>
        </p:txBody>
      </p:sp>
      <p:pic>
        <p:nvPicPr>
          <p:cNvPr id="202" name="Graphic 1"/>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203" name="Slide Number Placeholder 5"/>
          <p:cNvSpPr/>
          <p:nvPr/>
        </p:nvSpPr>
        <p:spPr>
          <a:xfrm>
            <a:off x="11521440" y="6486120"/>
            <a:ext cx="320040" cy="364320"/>
          </a:xfrm>
          <a:prstGeom prst="rect">
            <a:avLst/>
          </a:prstGeom>
          <a:noFill/>
          <a:ln w="0">
            <a:noFill/>
          </a:ln>
        </p:spPr>
        <p:style>
          <a:lnRef idx="0">
            <a:scrgbClr r="0" g="0" b="0"/>
          </a:lnRef>
          <a:fillRef idx="0">
            <a:scrgbClr r="0" g="0" b="0"/>
          </a:fillRef>
          <a:effectRef idx="0">
            <a:scrgbClr r="0" g="0" b="0"/>
          </a:effectRef>
          <a:fontRef idx="minor"/>
        </p:style>
        <p:txBody>
          <a:bodyPr lIns="0" tIns="45000" rIns="0" bIns="45000" anchor="t">
            <a:noAutofit/>
          </a:bodyPr>
          <a:lstStyle/>
          <a:p>
            <a:pPr algn="r" defTabSz="914400">
              <a:lnSpc>
                <a:spcPct val="100000"/>
              </a:lnSpc>
            </a:pPr>
            <a:fld id="{65820F44-6FEB-4264-B393-54D6969697F9}" type="slidenum">
              <a:rPr lang="en-US" sz="800" b="0" strike="noStrike" spc="-1">
                <a:solidFill>
                  <a:schemeClr val="dk1"/>
                </a:solidFill>
                <a:latin typeface="Avenir Next LT Pro"/>
                <a:ea typeface="Avenir Next"/>
              </a:rPr>
              <a:t>‹#›</a:t>
            </a:fld>
            <a:endParaRPr lang="es-AR" sz="8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73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4"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205" name="Rectangle 11"/>
          <p:cNvSpPr/>
          <p:nvPr/>
        </p:nvSpPr>
        <p:spPr>
          <a:xfrm flipH="1">
            <a:off x="-720" y="0"/>
            <a:ext cx="4060440" cy="68572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accent1"/>
              </a:solidFill>
              <a:latin typeface="Avenir Next LT Pro"/>
            </a:endParaRPr>
          </a:p>
        </p:txBody>
      </p:sp>
      <p:sp>
        <p:nvSpPr>
          <p:cNvPr id="206" name="PlaceHolder 1"/>
          <p:cNvSpPr>
            <a:spLocks noGrp="1"/>
          </p:cNvSpPr>
          <p:nvPr>
            <p:ph type="sldNum" idx="42"/>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2C0342A2-4913-49AD-BFCF-716CE4071BA2}"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3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7"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208" name="Rectangle 10"/>
          <p:cNvSpPr/>
          <p:nvPr/>
        </p:nvSpPr>
        <p:spPr>
          <a:xfrm>
            <a:off x="0" y="0"/>
            <a:ext cx="8133840" cy="68572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sp>
        <p:nvSpPr>
          <p:cNvPr id="209" name="PlaceHolder 1"/>
          <p:cNvSpPr>
            <a:spLocks noGrp="1"/>
          </p:cNvSpPr>
          <p:nvPr>
            <p:ph type="sldNum" idx="43"/>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095E058E-286D-4085-B3E5-FEA7F613D193}"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3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0"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211" name="Rectangle 11"/>
          <p:cNvSpPr/>
          <p:nvPr/>
        </p:nvSpPr>
        <p:spPr>
          <a:xfrm>
            <a:off x="0" y="1816920"/>
            <a:ext cx="12191400" cy="50403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a:endParaRPr>
          </a:p>
        </p:txBody>
      </p:sp>
      <p:cxnSp>
        <p:nvCxnSpPr>
          <p:cNvPr id="212" name="Straight Connector 12"/>
          <p:cNvCxnSpPr/>
          <p:nvPr/>
        </p:nvCxnSpPr>
        <p:spPr>
          <a:xfrm>
            <a:off x="4288680" y="1816920"/>
            <a:ext cx="720" cy="5041800"/>
          </a:xfrm>
          <a:prstGeom prst="straightConnector1">
            <a:avLst/>
          </a:prstGeom>
          <a:ln w="38100">
            <a:solidFill>
              <a:srgbClr val="FFFFFF"/>
            </a:solidFill>
            <a:round/>
          </a:ln>
        </p:spPr>
      </p:cxnSp>
      <p:cxnSp>
        <p:nvCxnSpPr>
          <p:cNvPr id="213" name="Straight Connector 13"/>
          <p:cNvCxnSpPr/>
          <p:nvPr/>
        </p:nvCxnSpPr>
        <p:spPr>
          <a:xfrm>
            <a:off x="2144160" y="1816920"/>
            <a:ext cx="720" cy="5041800"/>
          </a:xfrm>
          <a:prstGeom prst="straightConnector1">
            <a:avLst/>
          </a:prstGeom>
          <a:ln w="38100">
            <a:solidFill>
              <a:srgbClr val="FFFFFF"/>
            </a:solidFill>
            <a:round/>
          </a:ln>
        </p:spPr>
      </p:cxnSp>
      <p:cxnSp>
        <p:nvCxnSpPr>
          <p:cNvPr id="214" name="Straight Connector 14"/>
          <p:cNvCxnSpPr/>
          <p:nvPr/>
        </p:nvCxnSpPr>
        <p:spPr>
          <a:xfrm>
            <a:off x="8240400" y="1816920"/>
            <a:ext cx="720" cy="5041800"/>
          </a:xfrm>
          <a:prstGeom prst="straightConnector1">
            <a:avLst/>
          </a:prstGeom>
          <a:ln w="38100">
            <a:solidFill>
              <a:srgbClr val="FFFFFF"/>
            </a:solidFill>
            <a:round/>
          </a:ln>
        </p:spPr>
      </p:cxnSp>
      <p:sp>
        <p:nvSpPr>
          <p:cNvPr id="215" name="PlaceHolder 1"/>
          <p:cNvSpPr>
            <a:spLocks noGrp="1"/>
          </p:cNvSpPr>
          <p:nvPr>
            <p:ph type="sldNum" idx="44"/>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67BF2972-6733-47AE-B4B7-1830E95FA779}"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3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6"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217" name="Rectangle 80"/>
          <p:cNvSpPr/>
          <p:nvPr/>
        </p:nvSpPr>
        <p:spPr>
          <a:xfrm>
            <a:off x="0" y="2257200"/>
            <a:ext cx="12191400" cy="4600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grpSp>
        <p:nvGrpSpPr>
          <p:cNvPr id="218" name="Group 81"/>
          <p:cNvGrpSpPr/>
          <p:nvPr/>
        </p:nvGrpSpPr>
        <p:grpSpPr>
          <a:xfrm>
            <a:off x="2438280" y="2389680"/>
            <a:ext cx="7315560" cy="2207160"/>
            <a:chOff x="2438280" y="2389680"/>
            <a:chExt cx="7315560" cy="2207160"/>
          </a:xfrm>
        </p:grpSpPr>
        <p:cxnSp>
          <p:nvCxnSpPr>
            <p:cNvPr id="219" name="Straight Connector 82"/>
            <p:cNvCxnSpPr/>
            <p:nvPr/>
          </p:nvCxnSpPr>
          <p:spPr>
            <a:xfrm>
              <a:off x="2438280" y="2389680"/>
              <a:ext cx="720" cy="2207520"/>
            </a:xfrm>
            <a:prstGeom prst="straightConnector1">
              <a:avLst/>
            </a:prstGeom>
            <a:ln w="38100">
              <a:solidFill>
                <a:srgbClr val="FFFFFF"/>
              </a:solidFill>
              <a:round/>
            </a:ln>
          </p:spPr>
        </p:cxnSp>
        <p:cxnSp>
          <p:nvCxnSpPr>
            <p:cNvPr id="220" name="Straight Connector 83"/>
            <p:cNvCxnSpPr/>
            <p:nvPr/>
          </p:nvCxnSpPr>
          <p:spPr>
            <a:xfrm>
              <a:off x="4876560" y="2389680"/>
              <a:ext cx="720" cy="2207520"/>
            </a:xfrm>
            <a:prstGeom prst="straightConnector1">
              <a:avLst/>
            </a:prstGeom>
            <a:ln w="38100">
              <a:solidFill>
                <a:srgbClr val="FFFFFF"/>
              </a:solidFill>
              <a:round/>
            </a:ln>
          </p:spPr>
        </p:cxnSp>
        <p:cxnSp>
          <p:nvCxnSpPr>
            <p:cNvPr id="221" name="Straight Connector 84"/>
            <p:cNvCxnSpPr/>
            <p:nvPr/>
          </p:nvCxnSpPr>
          <p:spPr>
            <a:xfrm>
              <a:off x="7315200" y="2389680"/>
              <a:ext cx="720" cy="2207520"/>
            </a:xfrm>
            <a:prstGeom prst="straightConnector1">
              <a:avLst/>
            </a:prstGeom>
            <a:ln w="38100">
              <a:solidFill>
                <a:srgbClr val="FFFFFF"/>
              </a:solidFill>
              <a:round/>
            </a:ln>
          </p:spPr>
        </p:cxnSp>
        <p:cxnSp>
          <p:nvCxnSpPr>
            <p:cNvPr id="222" name="Straight Connector 85"/>
            <p:cNvCxnSpPr/>
            <p:nvPr/>
          </p:nvCxnSpPr>
          <p:spPr>
            <a:xfrm>
              <a:off x="9753480" y="2389680"/>
              <a:ext cx="720" cy="2207520"/>
            </a:xfrm>
            <a:prstGeom prst="straightConnector1">
              <a:avLst/>
            </a:prstGeom>
            <a:ln w="38100">
              <a:solidFill>
                <a:srgbClr val="FFFFFF"/>
              </a:solidFill>
              <a:round/>
            </a:ln>
          </p:spPr>
        </p:cxnSp>
      </p:grpSp>
      <p:cxnSp>
        <p:nvCxnSpPr>
          <p:cNvPr id="223" name="Straight Connector 86"/>
          <p:cNvCxnSpPr/>
          <p:nvPr/>
        </p:nvCxnSpPr>
        <p:spPr>
          <a:xfrm>
            <a:off x="372960" y="4735800"/>
            <a:ext cx="11340360" cy="720"/>
          </a:xfrm>
          <a:prstGeom prst="straightConnector1">
            <a:avLst/>
          </a:prstGeom>
          <a:ln w="12700">
            <a:solidFill>
              <a:srgbClr val="00095B"/>
            </a:solidFill>
            <a:prstDash val="sysDot"/>
            <a:round/>
          </a:ln>
        </p:spPr>
      </p:cxnSp>
      <p:grpSp>
        <p:nvGrpSpPr>
          <p:cNvPr id="224" name="Group 87"/>
          <p:cNvGrpSpPr/>
          <p:nvPr/>
        </p:nvGrpSpPr>
        <p:grpSpPr>
          <a:xfrm>
            <a:off x="2438280" y="4936680"/>
            <a:ext cx="7315560" cy="1705680"/>
            <a:chOff x="2438280" y="4936680"/>
            <a:chExt cx="7315560" cy="1705680"/>
          </a:xfrm>
        </p:grpSpPr>
        <p:cxnSp>
          <p:nvCxnSpPr>
            <p:cNvPr id="225" name="Straight Connector 88"/>
            <p:cNvCxnSpPr/>
            <p:nvPr/>
          </p:nvCxnSpPr>
          <p:spPr>
            <a:xfrm>
              <a:off x="2438280" y="4936680"/>
              <a:ext cx="720" cy="1706040"/>
            </a:xfrm>
            <a:prstGeom prst="straightConnector1">
              <a:avLst/>
            </a:prstGeom>
            <a:ln w="38100">
              <a:solidFill>
                <a:srgbClr val="FFFFFF"/>
              </a:solidFill>
              <a:round/>
            </a:ln>
          </p:spPr>
        </p:cxnSp>
        <p:cxnSp>
          <p:nvCxnSpPr>
            <p:cNvPr id="226" name="Straight Connector 89"/>
            <p:cNvCxnSpPr/>
            <p:nvPr/>
          </p:nvCxnSpPr>
          <p:spPr>
            <a:xfrm>
              <a:off x="4876560" y="4936680"/>
              <a:ext cx="720" cy="1706040"/>
            </a:xfrm>
            <a:prstGeom prst="straightConnector1">
              <a:avLst/>
            </a:prstGeom>
            <a:ln w="38100">
              <a:solidFill>
                <a:srgbClr val="FFFFFF"/>
              </a:solidFill>
              <a:round/>
            </a:ln>
          </p:spPr>
        </p:cxnSp>
        <p:cxnSp>
          <p:nvCxnSpPr>
            <p:cNvPr id="227" name="Straight Connector 90"/>
            <p:cNvCxnSpPr/>
            <p:nvPr/>
          </p:nvCxnSpPr>
          <p:spPr>
            <a:xfrm>
              <a:off x="7315200" y="4936680"/>
              <a:ext cx="720" cy="1706040"/>
            </a:xfrm>
            <a:prstGeom prst="straightConnector1">
              <a:avLst/>
            </a:prstGeom>
            <a:ln w="38100">
              <a:solidFill>
                <a:srgbClr val="FFFFFF"/>
              </a:solidFill>
              <a:round/>
            </a:ln>
          </p:spPr>
        </p:cxnSp>
        <p:cxnSp>
          <p:nvCxnSpPr>
            <p:cNvPr id="228" name="Straight Connector 91"/>
            <p:cNvCxnSpPr/>
            <p:nvPr/>
          </p:nvCxnSpPr>
          <p:spPr>
            <a:xfrm>
              <a:off x="9753480" y="4936680"/>
              <a:ext cx="720" cy="1706040"/>
            </a:xfrm>
            <a:prstGeom prst="straightConnector1">
              <a:avLst/>
            </a:prstGeom>
            <a:ln w="38100">
              <a:solidFill>
                <a:srgbClr val="FFFFFF"/>
              </a:solidFill>
              <a:round/>
            </a:ln>
          </p:spPr>
        </p:cxnSp>
      </p:grpSp>
      <p:sp>
        <p:nvSpPr>
          <p:cNvPr id="229" name="PlaceHolder 1"/>
          <p:cNvSpPr>
            <a:spLocks noGrp="1"/>
          </p:cNvSpPr>
          <p:nvPr>
            <p:ph type="sldNum" idx="45"/>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A97D0280-1A76-46F6-8CA0-9DAAC8A7A153}"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3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30"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231" name="PlaceHolder 1"/>
          <p:cNvSpPr>
            <a:spLocks noGrp="1"/>
          </p:cNvSpPr>
          <p:nvPr>
            <p:ph type="sldNum" idx="46"/>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3A6B1D0B-0865-42B7-B259-8B3E23B52CD9}"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4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32"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pic>
        <p:nvPicPr>
          <p:cNvPr id="233" name="Picture 1"/>
          <p:cNvPicPr/>
          <p:nvPr/>
        </p:nvPicPr>
        <p:blipFill>
          <a:blip r:embed="rId4"/>
          <a:stretch/>
        </p:blipFill>
        <p:spPr>
          <a:xfrm rot="10800000">
            <a:off x="720" y="0"/>
            <a:ext cx="12191400" cy="6857280"/>
          </a:xfrm>
          <a:prstGeom prst="rect">
            <a:avLst/>
          </a:prstGeom>
          <a:ln w="0">
            <a:noFill/>
          </a:ln>
        </p:spPr>
      </p:pic>
      <p:pic>
        <p:nvPicPr>
          <p:cNvPr id="234" name="Graphic 2"/>
          <p:cNvPicPr/>
          <p:nvPr/>
        </p:nvPicPr>
        <p:blipFill>
          <a:blip>
            <a:extLst>
              <a:ext uri="{96DAC541-7B7A-43D3-8B79-37D633B846F1}">
                <asvg:svgBlip xmlns:asvg="http://schemas.microsoft.com/office/drawing/2016/SVG/main" r:embed="rId5"/>
              </a:ext>
            </a:extLst>
          </a:blip>
          <a:stretch/>
        </p:blipFill>
        <p:spPr>
          <a:xfrm>
            <a:off x="4739400" y="2743200"/>
            <a:ext cx="2599560" cy="1336680"/>
          </a:xfrm>
          <a:prstGeom prst="rect">
            <a:avLst/>
          </a:prstGeom>
          <a:ln w="0">
            <a:noFill/>
          </a:ln>
        </p:spPr>
      </p:pic>
      <p:sp>
        <p:nvSpPr>
          <p:cNvPr id="235" name="PlaceHolder 1"/>
          <p:cNvSpPr>
            <a:spLocks noGrp="1"/>
          </p:cNvSpPr>
          <p:nvPr>
            <p:ph type="sldNum" idx="47"/>
          </p:nvPr>
        </p:nvSpPr>
        <p:spPr>
          <a:xfrm>
            <a:off x="11441160" y="6394320"/>
            <a:ext cx="320040" cy="364320"/>
          </a:xfrm>
          <a:prstGeom prst="rect">
            <a:avLst/>
          </a:prstGeom>
          <a:noFill/>
          <a:ln w="0">
            <a:noFill/>
          </a:ln>
        </p:spPr>
        <p:txBody>
          <a:bodyPr lIns="0" tIns="45720" rIns="0" bIns="45720" anchor="ctr">
            <a:noAutofit/>
          </a:bodyPr>
          <a:lstStyle>
            <a:lvl1pPr indent="0" algn="r" defTabSz="914400">
              <a:lnSpc>
                <a:spcPct val="100000"/>
              </a:lnSpc>
              <a:buNone/>
              <a:tabLst>
                <a:tab pos="0" algn="l"/>
              </a:tabLst>
              <a:defRPr lang="en-US" sz="800" b="0" strike="noStrike" spc="-1">
                <a:solidFill>
                  <a:schemeClr val="lt1"/>
                </a:solidFill>
                <a:latin typeface="Ford Antenna Regular"/>
                <a:ea typeface="Ford Antenna Regular"/>
              </a:defRPr>
            </a:lvl1pPr>
          </a:lstStyle>
          <a:p>
            <a:pPr indent="0" algn="r" defTabSz="914400">
              <a:lnSpc>
                <a:spcPct val="100000"/>
              </a:lnSpc>
              <a:buNone/>
              <a:tabLst>
                <a:tab pos="0" algn="l"/>
              </a:tabLst>
            </a:pPr>
            <a:fld id="{07D11B52-DC31-459D-944C-F9E721EC09E3}" type="slidenum">
              <a:rPr lang="en-US" sz="800" b="0" strike="noStrike" spc="-1">
                <a:solidFill>
                  <a:schemeClr val="lt1"/>
                </a:solidFill>
                <a:latin typeface="Ford Antenna Regular"/>
                <a:ea typeface="Ford Antenna Regular"/>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4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36"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237" name="Rectangle 11"/>
          <p:cNvSpPr/>
          <p:nvPr/>
        </p:nvSpPr>
        <p:spPr>
          <a:xfrm>
            <a:off x="0" y="1816920"/>
            <a:ext cx="12191400" cy="50403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LT Pro"/>
            </a:endParaRPr>
          </a:p>
        </p:txBody>
      </p:sp>
      <p:cxnSp>
        <p:nvCxnSpPr>
          <p:cNvPr id="238" name="Straight Connector 12"/>
          <p:cNvCxnSpPr/>
          <p:nvPr/>
        </p:nvCxnSpPr>
        <p:spPr>
          <a:xfrm>
            <a:off x="8127720" y="1816920"/>
            <a:ext cx="720" cy="5041800"/>
          </a:xfrm>
          <a:prstGeom prst="straightConnector1">
            <a:avLst/>
          </a:prstGeom>
          <a:ln w="38100">
            <a:solidFill>
              <a:srgbClr val="FFFFFF"/>
            </a:solidFill>
            <a:round/>
          </a:ln>
        </p:spPr>
      </p:cxnSp>
      <p:cxnSp>
        <p:nvCxnSpPr>
          <p:cNvPr id="239" name="Straight Connector 13"/>
          <p:cNvCxnSpPr/>
          <p:nvPr/>
        </p:nvCxnSpPr>
        <p:spPr>
          <a:xfrm>
            <a:off x="4063680" y="1816920"/>
            <a:ext cx="720" cy="5041800"/>
          </a:xfrm>
          <a:prstGeom prst="straightConnector1">
            <a:avLst/>
          </a:prstGeom>
          <a:ln w="38100">
            <a:solidFill>
              <a:srgbClr val="FFFFFF"/>
            </a:solidFill>
            <a:round/>
          </a:ln>
        </p:spPr>
      </p:cxnSp>
      <p:sp>
        <p:nvSpPr>
          <p:cNvPr id="240" name="PlaceHolder 1"/>
          <p:cNvSpPr>
            <a:spLocks noGrp="1"/>
          </p:cNvSpPr>
          <p:nvPr>
            <p:ph type="sldNum" idx="48"/>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8C85B49D-895C-400B-83EB-4D98928A2D2B}"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4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41"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242" name="Rectangle 11"/>
          <p:cNvSpPr/>
          <p:nvPr/>
        </p:nvSpPr>
        <p:spPr>
          <a:xfrm flipH="1">
            <a:off x="8129880" y="0"/>
            <a:ext cx="4060440" cy="68572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venir Next"/>
            </a:endParaRPr>
          </a:p>
        </p:txBody>
      </p:sp>
      <p:pic>
        <p:nvPicPr>
          <p:cNvPr id="243" name="Graphic 2"/>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244" name="PlaceHolder 1"/>
          <p:cNvSpPr>
            <a:spLocks noGrp="1"/>
          </p:cNvSpPr>
          <p:nvPr>
            <p:ph type="sldNum" idx="49"/>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DBBC41EF-F74C-4205-B798-8411340A0951}"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4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45"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cxnSp>
        <p:nvCxnSpPr>
          <p:cNvPr id="246" name="Straight Connector 17"/>
          <p:cNvCxnSpPr/>
          <p:nvPr/>
        </p:nvCxnSpPr>
        <p:spPr>
          <a:xfrm>
            <a:off x="2774880" y="1307880"/>
            <a:ext cx="720" cy="4508640"/>
          </a:xfrm>
          <a:prstGeom prst="straightConnector1">
            <a:avLst/>
          </a:prstGeom>
          <a:ln w="9525">
            <a:solidFill>
              <a:srgbClr val="1700F3"/>
            </a:solidFill>
            <a:round/>
          </a:ln>
        </p:spPr>
      </p:cxnSp>
      <p:cxnSp>
        <p:nvCxnSpPr>
          <p:cNvPr id="247" name="Straight Connector 18"/>
          <p:cNvCxnSpPr/>
          <p:nvPr/>
        </p:nvCxnSpPr>
        <p:spPr>
          <a:xfrm>
            <a:off x="8973720" y="1307880"/>
            <a:ext cx="720" cy="4508640"/>
          </a:xfrm>
          <a:prstGeom prst="straightConnector1">
            <a:avLst/>
          </a:prstGeom>
          <a:ln w="9525">
            <a:solidFill>
              <a:srgbClr val="1700F3"/>
            </a:solidFill>
            <a:round/>
          </a:ln>
        </p:spPr>
      </p:cxnSp>
      <p:sp>
        <p:nvSpPr>
          <p:cNvPr id="248" name="PlaceHolder 1"/>
          <p:cNvSpPr>
            <a:spLocks noGrp="1"/>
          </p:cNvSpPr>
          <p:nvPr>
            <p:ph type="sldNum" idx="50"/>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3D3F5CCF-3F24-4CAB-80E5-93DE506A6EE0}"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49"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sp>
        <p:nvSpPr>
          <p:cNvPr id="250" name="PlaceHolder 1"/>
          <p:cNvSpPr>
            <a:spLocks noGrp="1"/>
          </p:cNvSpPr>
          <p:nvPr>
            <p:ph type="sldNum" idx="51"/>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BFDF0AE7-BBF2-4178-BBAE-A5192DF3AF2B}" type="slidenum">
              <a:rPr lang="en-US" sz="800" b="0" strike="noStrike" spc="-1">
                <a:solidFill>
                  <a:schemeClr val="dk1"/>
                </a:solidFill>
                <a:latin typeface="Avenir Next LT Pro"/>
                <a:ea typeface="Avenir Next"/>
              </a:rPr>
              <a:t>‹#›</a:t>
            </a:fld>
            <a:endParaRPr lang="es-AR"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1" name="Graphic 8"/>
          <p:cNvPicPr/>
          <p:nvPr/>
        </p:nvPicPr>
        <p:blipFill>
          <a:blip>
            <a:extLst>
              <a:ext uri="{96DAC541-7B7A-43D3-8B79-37D633B846F1}">
                <asvg:svgBlip xmlns:asvg="http://schemas.microsoft.com/office/drawing/2016/SVG/main" r:embed="rId3"/>
              </a:ext>
            </a:extLst>
          </a:blip>
          <a:stretch/>
        </p:blipFill>
        <p:spPr>
          <a:xfrm>
            <a:off x="11273040" y="222840"/>
            <a:ext cx="653760" cy="326520"/>
          </a:xfrm>
          <a:prstGeom prst="rect">
            <a:avLst/>
          </a:prstGeom>
          <a:ln w="0">
            <a:noFill/>
          </a:ln>
        </p:spPr>
      </p:pic>
      <p:pic>
        <p:nvPicPr>
          <p:cNvPr id="252" name="Picture 1"/>
          <p:cNvPicPr/>
          <p:nvPr/>
        </p:nvPicPr>
        <p:blipFill>
          <a:blip r:embed="rId4"/>
          <a:stretch/>
        </p:blipFill>
        <p:spPr>
          <a:xfrm rot="10800000">
            <a:off x="720" y="0"/>
            <a:ext cx="12191400" cy="6857280"/>
          </a:xfrm>
          <a:prstGeom prst="rect">
            <a:avLst/>
          </a:prstGeom>
          <a:ln w="0">
            <a:noFill/>
          </a:ln>
        </p:spPr>
      </p:pic>
      <p:pic>
        <p:nvPicPr>
          <p:cNvPr id="253" name="Graphic 2"/>
          <p:cNvPicPr/>
          <p:nvPr/>
        </p:nvPicPr>
        <p:blipFill>
          <a:blip>
            <a:extLst>
              <a:ext uri="{96DAC541-7B7A-43D3-8B79-37D633B846F1}">
                <asvg:svgBlip xmlns:asvg="http://schemas.microsoft.com/office/drawing/2016/SVG/main" r:embed="rId5"/>
              </a:ext>
            </a:extLst>
          </a:blip>
          <a:stretch/>
        </p:blipFill>
        <p:spPr>
          <a:xfrm>
            <a:off x="4739400" y="2743200"/>
            <a:ext cx="2599560" cy="1336680"/>
          </a:xfrm>
          <a:prstGeom prst="rect">
            <a:avLst/>
          </a:prstGeom>
          <a:ln w="0">
            <a:noFill/>
          </a:ln>
        </p:spPr>
      </p:pic>
      <p:sp>
        <p:nvSpPr>
          <p:cNvPr id="254" name="PlaceHolder 1"/>
          <p:cNvSpPr>
            <a:spLocks noGrp="1"/>
          </p:cNvSpPr>
          <p:nvPr>
            <p:ph type="sldNum" idx="52"/>
          </p:nvPr>
        </p:nvSpPr>
        <p:spPr>
          <a:xfrm>
            <a:off x="11441160" y="6394320"/>
            <a:ext cx="320040" cy="364320"/>
          </a:xfrm>
          <a:prstGeom prst="rect">
            <a:avLst/>
          </a:prstGeom>
          <a:noFill/>
          <a:ln w="0">
            <a:noFill/>
          </a:ln>
        </p:spPr>
        <p:txBody>
          <a:bodyPr lIns="0" tIns="45720" rIns="0" bIns="45720" anchor="ctr">
            <a:noAutofit/>
          </a:bodyPr>
          <a:lstStyle>
            <a:lvl1pPr indent="0" algn="r" defTabSz="914400">
              <a:lnSpc>
                <a:spcPct val="100000"/>
              </a:lnSpc>
              <a:buNone/>
              <a:tabLst>
                <a:tab pos="0" algn="l"/>
              </a:tabLst>
              <a:defRPr lang="en-US" sz="800" b="0" strike="noStrike" spc="-1">
                <a:solidFill>
                  <a:schemeClr val="lt1"/>
                </a:solidFill>
                <a:latin typeface="Ford Antenna Regular"/>
                <a:ea typeface="Ford Antenna Regular"/>
              </a:defRPr>
            </a:lvl1pPr>
          </a:lstStyle>
          <a:p>
            <a:pPr indent="0" algn="r" defTabSz="914400">
              <a:lnSpc>
                <a:spcPct val="100000"/>
              </a:lnSpc>
              <a:buNone/>
              <a:tabLst>
                <a:tab pos="0" algn="l"/>
              </a:tabLst>
            </a:pPr>
            <a:fld id="{06F0FFA0-E67C-4089-B2EE-C31BB6F42D76}" type="slidenum">
              <a:rPr lang="en-US" sz="800" b="0" strike="noStrike" spc="-1">
                <a:solidFill>
                  <a:schemeClr val="lt1"/>
                </a:solidFill>
                <a:latin typeface="Ford Antenna Regular"/>
                <a:ea typeface="Ford Antenna Regular"/>
              </a:rPr>
              <a:t>‹#›</a:t>
            </a:fld>
            <a:endParaRPr lang="es-AR" sz="800" b="0" strike="noStrike" spc="-1">
              <a:solidFill>
                <a:srgbClr val="000000"/>
              </a:solidFill>
              <a:latin typeface="Times New Roman"/>
            </a:endParaRPr>
          </a:p>
        </p:txBody>
      </p:sp>
      <p:sp>
        <p:nvSpPr>
          <p:cNvPr id="255"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s-AR" sz="4400" b="0" strike="noStrike" spc="-1">
                <a:solidFill>
                  <a:srgbClr val="000000"/>
                </a:solidFill>
                <a:latin typeface="Arial"/>
              </a:rPr>
              <a:t>Pulse para editar el formato del texto de título</a:t>
            </a:r>
          </a:p>
        </p:txBody>
      </p:sp>
      <p:sp>
        <p:nvSpPr>
          <p:cNvPr id="256"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AR" sz="3200" b="0" strike="noStrike" spc="-1">
                <a:solidFill>
                  <a:srgbClr val="000000"/>
                </a:solidFill>
                <a:latin typeface="Arial"/>
              </a:rPr>
              <a:t>Pulse para editar el formato de texto del esquema</a:t>
            </a:r>
          </a:p>
          <a:p>
            <a:pPr marL="864000" lvl="1" indent="-324000">
              <a:spcBef>
                <a:spcPts val="1134"/>
              </a:spcBef>
              <a:buClr>
                <a:srgbClr val="000000"/>
              </a:buClr>
              <a:buSzPct val="75000"/>
              <a:buFont typeface="Symbol" charset="2"/>
              <a:buChar char=""/>
            </a:pPr>
            <a:r>
              <a:rPr lang="es-AR" sz="2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AR" sz="24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AR" sz="20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AR" sz="20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AR" sz="20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AR" sz="2000" b="0" strike="noStrike" spc="-1">
                <a:solidFill>
                  <a:srgbClr val="000000"/>
                </a:solidFill>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7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3.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microsoft.com/office/2007/relationships/media" Target="../media/media1.mp4"/><Relationship Id="rId1" Type="http://schemas.openxmlformats.org/officeDocument/2006/relationships/video" Target="NULL" TargetMode="External"/><Relationship Id="rId5" Type="http://schemas.openxmlformats.org/officeDocument/2006/relationships/image" Target="../media/image1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33.xml"/><Relationship Id="rId5" Type="http://schemas.openxmlformats.org/officeDocument/2006/relationships/image" Target="../media/image13.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3" name="Straight Connector 9"/>
          <p:cNvCxnSpPr/>
          <p:nvPr/>
        </p:nvCxnSpPr>
        <p:spPr>
          <a:xfrm>
            <a:off x="983880" y="3485160"/>
            <a:ext cx="192600" cy="720"/>
          </a:xfrm>
          <a:prstGeom prst="straightConnector1">
            <a:avLst/>
          </a:prstGeom>
          <a:ln w="0">
            <a:solidFill>
              <a:srgbClr val="1700F3"/>
            </a:solidFill>
          </a:ln>
        </p:spPr>
      </p:cxnSp>
      <p:sp>
        <p:nvSpPr>
          <p:cNvPr id="264" name="PlaceHolder 1"/>
          <p:cNvSpPr>
            <a:spLocks noGrp="1"/>
          </p:cNvSpPr>
          <p:nvPr>
            <p:ph/>
          </p:nvPr>
        </p:nvSpPr>
        <p:spPr>
          <a:xfrm>
            <a:off x="996480" y="2868120"/>
            <a:ext cx="8319960" cy="570960"/>
          </a:xfrm>
          <a:prstGeom prst="rect">
            <a:avLst/>
          </a:prstGeom>
          <a:noFill/>
          <a:ln w="0">
            <a:noFill/>
          </a:ln>
        </p:spPr>
        <p:txBody>
          <a:bodyPr lIns="0" tIns="45720" rIns="91440" bIns="0" anchor="b">
            <a:noAutofit/>
          </a:bodyPr>
          <a:lstStyle/>
          <a:p>
            <a:pPr indent="0" defTabSz="914400">
              <a:lnSpc>
                <a:spcPct val="90000"/>
              </a:lnSpc>
              <a:spcBef>
                <a:spcPts val="1001"/>
              </a:spcBef>
              <a:buNone/>
              <a:tabLst>
                <a:tab pos="0" algn="l"/>
              </a:tabLst>
            </a:pPr>
            <a:r>
              <a:rPr lang="en-US" sz="2400" b="0" strike="noStrike" spc="35">
                <a:solidFill>
                  <a:schemeClr val="dk1"/>
                </a:solidFill>
                <a:latin typeface="Avenir Next LT Pro"/>
              </a:rPr>
              <a:t>Ford Innovation Challenge III: AI Edition</a:t>
            </a:r>
            <a:endParaRPr lang="es-AR" sz="2400" b="0" strike="noStrike" spc="-1">
              <a:solidFill>
                <a:srgbClr val="000000"/>
              </a:solidFill>
              <a:latin typeface="Arial"/>
            </a:endParaRPr>
          </a:p>
        </p:txBody>
      </p:sp>
      <p:sp>
        <p:nvSpPr>
          <p:cNvPr id="265" name="PlaceHolder 2"/>
          <p:cNvSpPr>
            <a:spLocks noGrp="1"/>
          </p:cNvSpPr>
          <p:nvPr>
            <p:ph/>
          </p:nvPr>
        </p:nvSpPr>
        <p:spPr>
          <a:xfrm>
            <a:off x="996480" y="3745800"/>
            <a:ext cx="6099840" cy="305640"/>
          </a:xfrm>
          <a:prstGeom prst="rect">
            <a:avLst/>
          </a:prstGeom>
          <a:noFill/>
          <a:ln w="0">
            <a:noFill/>
          </a:ln>
        </p:spPr>
        <p:txBody>
          <a:bodyPr lIns="0" tIns="45720" rIns="91440" bIns="0" anchor="t">
            <a:noAutofit/>
          </a:bodyPr>
          <a:lstStyle/>
          <a:p>
            <a:pPr indent="0" defTabSz="914400">
              <a:lnSpc>
                <a:spcPct val="90000"/>
              </a:lnSpc>
              <a:spcBef>
                <a:spcPts val="1001"/>
              </a:spcBef>
              <a:buNone/>
              <a:tabLst>
                <a:tab pos="0" algn="l"/>
              </a:tabLst>
            </a:pPr>
            <a:r>
              <a:rPr lang="en-US" sz="1000" b="1" strike="noStrike" spc="296">
                <a:solidFill>
                  <a:schemeClr val="accent1"/>
                </a:solidFill>
                <a:latin typeface="Avenir Next LT Pro"/>
              </a:rPr>
              <a:t>Desafío 1 · Data-Driven Repurchase · Equipo SIMtec</a:t>
            </a:r>
            <a:endParaRPr lang="es-AR" sz="1000" b="0" strike="noStrike" spc="-1">
              <a:solidFill>
                <a:srgbClr val="000000"/>
              </a:solidFill>
              <a:latin typeface="Arial"/>
            </a:endParaRPr>
          </a:p>
        </p:txBody>
      </p:sp>
      <p:sp>
        <p:nvSpPr>
          <p:cNvPr id="266" name="Text Placeholder 5"/>
          <p:cNvSpPr/>
          <p:nvPr/>
        </p:nvSpPr>
        <p:spPr>
          <a:xfrm>
            <a:off x="983880" y="6105960"/>
            <a:ext cx="6099840" cy="305640"/>
          </a:xfrm>
          <a:prstGeom prst="rect">
            <a:avLst/>
          </a:prstGeom>
          <a:noFill/>
          <a:ln w="0">
            <a:noFill/>
          </a:ln>
        </p:spPr>
        <p:style>
          <a:lnRef idx="0">
            <a:scrgbClr r="0" g="0" b="0"/>
          </a:lnRef>
          <a:fillRef idx="0">
            <a:scrgbClr r="0" g="0" b="0"/>
          </a:fillRef>
          <a:effectRef idx="0">
            <a:scrgbClr r="0" g="0" b="0"/>
          </a:effectRef>
          <a:fontRef idx="minor"/>
        </p:style>
        <p:txBody>
          <a:bodyPr lIns="0" tIns="45000" rIns="90000" bIns="0" anchor="t">
            <a:noAutofit/>
          </a:bodyPr>
          <a:lstStyle/>
          <a:p>
            <a:pPr defTabSz="914400">
              <a:lnSpc>
                <a:spcPct val="90000"/>
              </a:lnSpc>
              <a:spcBef>
                <a:spcPts val="1001"/>
              </a:spcBef>
              <a:tabLst>
                <a:tab pos="0" algn="l"/>
              </a:tabLst>
            </a:pPr>
            <a:r>
              <a:rPr lang="es-AR" sz="1000" b="0" strike="noStrike" spc="296">
                <a:solidFill>
                  <a:schemeClr val="accent1"/>
                </a:solidFill>
                <a:latin typeface="Avenir Next LT Pro"/>
              </a:rPr>
              <a:t>Trials Day · Octubre 2026</a:t>
            </a:r>
            <a:endParaRPr lang="es-AR" sz="1000" b="0" strike="noStrike" spc="-1">
              <a:solidFill>
                <a:srgbClr val="000000"/>
              </a:solidFill>
              <a:latin typeface="Arial"/>
            </a:endParaRPr>
          </a:p>
        </p:txBody>
      </p:sp>
      <p:sp>
        <p:nvSpPr>
          <p:cNvPr id="267" name="integrantes"/>
          <p:cNvSpPr/>
          <p:nvPr/>
        </p:nvSpPr>
        <p:spPr>
          <a:xfrm>
            <a:off x="996480" y="4076280"/>
            <a:ext cx="6099840" cy="1070640"/>
          </a:xfrm>
          <a:prstGeom prst="rect">
            <a:avLst/>
          </a:prstGeom>
          <a:noFill/>
          <a:ln w="0">
            <a:noFill/>
          </a:ln>
        </p:spPr>
        <p:style>
          <a:lnRef idx="0">
            <a:scrgbClr r="0" g="0" b="0"/>
          </a:lnRef>
          <a:fillRef idx="0">
            <a:scrgbClr r="0" g="0" b="0"/>
          </a:fillRef>
          <a:effectRef idx="0">
            <a:scrgbClr r="0" g="0" b="0"/>
          </a:effectRef>
          <a:fontRef idx="minor"/>
        </p:style>
        <p:txBody>
          <a:bodyPr lIns="0" tIns="45000" rIns="90000" bIns="0" anchor="t">
            <a:noAutofit/>
          </a:bodyPr>
          <a:lstStyle/>
          <a:p>
            <a:pPr defTabSz="914400">
              <a:lnSpc>
                <a:spcPct val="90000"/>
              </a:lnSpc>
              <a:spcBef>
                <a:spcPts val="1001"/>
              </a:spcBef>
              <a:tabLst>
                <a:tab pos="0" algn="l"/>
              </a:tabLst>
            </a:pPr>
            <a:r>
              <a:rPr lang="es-AR" sz="1000" b="0" strike="noStrike" spc="296">
                <a:solidFill>
                  <a:schemeClr val="accent1"/>
                </a:solidFill>
                <a:latin typeface="Avenir Next LT Pro"/>
              </a:rPr>
              <a:t>Samaan Piroli Teodoro </a:t>
            </a:r>
            <a:endParaRPr lang="es-AR" sz="1000" b="0" strike="noStrike" spc="-1">
              <a:solidFill>
                <a:srgbClr val="000000"/>
              </a:solidFill>
              <a:latin typeface="Arial"/>
            </a:endParaRPr>
          </a:p>
          <a:p>
            <a:pPr defTabSz="914400">
              <a:lnSpc>
                <a:spcPct val="90000"/>
              </a:lnSpc>
              <a:spcBef>
                <a:spcPts val="1001"/>
              </a:spcBef>
              <a:tabLst>
                <a:tab pos="0" algn="l"/>
              </a:tabLst>
            </a:pPr>
            <a:r>
              <a:rPr lang="es-AR" sz="1000" b="0" strike="noStrike" spc="296">
                <a:solidFill>
                  <a:schemeClr val="accent1"/>
                </a:solidFill>
                <a:latin typeface="Avenir Next LT Pro"/>
              </a:rPr>
              <a:t>Iuzzolino María Florencia</a:t>
            </a:r>
            <a:endParaRPr lang="es-AR" sz="1000" b="0" strike="noStrike" spc="-1">
              <a:solidFill>
                <a:srgbClr val="000000"/>
              </a:solidFill>
              <a:latin typeface="Arial"/>
            </a:endParaRPr>
          </a:p>
          <a:p>
            <a:pPr defTabSz="914400">
              <a:lnSpc>
                <a:spcPct val="90000"/>
              </a:lnSpc>
              <a:spcBef>
                <a:spcPts val="1001"/>
              </a:spcBef>
              <a:tabLst>
                <a:tab pos="0" algn="l"/>
              </a:tabLst>
            </a:pPr>
            <a:r>
              <a:rPr lang="es-AR" sz="1000" b="0" strike="noStrike" spc="296">
                <a:solidFill>
                  <a:schemeClr val="accent1"/>
                </a:solidFill>
                <a:latin typeface="Avenir Next LT Pro"/>
              </a:rPr>
              <a:t>Malfetano Franco Tomas</a:t>
            </a:r>
            <a:endParaRPr lang="es-AR" sz="1000" b="0" strike="noStrike" spc="-1">
              <a:solidFill>
                <a:srgbClr val="000000"/>
              </a:solidFill>
              <a:latin typeface="Arial"/>
            </a:endParaRPr>
          </a:p>
          <a:p>
            <a:pPr defTabSz="914400">
              <a:lnSpc>
                <a:spcPct val="90000"/>
              </a:lnSpc>
              <a:spcBef>
                <a:spcPts val="1001"/>
              </a:spcBef>
              <a:tabLst>
                <a:tab pos="0" algn="l"/>
              </a:tabLst>
            </a:pPr>
            <a:endParaRPr lang="es-AR" sz="1000" b="0" strike="noStrike" spc="-1">
              <a:solidFill>
                <a:srgbClr val="000000"/>
              </a:solidFill>
              <a:latin typeface="Arial"/>
            </a:endParaRPr>
          </a:p>
        </p:txBody>
      </p:sp>
      <p:sp>
        <p:nvSpPr>
          <p:cNvPr id="268"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María Florencia Iuzzolino</a:t>
            </a:r>
            <a:endParaRPr lang="es-AR" sz="10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69" name="PlaceHolder 1"/>
          <p:cNvSpPr>
            <a:spLocks noGrp="1"/>
          </p:cNvSpPr>
          <p:nvPr>
            <p:ph type="title"/>
          </p:nvPr>
        </p:nvSpPr>
        <p:spPr>
          <a:xfrm>
            <a:off x="996840" y="3033000"/>
            <a:ext cx="10524240" cy="395280"/>
          </a:xfrm>
          <a:prstGeom prst="rect">
            <a:avLst/>
          </a:prstGeom>
          <a:noFill/>
          <a:ln w="0">
            <a:noFill/>
          </a:ln>
        </p:spPr>
        <p:txBody>
          <a:bodyPr lIns="0" tIns="45720" rIns="91440" bIns="45720" anchor="t">
            <a:noAutofit/>
          </a:bodyPr>
          <a:lstStyle/>
          <a:p>
            <a:pPr indent="0" defTabSz="914400">
              <a:lnSpc>
                <a:spcPct val="100000"/>
              </a:lnSpc>
              <a:buNone/>
              <a:tabLst>
                <a:tab pos="0" algn="l"/>
              </a:tabLst>
            </a:pPr>
            <a:r>
              <a:rPr lang="en-US" sz="2400" b="0" strike="noStrike" spc="35">
                <a:solidFill>
                  <a:schemeClr val="dk1"/>
                </a:solidFill>
                <a:latin typeface="Avenir Next LT Pro"/>
                <a:ea typeface="Avenir Next"/>
              </a:rPr>
              <a:t>Descripción del desafío</a:t>
            </a:r>
            <a:endParaRPr lang="es-AR" sz="2400" b="0" strike="noStrike" spc="-1">
              <a:solidFill>
                <a:srgbClr val="000000"/>
              </a:solidFill>
              <a:latin typeface="Arial"/>
            </a:endParaRPr>
          </a:p>
        </p:txBody>
      </p:sp>
      <p:sp>
        <p:nvSpPr>
          <p:cNvPr id="270" name="PlaceHolder 2"/>
          <p:cNvSpPr>
            <a:spLocks noGrp="1"/>
          </p:cNvSpPr>
          <p:nvPr>
            <p:ph/>
          </p:nvPr>
        </p:nvSpPr>
        <p:spPr>
          <a:xfrm>
            <a:off x="996840" y="3584520"/>
            <a:ext cx="10514880" cy="438840"/>
          </a:xfrm>
          <a:prstGeom prst="rect">
            <a:avLst/>
          </a:prstGeom>
          <a:noFill/>
          <a:ln w="0">
            <a:noFill/>
          </a:ln>
        </p:spPr>
        <p:txBody>
          <a:bodyPr lIns="0" tIns="45720" rIns="91440" bIns="45720" anchor="t">
            <a:noAutofit/>
          </a:bodyPr>
          <a:lstStyle/>
          <a:p>
            <a:pPr indent="0" defTabSz="914400">
              <a:lnSpc>
                <a:spcPct val="90000"/>
              </a:lnSpc>
              <a:spcBef>
                <a:spcPts val="1001"/>
              </a:spcBef>
              <a:buNone/>
              <a:tabLst>
                <a:tab pos="0" algn="l"/>
              </a:tabLst>
            </a:pPr>
            <a:r>
              <a:rPr lang="en-US" sz="1200" b="0" strike="noStrike" spc="55">
                <a:solidFill>
                  <a:schemeClr val="dk1"/>
                </a:solidFill>
                <a:latin typeface="Avenir Next LT Pro"/>
                <a:ea typeface="Avenir Next"/>
              </a:rPr>
              <a:t>Cada service que no se hace es un cliente que se empieza a ir</a:t>
            </a:r>
            <a:endParaRPr lang="es-AR" sz="1200" b="0" strike="noStrike" spc="-1">
              <a:solidFill>
                <a:srgbClr val="000000"/>
              </a:solidFill>
              <a:latin typeface="Arial"/>
            </a:endParaRPr>
          </a:p>
        </p:txBody>
      </p:sp>
      <p:sp>
        <p:nvSpPr>
          <p:cNvPr id="271" name="PlaceHolder 3"/>
          <p:cNvSpPr>
            <a:spLocks noGrp="1"/>
          </p:cNvSpPr>
          <p:nvPr>
            <p:ph/>
          </p:nvPr>
        </p:nvSpPr>
        <p:spPr>
          <a:xfrm>
            <a:off x="996840" y="1550520"/>
            <a:ext cx="1470960" cy="1102680"/>
          </a:xfrm>
          <a:prstGeom prst="rect">
            <a:avLst/>
          </a:prstGeom>
          <a:noFill/>
          <a:ln w="0">
            <a:noFill/>
          </a:ln>
        </p:spPr>
        <p:txBody>
          <a:bodyPr lIns="0" tIns="45720" rIns="91440" bIns="0" anchor="b">
            <a:noAutofit/>
          </a:bodyPr>
          <a:lstStyle/>
          <a:p>
            <a:pPr indent="0" defTabSz="914400">
              <a:lnSpc>
                <a:spcPct val="90000"/>
              </a:lnSpc>
              <a:spcBef>
                <a:spcPts val="1001"/>
              </a:spcBef>
              <a:buNone/>
              <a:tabLst>
                <a:tab pos="0" algn="l"/>
              </a:tabLst>
            </a:pPr>
            <a:r>
              <a:rPr lang="en-US" sz="3200" b="0" strike="noStrike" spc="46">
                <a:solidFill>
                  <a:schemeClr val="accent1"/>
                </a:solidFill>
                <a:latin typeface="Avenir Next LT Pro"/>
                <a:ea typeface="Avenir Next"/>
              </a:rPr>
              <a:t>01</a:t>
            </a:r>
            <a:endParaRPr lang="es-AR" sz="3200" b="0" strike="noStrike" spc="-1">
              <a:solidFill>
                <a:srgbClr val="000000"/>
              </a:solidFill>
              <a:latin typeface="Arial"/>
            </a:endParaRPr>
          </a:p>
        </p:txBody>
      </p:sp>
      <p:sp>
        <p:nvSpPr>
          <p:cNvPr id="272"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María Florencia Iuzzolino</a:t>
            </a:r>
            <a:endParaRPr lang="es-AR" sz="1000" b="0" strike="noStrike" spc="-1">
              <a:solidFill>
                <a:srgbClr val="000000"/>
              </a:solidFill>
              <a:latin typeface="Arial"/>
            </a:endParaRPr>
          </a:p>
        </p:txBody>
      </p:sp>
      <p:sp>
        <p:nvSpPr>
          <p:cNvPr id="5" name="PlaceHolder 4"/>
          <p:cNvSpPr>
            <a:spLocks noGrp="1"/>
          </p:cNvSpPr>
          <p:nvPr>
            <p:ph type="sldNum" idx="12"/>
          </p:nvPr>
        </p:nvSpPr>
        <p:spPr/>
        <p:txBody>
          <a:bodyPr/>
          <a:lstStyle/>
          <a:p>
            <a:fld id="{D4313D04-93AB-4642-8BE3-61AE03B4FEED}" type="slidenum">
              <a:rPr/>
              <a:t>2</a:t>
            </a:fld>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PlaceHolder 1"/>
          <p:cNvSpPr>
            <a:spLocks noGrp="1"/>
          </p:cNvSpPr>
          <p:nvPr>
            <p:ph type="sldNum" idx="56"/>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761BDBBD-2F41-4B2A-83EE-0B4AF0F02E58}" type="slidenum">
              <a:rPr lang="en-US" sz="800" b="0" strike="noStrike" spc="-1">
                <a:solidFill>
                  <a:schemeClr val="dk1"/>
                </a:solidFill>
                <a:latin typeface="Avenir Next LT Pro"/>
                <a:ea typeface="Avenir Next"/>
              </a:rPr>
              <a:t>3</a:t>
            </a:fld>
            <a:endParaRPr lang="es-AR" sz="800" b="0" strike="noStrike" spc="-1">
              <a:solidFill>
                <a:srgbClr val="000000"/>
              </a:solidFill>
              <a:latin typeface="Times New Roman"/>
            </a:endParaRPr>
          </a:p>
        </p:txBody>
      </p:sp>
      <p:sp>
        <p:nvSpPr>
          <p:cNvPr id="274" name="seccion"/>
          <p:cNvSpPr/>
          <p:nvPr/>
        </p:nvSpPr>
        <p:spPr>
          <a:xfrm>
            <a:off x="393120" y="283320"/>
            <a:ext cx="6400080" cy="13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900" b="0" strike="noStrike" spc="296">
                <a:solidFill>
                  <a:srgbClr val="1700F3"/>
                </a:solidFill>
                <a:latin typeface="Avenir Next LT Pro"/>
              </a:rPr>
              <a:t>01 · DESCRIPCIÓN DEL DESAFÍO</a:t>
            </a:r>
            <a:endParaRPr lang="es-AR" sz="900" b="0" strike="noStrike" spc="-1">
              <a:solidFill>
                <a:srgbClr val="000000"/>
              </a:solidFill>
              <a:latin typeface="Arial"/>
            </a:endParaRPr>
          </a:p>
        </p:txBody>
      </p:sp>
      <p:sp>
        <p:nvSpPr>
          <p:cNvPr id="275" name="numero"/>
          <p:cNvSpPr/>
          <p:nvPr/>
        </p:nvSpPr>
        <p:spPr>
          <a:xfrm>
            <a:off x="822960" y="1417320"/>
            <a:ext cx="10514880" cy="1676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1000" b="0" strike="noStrike" spc="-1">
                <a:solidFill>
                  <a:srgbClr val="00095B"/>
                </a:solidFill>
                <a:latin typeface="Avenir Next LT Pro"/>
              </a:rPr>
              <a:t>Más de 6.000</a:t>
            </a:r>
            <a:endParaRPr lang="es-AR" sz="11000" b="0" strike="noStrike" spc="-1">
              <a:solidFill>
                <a:srgbClr val="000000"/>
              </a:solidFill>
              <a:latin typeface="Arial"/>
            </a:endParaRPr>
          </a:p>
        </p:txBody>
      </p:sp>
      <p:sp>
        <p:nvSpPr>
          <p:cNvPr id="276" name="bajada"/>
          <p:cNvSpPr/>
          <p:nvPr/>
        </p:nvSpPr>
        <p:spPr>
          <a:xfrm>
            <a:off x="822960" y="3246120"/>
            <a:ext cx="10514880" cy="426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2800" b="0" strike="noStrike" spc="-1">
                <a:solidFill>
                  <a:srgbClr val="00095B"/>
                </a:solidFill>
                <a:latin typeface="Avenir Next LT Pro"/>
              </a:rPr>
              <a:t>Ranger entran cada mes en su ventana de service</a:t>
            </a:r>
            <a:endParaRPr lang="es-AR" sz="2800" b="0" strike="noStrike" spc="-1">
              <a:solidFill>
                <a:srgbClr val="000000"/>
              </a:solidFill>
              <a:latin typeface="Arial"/>
            </a:endParaRPr>
          </a:p>
        </p:txBody>
      </p:sp>
      <p:cxnSp>
        <p:nvCxnSpPr>
          <p:cNvPr id="277" name="separador"/>
          <p:cNvCxnSpPr/>
          <p:nvPr/>
        </p:nvCxnSpPr>
        <p:spPr>
          <a:xfrm>
            <a:off x="5184360" y="4160520"/>
            <a:ext cx="1829520" cy="720"/>
          </a:xfrm>
          <a:prstGeom prst="straightConnector1">
            <a:avLst/>
          </a:prstGeom>
          <a:ln w="19050">
            <a:solidFill>
              <a:srgbClr val="1700F3"/>
            </a:solidFill>
            <a:round/>
          </a:ln>
        </p:spPr>
      </p:cxnSp>
      <p:sp>
        <p:nvSpPr>
          <p:cNvPr id="278" name="oportunidad"/>
          <p:cNvSpPr/>
          <p:nvPr/>
        </p:nvSpPr>
        <p:spPr>
          <a:xfrm>
            <a:off x="1371600" y="4434840"/>
            <a:ext cx="9417600" cy="33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2200" b="0" strike="noStrike" spc="-1">
                <a:solidFill>
                  <a:srgbClr val="7F7F7F"/>
                </a:solidFill>
                <a:latin typeface="Avenir Next LT Pro"/>
              </a:rPr>
              <a:t>Cada una es un cliente que puede volver a Ford…</a:t>
            </a:r>
            <a:endParaRPr lang="es-AR" sz="2200" b="0" strike="noStrike" spc="-1">
              <a:solidFill>
                <a:srgbClr val="000000"/>
              </a:solidFill>
              <a:latin typeface="Arial"/>
            </a:endParaRPr>
          </a:p>
        </p:txBody>
      </p:sp>
      <p:sp>
        <p:nvSpPr>
          <p:cNvPr id="279" name="o_no"/>
          <p:cNvSpPr/>
          <p:nvPr/>
        </p:nvSpPr>
        <p:spPr>
          <a:xfrm>
            <a:off x="1371600" y="4983480"/>
            <a:ext cx="9417600" cy="457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3000" b="1" strike="noStrike" spc="-1">
                <a:solidFill>
                  <a:srgbClr val="1700F3"/>
                </a:solidFill>
                <a:latin typeface="Avenir Next LT Pro"/>
              </a:rPr>
              <a:t>…o no.</a:t>
            </a:r>
            <a:endParaRPr lang="es-AR" sz="3000" b="0" strike="noStrike" spc="-1">
              <a:solidFill>
                <a:srgbClr val="000000"/>
              </a:solidFill>
              <a:latin typeface="Arial"/>
            </a:endParaRPr>
          </a:p>
        </p:txBody>
      </p:sp>
      <p:sp>
        <p:nvSpPr>
          <p:cNvPr id="280"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María Florencia Iuzzolino</a:t>
            </a:r>
            <a:endParaRPr lang="es-AR" sz="10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279"/>
                                        </p:tgtEl>
                                        <p:attrNameLst>
                                          <p:attrName>style.visibility</p:attrName>
                                        </p:attrNameLst>
                                      </p:cBhvr>
                                      <p:to>
                                        <p:strVal val="visible"/>
                                      </p:to>
                                    </p:set>
                                    <p:animEffect transition="in" filter="fade">
                                      <p:cBhvr additive="repl">
                                        <p:cTn id="7" dur="500"/>
                                        <p:tgtEl>
                                          <p:spTgt spid="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PlaceHolder 1"/>
          <p:cNvSpPr>
            <a:spLocks noGrp="1"/>
          </p:cNvSpPr>
          <p:nvPr>
            <p:ph type="sldNum" idx="57"/>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5BCAA486-4D4C-4717-9E73-4B8CF5954BB6}" type="slidenum">
              <a:rPr lang="en-US" sz="800" b="0" strike="noStrike" spc="-1">
                <a:solidFill>
                  <a:schemeClr val="dk1"/>
                </a:solidFill>
                <a:latin typeface="Avenir Next LT Pro"/>
                <a:ea typeface="Avenir Next"/>
              </a:rPr>
              <a:t>4</a:t>
            </a:fld>
            <a:endParaRPr lang="es-AR" sz="800" b="0" strike="noStrike" spc="-1">
              <a:solidFill>
                <a:srgbClr val="000000"/>
              </a:solidFill>
              <a:latin typeface="Times New Roman"/>
            </a:endParaRPr>
          </a:p>
        </p:txBody>
      </p:sp>
      <p:sp>
        <p:nvSpPr>
          <p:cNvPr id="282" name="seccion"/>
          <p:cNvSpPr/>
          <p:nvPr/>
        </p:nvSpPr>
        <p:spPr>
          <a:xfrm>
            <a:off x="393120" y="283320"/>
            <a:ext cx="6400080" cy="13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900" b="0" strike="noStrike" spc="296">
                <a:solidFill>
                  <a:srgbClr val="1700F3"/>
                </a:solidFill>
                <a:latin typeface="Avenir Next LT Pro"/>
              </a:rPr>
              <a:t>01 · DESCRIPCIÓN DEL DESAFÍO</a:t>
            </a:r>
            <a:endParaRPr lang="es-AR" sz="900" b="0" strike="noStrike" spc="-1">
              <a:solidFill>
                <a:srgbClr val="000000"/>
              </a:solidFill>
              <a:latin typeface="Arial"/>
            </a:endParaRPr>
          </a:p>
        </p:txBody>
      </p:sp>
      <p:grpSp>
        <p:nvGrpSpPr>
          <p:cNvPr id="283" name="camioneta_1"/>
          <p:cNvGrpSpPr/>
          <p:nvPr/>
        </p:nvGrpSpPr>
        <p:grpSpPr>
          <a:xfrm>
            <a:off x="856440" y="1161720"/>
            <a:ext cx="932040" cy="358200"/>
            <a:chOff x="856440" y="1161720"/>
            <a:chExt cx="932040" cy="358200"/>
          </a:xfrm>
        </p:grpSpPr>
        <p:sp>
          <p:nvSpPr>
            <p:cNvPr id="284" name="Freeform 2"/>
            <p:cNvSpPr/>
            <p:nvPr/>
          </p:nvSpPr>
          <p:spPr>
            <a:xfrm>
              <a:off x="856440" y="1161720"/>
              <a:ext cx="932040" cy="260280"/>
            </a:xfrm>
            <a:custGeom>
              <a:avLst/>
              <a:gdLst>
                <a:gd name="textAreaLeft" fmla="*/ 0 w 932040"/>
                <a:gd name="textAreaRight" fmla="*/ 932760 w 932040"/>
                <a:gd name="textAreaTop" fmla="*/ 0 h 260280"/>
                <a:gd name="textAreaBottom" fmla="*/ 261000 h 260280"/>
              </a:gdLst>
              <a:ahLst/>
              <a:cxnLst/>
              <a:rect l="textAreaLeft" t="textAreaTop" r="textAreaRight" b="textAreaBottom"/>
              <a:pathLst>
                <a:path w="932688" h="261153">
                  <a:moveTo>
                    <a:pt x="0" y="261153"/>
                  </a:moveTo>
                  <a:lnTo>
                    <a:pt x="0" y="158557"/>
                  </a:lnTo>
                  <a:lnTo>
                    <a:pt x="27981" y="139903"/>
                  </a:lnTo>
                  <a:lnTo>
                    <a:pt x="410383" y="139903"/>
                  </a:lnTo>
                  <a:lnTo>
                    <a:pt x="429037" y="27981"/>
                  </a:lnTo>
                  <a:lnTo>
                    <a:pt x="466344" y="0"/>
                  </a:lnTo>
                  <a:lnTo>
                    <a:pt x="652882" y="0"/>
                  </a:lnTo>
                  <a:lnTo>
                    <a:pt x="690189" y="18654"/>
                  </a:lnTo>
                  <a:lnTo>
                    <a:pt x="774131" y="121250"/>
                  </a:lnTo>
                  <a:lnTo>
                    <a:pt x="904707" y="149230"/>
                  </a:lnTo>
                  <a:lnTo>
                    <a:pt x="932688" y="177211"/>
                  </a:lnTo>
                  <a:lnTo>
                    <a:pt x="932688" y="261153"/>
                  </a:lnTo>
                  <a:close/>
                </a:path>
              </a:pathLst>
            </a:cu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285" name="Freeform 3"/>
            <p:cNvSpPr/>
            <p:nvPr/>
          </p:nvSpPr>
          <p:spPr>
            <a:xfrm>
              <a:off x="1332000" y="1198800"/>
              <a:ext cx="232560" cy="83160"/>
            </a:xfrm>
            <a:custGeom>
              <a:avLst/>
              <a:gdLst>
                <a:gd name="textAreaLeft" fmla="*/ 0 w 232560"/>
                <a:gd name="textAreaRight" fmla="*/ 233280 w 232560"/>
                <a:gd name="textAreaTop" fmla="*/ 0 h 83160"/>
                <a:gd name="textAreaBottom" fmla="*/ 83880 h 83160"/>
              </a:gdLst>
              <a:ahLst/>
              <a:cxnLst/>
              <a:rect l="textAreaLeft" t="textAreaTop" r="textAreaRight" b="textAreaBottom"/>
              <a:pathLst>
                <a:path w="233172" h="83942">
                  <a:moveTo>
                    <a:pt x="0" y="0"/>
                  </a:moveTo>
                  <a:lnTo>
                    <a:pt x="167884" y="0"/>
                  </a:lnTo>
                  <a:lnTo>
                    <a:pt x="233172" y="83942"/>
                  </a:lnTo>
                  <a:lnTo>
                    <a:pt x="0" y="83942"/>
                  </a:lnTo>
                  <a:close/>
                </a:path>
              </a:pathLst>
            </a:custGeom>
            <a:solidFill>
              <a:srgbClr val="FFFFFF"/>
            </a:solidFill>
            <a:ln>
              <a:noFill/>
            </a:ln>
          </p:spPr>
          <p:style>
            <a:lnRef idx="1">
              <a:schemeClr val="accent1"/>
            </a:lnRef>
            <a:fillRef idx="3">
              <a:schemeClr val="accent1"/>
            </a:fillRef>
            <a:effectRef idx="2">
              <a:schemeClr val="accent1"/>
            </a:effectRef>
            <a:fontRef idx="minor"/>
          </p:style>
          <p:txBody>
            <a:bodyPr lIns="90000" tIns="38880" rIns="90000" bIns="38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286" name="Oval 6"/>
            <p:cNvSpPr/>
            <p:nvPr/>
          </p:nvSpPr>
          <p:spPr>
            <a:xfrm>
              <a:off x="96372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287" name="Oval 7"/>
            <p:cNvSpPr/>
            <p:nvPr/>
          </p:nvSpPr>
          <p:spPr>
            <a:xfrm>
              <a:off x="977760" y="1357560"/>
              <a:ext cx="148680" cy="14868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288" name="Oval 8"/>
            <p:cNvSpPr/>
            <p:nvPr/>
          </p:nvSpPr>
          <p:spPr>
            <a:xfrm>
              <a:off x="102240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289" name="Oval 9"/>
            <p:cNvSpPr/>
            <p:nvPr/>
          </p:nvSpPr>
          <p:spPr>
            <a:xfrm>
              <a:off x="151380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290" name="Oval 10"/>
            <p:cNvSpPr/>
            <p:nvPr/>
          </p:nvSpPr>
          <p:spPr>
            <a:xfrm>
              <a:off x="1527840" y="1357560"/>
              <a:ext cx="148680" cy="14868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291" name="Oval 11"/>
            <p:cNvSpPr/>
            <p:nvPr/>
          </p:nvSpPr>
          <p:spPr>
            <a:xfrm>
              <a:off x="157248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grpSp>
      <p:grpSp>
        <p:nvGrpSpPr>
          <p:cNvPr id="292" name="camioneta_2"/>
          <p:cNvGrpSpPr/>
          <p:nvPr/>
        </p:nvGrpSpPr>
        <p:grpSpPr>
          <a:xfrm>
            <a:off x="1917000" y="1161720"/>
            <a:ext cx="932040" cy="358200"/>
            <a:chOff x="1917000" y="1161720"/>
            <a:chExt cx="932040" cy="358200"/>
          </a:xfrm>
        </p:grpSpPr>
        <p:sp>
          <p:nvSpPr>
            <p:cNvPr id="293" name="Freeform 13"/>
            <p:cNvSpPr/>
            <p:nvPr/>
          </p:nvSpPr>
          <p:spPr>
            <a:xfrm>
              <a:off x="1917000" y="1161720"/>
              <a:ext cx="932040" cy="260280"/>
            </a:xfrm>
            <a:custGeom>
              <a:avLst/>
              <a:gdLst>
                <a:gd name="textAreaLeft" fmla="*/ 0 w 932040"/>
                <a:gd name="textAreaRight" fmla="*/ 932760 w 932040"/>
                <a:gd name="textAreaTop" fmla="*/ 0 h 260280"/>
                <a:gd name="textAreaBottom" fmla="*/ 261000 h 260280"/>
              </a:gdLst>
              <a:ahLst/>
              <a:cxnLst/>
              <a:rect l="textAreaLeft" t="textAreaTop" r="textAreaRight" b="textAreaBottom"/>
              <a:pathLst>
                <a:path w="932688" h="261153">
                  <a:moveTo>
                    <a:pt x="0" y="261153"/>
                  </a:moveTo>
                  <a:lnTo>
                    <a:pt x="0" y="158557"/>
                  </a:lnTo>
                  <a:lnTo>
                    <a:pt x="27981" y="139903"/>
                  </a:lnTo>
                  <a:lnTo>
                    <a:pt x="410383" y="139903"/>
                  </a:lnTo>
                  <a:lnTo>
                    <a:pt x="429037" y="27981"/>
                  </a:lnTo>
                  <a:lnTo>
                    <a:pt x="466344" y="0"/>
                  </a:lnTo>
                  <a:lnTo>
                    <a:pt x="652882" y="0"/>
                  </a:lnTo>
                  <a:lnTo>
                    <a:pt x="690189" y="18654"/>
                  </a:lnTo>
                  <a:lnTo>
                    <a:pt x="774131" y="121250"/>
                  </a:lnTo>
                  <a:lnTo>
                    <a:pt x="904707" y="149230"/>
                  </a:lnTo>
                  <a:lnTo>
                    <a:pt x="932688" y="177211"/>
                  </a:lnTo>
                  <a:lnTo>
                    <a:pt x="932688" y="261153"/>
                  </a:lnTo>
                  <a:close/>
                </a:path>
              </a:pathLst>
            </a:cu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294" name="Freeform 14"/>
            <p:cNvSpPr/>
            <p:nvPr/>
          </p:nvSpPr>
          <p:spPr>
            <a:xfrm>
              <a:off x="2392560" y="1198800"/>
              <a:ext cx="232560" cy="83160"/>
            </a:xfrm>
            <a:custGeom>
              <a:avLst/>
              <a:gdLst>
                <a:gd name="textAreaLeft" fmla="*/ 0 w 232560"/>
                <a:gd name="textAreaRight" fmla="*/ 233280 w 232560"/>
                <a:gd name="textAreaTop" fmla="*/ 0 h 83160"/>
                <a:gd name="textAreaBottom" fmla="*/ 83880 h 83160"/>
              </a:gdLst>
              <a:ahLst/>
              <a:cxnLst/>
              <a:rect l="textAreaLeft" t="textAreaTop" r="textAreaRight" b="textAreaBottom"/>
              <a:pathLst>
                <a:path w="233172" h="83942">
                  <a:moveTo>
                    <a:pt x="0" y="0"/>
                  </a:moveTo>
                  <a:lnTo>
                    <a:pt x="167884" y="0"/>
                  </a:lnTo>
                  <a:lnTo>
                    <a:pt x="233172" y="83942"/>
                  </a:lnTo>
                  <a:lnTo>
                    <a:pt x="0" y="83942"/>
                  </a:lnTo>
                  <a:close/>
                </a:path>
              </a:pathLst>
            </a:custGeom>
            <a:solidFill>
              <a:srgbClr val="FFFFFF"/>
            </a:solidFill>
            <a:ln>
              <a:noFill/>
            </a:ln>
          </p:spPr>
          <p:style>
            <a:lnRef idx="1">
              <a:schemeClr val="accent1"/>
            </a:lnRef>
            <a:fillRef idx="3">
              <a:schemeClr val="accent1"/>
            </a:fillRef>
            <a:effectRef idx="2">
              <a:schemeClr val="accent1"/>
            </a:effectRef>
            <a:fontRef idx="minor"/>
          </p:style>
          <p:txBody>
            <a:bodyPr lIns="90000" tIns="38880" rIns="90000" bIns="38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295" name="Oval 15"/>
            <p:cNvSpPr/>
            <p:nvPr/>
          </p:nvSpPr>
          <p:spPr>
            <a:xfrm>
              <a:off x="202428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296" name="Oval 16"/>
            <p:cNvSpPr/>
            <p:nvPr/>
          </p:nvSpPr>
          <p:spPr>
            <a:xfrm>
              <a:off x="2038320" y="1357560"/>
              <a:ext cx="148680" cy="14868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297" name="Oval 17"/>
            <p:cNvSpPr/>
            <p:nvPr/>
          </p:nvSpPr>
          <p:spPr>
            <a:xfrm>
              <a:off x="208296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298" name="Oval 18"/>
            <p:cNvSpPr/>
            <p:nvPr/>
          </p:nvSpPr>
          <p:spPr>
            <a:xfrm>
              <a:off x="257472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299" name="Oval 19"/>
            <p:cNvSpPr/>
            <p:nvPr/>
          </p:nvSpPr>
          <p:spPr>
            <a:xfrm>
              <a:off x="2588400" y="1357560"/>
              <a:ext cx="148680" cy="14868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00" name="Oval 20"/>
            <p:cNvSpPr/>
            <p:nvPr/>
          </p:nvSpPr>
          <p:spPr>
            <a:xfrm>
              <a:off x="263340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grpSp>
      <p:grpSp>
        <p:nvGrpSpPr>
          <p:cNvPr id="301" name="camioneta_3"/>
          <p:cNvGrpSpPr/>
          <p:nvPr/>
        </p:nvGrpSpPr>
        <p:grpSpPr>
          <a:xfrm>
            <a:off x="2977920" y="1161720"/>
            <a:ext cx="932040" cy="358200"/>
            <a:chOff x="2977920" y="1161720"/>
            <a:chExt cx="932040" cy="358200"/>
          </a:xfrm>
        </p:grpSpPr>
        <p:sp>
          <p:nvSpPr>
            <p:cNvPr id="302" name="Freeform 22"/>
            <p:cNvSpPr/>
            <p:nvPr/>
          </p:nvSpPr>
          <p:spPr>
            <a:xfrm>
              <a:off x="2977920" y="1161720"/>
              <a:ext cx="932040" cy="260280"/>
            </a:xfrm>
            <a:custGeom>
              <a:avLst/>
              <a:gdLst>
                <a:gd name="textAreaLeft" fmla="*/ 0 w 932040"/>
                <a:gd name="textAreaRight" fmla="*/ 932760 w 932040"/>
                <a:gd name="textAreaTop" fmla="*/ 0 h 260280"/>
                <a:gd name="textAreaBottom" fmla="*/ 261000 h 260280"/>
              </a:gdLst>
              <a:ahLst/>
              <a:cxnLst/>
              <a:rect l="textAreaLeft" t="textAreaTop" r="textAreaRight" b="textAreaBottom"/>
              <a:pathLst>
                <a:path w="932688" h="261153">
                  <a:moveTo>
                    <a:pt x="0" y="261153"/>
                  </a:moveTo>
                  <a:lnTo>
                    <a:pt x="0" y="158557"/>
                  </a:lnTo>
                  <a:lnTo>
                    <a:pt x="27981" y="139903"/>
                  </a:lnTo>
                  <a:lnTo>
                    <a:pt x="410383" y="139903"/>
                  </a:lnTo>
                  <a:lnTo>
                    <a:pt x="429037" y="27981"/>
                  </a:lnTo>
                  <a:lnTo>
                    <a:pt x="466344" y="0"/>
                  </a:lnTo>
                  <a:lnTo>
                    <a:pt x="652882" y="0"/>
                  </a:lnTo>
                  <a:lnTo>
                    <a:pt x="690189" y="18654"/>
                  </a:lnTo>
                  <a:lnTo>
                    <a:pt x="774131" y="121250"/>
                  </a:lnTo>
                  <a:lnTo>
                    <a:pt x="904707" y="149230"/>
                  </a:lnTo>
                  <a:lnTo>
                    <a:pt x="932688" y="177211"/>
                  </a:lnTo>
                  <a:lnTo>
                    <a:pt x="932688" y="261153"/>
                  </a:lnTo>
                  <a:close/>
                </a:path>
              </a:pathLst>
            </a:cu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03" name="Freeform 23"/>
            <p:cNvSpPr/>
            <p:nvPr/>
          </p:nvSpPr>
          <p:spPr>
            <a:xfrm>
              <a:off x="3453480" y="1198800"/>
              <a:ext cx="232560" cy="83160"/>
            </a:xfrm>
            <a:custGeom>
              <a:avLst/>
              <a:gdLst>
                <a:gd name="textAreaLeft" fmla="*/ 0 w 232560"/>
                <a:gd name="textAreaRight" fmla="*/ 233280 w 232560"/>
                <a:gd name="textAreaTop" fmla="*/ 0 h 83160"/>
                <a:gd name="textAreaBottom" fmla="*/ 83880 h 83160"/>
              </a:gdLst>
              <a:ahLst/>
              <a:cxnLst/>
              <a:rect l="textAreaLeft" t="textAreaTop" r="textAreaRight" b="textAreaBottom"/>
              <a:pathLst>
                <a:path w="233172" h="83942">
                  <a:moveTo>
                    <a:pt x="0" y="0"/>
                  </a:moveTo>
                  <a:lnTo>
                    <a:pt x="167884" y="0"/>
                  </a:lnTo>
                  <a:lnTo>
                    <a:pt x="233172" y="83942"/>
                  </a:lnTo>
                  <a:lnTo>
                    <a:pt x="0" y="83942"/>
                  </a:lnTo>
                  <a:close/>
                </a:path>
              </a:pathLst>
            </a:custGeom>
            <a:solidFill>
              <a:srgbClr val="FFFFFF"/>
            </a:solidFill>
            <a:ln>
              <a:noFill/>
            </a:ln>
          </p:spPr>
          <p:style>
            <a:lnRef idx="1">
              <a:schemeClr val="accent1"/>
            </a:lnRef>
            <a:fillRef idx="3">
              <a:schemeClr val="accent1"/>
            </a:fillRef>
            <a:effectRef idx="2">
              <a:schemeClr val="accent1"/>
            </a:effectRef>
            <a:fontRef idx="minor"/>
          </p:style>
          <p:txBody>
            <a:bodyPr lIns="90000" tIns="38880" rIns="90000" bIns="38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04" name="Oval 24"/>
            <p:cNvSpPr/>
            <p:nvPr/>
          </p:nvSpPr>
          <p:spPr>
            <a:xfrm>
              <a:off x="308484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05" name="Oval 25"/>
            <p:cNvSpPr/>
            <p:nvPr/>
          </p:nvSpPr>
          <p:spPr>
            <a:xfrm>
              <a:off x="3098880" y="1357560"/>
              <a:ext cx="148680" cy="14868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06" name="Oval 26"/>
            <p:cNvSpPr/>
            <p:nvPr/>
          </p:nvSpPr>
          <p:spPr>
            <a:xfrm>
              <a:off x="314388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07" name="Oval 27"/>
            <p:cNvSpPr/>
            <p:nvPr/>
          </p:nvSpPr>
          <p:spPr>
            <a:xfrm>
              <a:off x="363528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08" name="Oval 28"/>
            <p:cNvSpPr/>
            <p:nvPr/>
          </p:nvSpPr>
          <p:spPr>
            <a:xfrm>
              <a:off x="3649320" y="1357560"/>
              <a:ext cx="148680" cy="14868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09" name="Oval 29"/>
            <p:cNvSpPr/>
            <p:nvPr/>
          </p:nvSpPr>
          <p:spPr>
            <a:xfrm>
              <a:off x="369396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grpSp>
      <p:grpSp>
        <p:nvGrpSpPr>
          <p:cNvPr id="310" name="camioneta_4"/>
          <p:cNvGrpSpPr/>
          <p:nvPr/>
        </p:nvGrpSpPr>
        <p:grpSpPr>
          <a:xfrm>
            <a:off x="4038480" y="1161720"/>
            <a:ext cx="932040" cy="358200"/>
            <a:chOff x="4038480" y="1161720"/>
            <a:chExt cx="932040" cy="358200"/>
          </a:xfrm>
        </p:grpSpPr>
        <p:sp>
          <p:nvSpPr>
            <p:cNvPr id="311" name="Freeform 31"/>
            <p:cNvSpPr/>
            <p:nvPr/>
          </p:nvSpPr>
          <p:spPr>
            <a:xfrm>
              <a:off x="4038480" y="1161720"/>
              <a:ext cx="932040" cy="260280"/>
            </a:xfrm>
            <a:custGeom>
              <a:avLst/>
              <a:gdLst>
                <a:gd name="textAreaLeft" fmla="*/ 0 w 932040"/>
                <a:gd name="textAreaRight" fmla="*/ 932760 w 932040"/>
                <a:gd name="textAreaTop" fmla="*/ 0 h 260280"/>
                <a:gd name="textAreaBottom" fmla="*/ 261000 h 260280"/>
              </a:gdLst>
              <a:ahLst/>
              <a:cxnLst/>
              <a:rect l="textAreaLeft" t="textAreaTop" r="textAreaRight" b="textAreaBottom"/>
              <a:pathLst>
                <a:path w="932688" h="261153">
                  <a:moveTo>
                    <a:pt x="0" y="261153"/>
                  </a:moveTo>
                  <a:lnTo>
                    <a:pt x="0" y="158557"/>
                  </a:lnTo>
                  <a:lnTo>
                    <a:pt x="27981" y="139903"/>
                  </a:lnTo>
                  <a:lnTo>
                    <a:pt x="410383" y="139903"/>
                  </a:lnTo>
                  <a:lnTo>
                    <a:pt x="429037" y="27981"/>
                  </a:lnTo>
                  <a:lnTo>
                    <a:pt x="466344" y="0"/>
                  </a:lnTo>
                  <a:lnTo>
                    <a:pt x="652882" y="0"/>
                  </a:lnTo>
                  <a:lnTo>
                    <a:pt x="690189" y="18654"/>
                  </a:lnTo>
                  <a:lnTo>
                    <a:pt x="774131" y="121250"/>
                  </a:lnTo>
                  <a:lnTo>
                    <a:pt x="904707" y="149230"/>
                  </a:lnTo>
                  <a:lnTo>
                    <a:pt x="932688" y="177211"/>
                  </a:lnTo>
                  <a:lnTo>
                    <a:pt x="932688" y="261153"/>
                  </a:lnTo>
                  <a:close/>
                </a:path>
              </a:pathLst>
            </a:cu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12" name="Freeform 32"/>
            <p:cNvSpPr/>
            <p:nvPr/>
          </p:nvSpPr>
          <p:spPr>
            <a:xfrm>
              <a:off x="4514040" y="1198800"/>
              <a:ext cx="232560" cy="83160"/>
            </a:xfrm>
            <a:custGeom>
              <a:avLst/>
              <a:gdLst>
                <a:gd name="textAreaLeft" fmla="*/ 0 w 232560"/>
                <a:gd name="textAreaRight" fmla="*/ 233280 w 232560"/>
                <a:gd name="textAreaTop" fmla="*/ 0 h 83160"/>
                <a:gd name="textAreaBottom" fmla="*/ 83880 h 83160"/>
              </a:gdLst>
              <a:ahLst/>
              <a:cxnLst/>
              <a:rect l="textAreaLeft" t="textAreaTop" r="textAreaRight" b="textAreaBottom"/>
              <a:pathLst>
                <a:path w="233172" h="83942">
                  <a:moveTo>
                    <a:pt x="0" y="0"/>
                  </a:moveTo>
                  <a:lnTo>
                    <a:pt x="167884" y="0"/>
                  </a:lnTo>
                  <a:lnTo>
                    <a:pt x="233172" y="83942"/>
                  </a:lnTo>
                  <a:lnTo>
                    <a:pt x="0" y="83942"/>
                  </a:lnTo>
                  <a:close/>
                </a:path>
              </a:pathLst>
            </a:custGeom>
            <a:solidFill>
              <a:srgbClr val="FFFFFF"/>
            </a:solidFill>
            <a:ln>
              <a:noFill/>
            </a:ln>
          </p:spPr>
          <p:style>
            <a:lnRef idx="1">
              <a:schemeClr val="accent1"/>
            </a:lnRef>
            <a:fillRef idx="3">
              <a:schemeClr val="accent1"/>
            </a:fillRef>
            <a:effectRef idx="2">
              <a:schemeClr val="accent1"/>
            </a:effectRef>
            <a:fontRef idx="minor"/>
          </p:style>
          <p:txBody>
            <a:bodyPr lIns="90000" tIns="38880" rIns="90000" bIns="38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13" name="Oval 33"/>
            <p:cNvSpPr/>
            <p:nvPr/>
          </p:nvSpPr>
          <p:spPr>
            <a:xfrm>
              <a:off x="414576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14" name="Oval 34"/>
            <p:cNvSpPr/>
            <p:nvPr/>
          </p:nvSpPr>
          <p:spPr>
            <a:xfrm>
              <a:off x="4159800" y="1357560"/>
              <a:ext cx="148680" cy="14868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15" name="Oval 35"/>
            <p:cNvSpPr/>
            <p:nvPr/>
          </p:nvSpPr>
          <p:spPr>
            <a:xfrm>
              <a:off x="420444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16" name="Oval 36"/>
            <p:cNvSpPr/>
            <p:nvPr/>
          </p:nvSpPr>
          <p:spPr>
            <a:xfrm>
              <a:off x="469584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17" name="Oval 37"/>
            <p:cNvSpPr/>
            <p:nvPr/>
          </p:nvSpPr>
          <p:spPr>
            <a:xfrm>
              <a:off x="4709880" y="1357560"/>
              <a:ext cx="148680" cy="14868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18" name="Oval 38"/>
            <p:cNvSpPr/>
            <p:nvPr/>
          </p:nvSpPr>
          <p:spPr>
            <a:xfrm>
              <a:off x="475488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grpSp>
      <p:grpSp>
        <p:nvGrpSpPr>
          <p:cNvPr id="319" name="camioneta_5"/>
          <p:cNvGrpSpPr/>
          <p:nvPr/>
        </p:nvGrpSpPr>
        <p:grpSpPr>
          <a:xfrm>
            <a:off x="5099040" y="1161720"/>
            <a:ext cx="932040" cy="358200"/>
            <a:chOff x="5099040" y="1161720"/>
            <a:chExt cx="932040" cy="358200"/>
          </a:xfrm>
        </p:grpSpPr>
        <p:sp>
          <p:nvSpPr>
            <p:cNvPr id="320" name="Freeform 40"/>
            <p:cNvSpPr/>
            <p:nvPr/>
          </p:nvSpPr>
          <p:spPr>
            <a:xfrm>
              <a:off x="5099040" y="1161720"/>
              <a:ext cx="932040" cy="260280"/>
            </a:xfrm>
            <a:custGeom>
              <a:avLst/>
              <a:gdLst>
                <a:gd name="textAreaLeft" fmla="*/ 0 w 932040"/>
                <a:gd name="textAreaRight" fmla="*/ 932760 w 932040"/>
                <a:gd name="textAreaTop" fmla="*/ 0 h 260280"/>
                <a:gd name="textAreaBottom" fmla="*/ 261000 h 260280"/>
              </a:gdLst>
              <a:ahLst/>
              <a:cxnLst/>
              <a:rect l="textAreaLeft" t="textAreaTop" r="textAreaRight" b="textAreaBottom"/>
              <a:pathLst>
                <a:path w="932688" h="261153">
                  <a:moveTo>
                    <a:pt x="0" y="261153"/>
                  </a:moveTo>
                  <a:lnTo>
                    <a:pt x="0" y="158557"/>
                  </a:lnTo>
                  <a:lnTo>
                    <a:pt x="27981" y="139903"/>
                  </a:lnTo>
                  <a:lnTo>
                    <a:pt x="410383" y="139903"/>
                  </a:lnTo>
                  <a:lnTo>
                    <a:pt x="429037" y="27981"/>
                  </a:lnTo>
                  <a:lnTo>
                    <a:pt x="466344" y="0"/>
                  </a:lnTo>
                  <a:lnTo>
                    <a:pt x="652882" y="0"/>
                  </a:lnTo>
                  <a:lnTo>
                    <a:pt x="690189" y="18654"/>
                  </a:lnTo>
                  <a:lnTo>
                    <a:pt x="774131" y="121250"/>
                  </a:lnTo>
                  <a:lnTo>
                    <a:pt x="904707" y="149230"/>
                  </a:lnTo>
                  <a:lnTo>
                    <a:pt x="932688" y="177211"/>
                  </a:lnTo>
                  <a:lnTo>
                    <a:pt x="932688" y="261153"/>
                  </a:lnTo>
                  <a:close/>
                </a:path>
              </a:pathLst>
            </a:cu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21" name="Freeform 41"/>
            <p:cNvSpPr/>
            <p:nvPr/>
          </p:nvSpPr>
          <p:spPr>
            <a:xfrm>
              <a:off x="5574960" y="1198800"/>
              <a:ext cx="232560" cy="83160"/>
            </a:xfrm>
            <a:custGeom>
              <a:avLst/>
              <a:gdLst>
                <a:gd name="textAreaLeft" fmla="*/ 0 w 232560"/>
                <a:gd name="textAreaRight" fmla="*/ 233280 w 232560"/>
                <a:gd name="textAreaTop" fmla="*/ 0 h 83160"/>
                <a:gd name="textAreaBottom" fmla="*/ 83880 h 83160"/>
              </a:gdLst>
              <a:ahLst/>
              <a:cxnLst/>
              <a:rect l="textAreaLeft" t="textAreaTop" r="textAreaRight" b="textAreaBottom"/>
              <a:pathLst>
                <a:path w="233172" h="83942">
                  <a:moveTo>
                    <a:pt x="0" y="0"/>
                  </a:moveTo>
                  <a:lnTo>
                    <a:pt x="167884" y="0"/>
                  </a:lnTo>
                  <a:lnTo>
                    <a:pt x="233172" y="83942"/>
                  </a:lnTo>
                  <a:lnTo>
                    <a:pt x="0" y="83942"/>
                  </a:lnTo>
                  <a:close/>
                </a:path>
              </a:pathLst>
            </a:custGeom>
            <a:solidFill>
              <a:srgbClr val="FFFFFF"/>
            </a:solidFill>
            <a:ln>
              <a:noFill/>
            </a:ln>
          </p:spPr>
          <p:style>
            <a:lnRef idx="1">
              <a:schemeClr val="accent1"/>
            </a:lnRef>
            <a:fillRef idx="3">
              <a:schemeClr val="accent1"/>
            </a:fillRef>
            <a:effectRef idx="2">
              <a:schemeClr val="accent1"/>
            </a:effectRef>
            <a:fontRef idx="minor"/>
          </p:style>
          <p:txBody>
            <a:bodyPr lIns="90000" tIns="38880" rIns="90000" bIns="38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22" name="Oval 42"/>
            <p:cNvSpPr/>
            <p:nvPr/>
          </p:nvSpPr>
          <p:spPr>
            <a:xfrm>
              <a:off x="520632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23" name="Oval 43"/>
            <p:cNvSpPr/>
            <p:nvPr/>
          </p:nvSpPr>
          <p:spPr>
            <a:xfrm>
              <a:off x="5220360" y="1357560"/>
              <a:ext cx="148680" cy="14868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24" name="Oval 44"/>
            <p:cNvSpPr/>
            <p:nvPr/>
          </p:nvSpPr>
          <p:spPr>
            <a:xfrm>
              <a:off x="526500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25" name="Oval 45"/>
            <p:cNvSpPr/>
            <p:nvPr/>
          </p:nvSpPr>
          <p:spPr>
            <a:xfrm>
              <a:off x="575676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26" name="Oval 46"/>
            <p:cNvSpPr/>
            <p:nvPr/>
          </p:nvSpPr>
          <p:spPr>
            <a:xfrm>
              <a:off x="5770800" y="1357560"/>
              <a:ext cx="148680" cy="14868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27" name="Oval 47"/>
            <p:cNvSpPr/>
            <p:nvPr/>
          </p:nvSpPr>
          <p:spPr>
            <a:xfrm>
              <a:off x="581544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grpSp>
      <p:grpSp>
        <p:nvGrpSpPr>
          <p:cNvPr id="328" name="camioneta_6"/>
          <p:cNvGrpSpPr/>
          <p:nvPr/>
        </p:nvGrpSpPr>
        <p:grpSpPr>
          <a:xfrm>
            <a:off x="6159960" y="1161720"/>
            <a:ext cx="932040" cy="358200"/>
            <a:chOff x="6159960" y="1161720"/>
            <a:chExt cx="932040" cy="358200"/>
          </a:xfrm>
        </p:grpSpPr>
        <p:sp>
          <p:nvSpPr>
            <p:cNvPr id="329" name="Freeform 49"/>
            <p:cNvSpPr/>
            <p:nvPr/>
          </p:nvSpPr>
          <p:spPr>
            <a:xfrm>
              <a:off x="6159960" y="1161720"/>
              <a:ext cx="932040" cy="260280"/>
            </a:xfrm>
            <a:custGeom>
              <a:avLst/>
              <a:gdLst>
                <a:gd name="textAreaLeft" fmla="*/ 0 w 932040"/>
                <a:gd name="textAreaRight" fmla="*/ 932760 w 932040"/>
                <a:gd name="textAreaTop" fmla="*/ 0 h 260280"/>
                <a:gd name="textAreaBottom" fmla="*/ 261000 h 260280"/>
              </a:gdLst>
              <a:ahLst/>
              <a:cxnLst/>
              <a:rect l="textAreaLeft" t="textAreaTop" r="textAreaRight" b="textAreaBottom"/>
              <a:pathLst>
                <a:path w="932688" h="261153">
                  <a:moveTo>
                    <a:pt x="0" y="261153"/>
                  </a:moveTo>
                  <a:lnTo>
                    <a:pt x="0" y="158557"/>
                  </a:lnTo>
                  <a:lnTo>
                    <a:pt x="27981" y="139903"/>
                  </a:lnTo>
                  <a:lnTo>
                    <a:pt x="410383" y="139903"/>
                  </a:lnTo>
                  <a:lnTo>
                    <a:pt x="429037" y="27981"/>
                  </a:lnTo>
                  <a:lnTo>
                    <a:pt x="466344" y="0"/>
                  </a:lnTo>
                  <a:lnTo>
                    <a:pt x="652882" y="0"/>
                  </a:lnTo>
                  <a:lnTo>
                    <a:pt x="690189" y="18654"/>
                  </a:lnTo>
                  <a:lnTo>
                    <a:pt x="774131" y="121250"/>
                  </a:lnTo>
                  <a:lnTo>
                    <a:pt x="904707" y="149230"/>
                  </a:lnTo>
                  <a:lnTo>
                    <a:pt x="932688" y="177211"/>
                  </a:lnTo>
                  <a:lnTo>
                    <a:pt x="932688" y="261153"/>
                  </a:lnTo>
                  <a:close/>
                </a:path>
              </a:pathLst>
            </a:cu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30" name="Freeform 50"/>
            <p:cNvSpPr/>
            <p:nvPr/>
          </p:nvSpPr>
          <p:spPr>
            <a:xfrm>
              <a:off x="6635520" y="1198800"/>
              <a:ext cx="232560" cy="83160"/>
            </a:xfrm>
            <a:custGeom>
              <a:avLst/>
              <a:gdLst>
                <a:gd name="textAreaLeft" fmla="*/ 0 w 232560"/>
                <a:gd name="textAreaRight" fmla="*/ 233280 w 232560"/>
                <a:gd name="textAreaTop" fmla="*/ 0 h 83160"/>
                <a:gd name="textAreaBottom" fmla="*/ 83880 h 83160"/>
              </a:gdLst>
              <a:ahLst/>
              <a:cxnLst/>
              <a:rect l="textAreaLeft" t="textAreaTop" r="textAreaRight" b="textAreaBottom"/>
              <a:pathLst>
                <a:path w="233172" h="83942">
                  <a:moveTo>
                    <a:pt x="0" y="0"/>
                  </a:moveTo>
                  <a:lnTo>
                    <a:pt x="167884" y="0"/>
                  </a:lnTo>
                  <a:lnTo>
                    <a:pt x="233172" y="83942"/>
                  </a:lnTo>
                  <a:lnTo>
                    <a:pt x="0" y="83942"/>
                  </a:lnTo>
                  <a:close/>
                </a:path>
              </a:pathLst>
            </a:custGeom>
            <a:solidFill>
              <a:srgbClr val="FFFFFF"/>
            </a:solidFill>
            <a:ln>
              <a:noFill/>
            </a:ln>
          </p:spPr>
          <p:style>
            <a:lnRef idx="1">
              <a:schemeClr val="accent1"/>
            </a:lnRef>
            <a:fillRef idx="3">
              <a:schemeClr val="accent1"/>
            </a:fillRef>
            <a:effectRef idx="2">
              <a:schemeClr val="accent1"/>
            </a:effectRef>
            <a:fontRef idx="minor"/>
          </p:style>
          <p:txBody>
            <a:bodyPr lIns="90000" tIns="38880" rIns="90000" bIns="38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31" name="Oval 51"/>
            <p:cNvSpPr/>
            <p:nvPr/>
          </p:nvSpPr>
          <p:spPr>
            <a:xfrm>
              <a:off x="626724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32" name="Oval 52"/>
            <p:cNvSpPr/>
            <p:nvPr/>
          </p:nvSpPr>
          <p:spPr>
            <a:xfrm>
              <a:off x="6281280" y="1357560"/>
              <a:ext cx="148680" cy="14868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33" name="Oval 53"/>
            <p:cNvSpPr/>
            <p:nvPr/>
          </p:nvSpPr>
          <p:spPr>
            <a:xfrm>
              <a:off x="632592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34" name="Oval 54"/>
            <p:cNvSpPr/>
            <p:nvPr/>
          </p:nvSpPr>
          <p:spPr>
            <a:xfrm>
              <a:off x="681732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35" name="Oval 55"/>
            <p:cNvSpPr/>
            <p:nvPr/>
          </p:nvSpPr>
          <p:spPr>
            <a:xfrm>
              <a:off x="6831360" y="1357560"/>
              <a:ext cx="148680" cy="14868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36" name="Oval 56"/>
            <p:cNvSpPr/>
            <p:nvPr/>
          </p:nvSpPr>
          <p:spPr>
            <a:xfrm>
              <a:off x="687600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grpSp>
      <p:grpSp>
        <p:nvGrpSpPr>
          <p:cNvPr id="337" name="camioneta_7"/>
          <p:cNvGrpSpPr/>
          <p:nvPr/>
        </p:nvGrpSpPr>
        <p:grpSpPr>
          <a:xfrm>
            <a:off x="7220520" y="1161720"/>
            <a:ext cx="932040" cy="358200"/>
            <a:chOff x="7220520" y="1161720"/>
            <a:chExt cx="932040" cy="358200"/>
          </a:xfrm>
        </p:grpSpPr>
        <p:sp>
          <p:nvSpPr>
            <p:cNvPr id="338" name="Freeform 58"/>
            <p:cNvSpPr/>
            <p:nvPr/>
          </p:nvSpPr>
          <p:spPr>
            <a:xfrm>
              <a:off x="7220520" y="1161720"/>
              <a:ext cx="932040" cy="260280"/>
            </a:xfrm>
            <a:custGeom>
              <a:avLst/>
              <a:gdLst>
                <a:gd name="textAreaLeft" fmla="*/ 0 w 932040"/>
                <a:gd name="textAreaRight" fmla="*/ 932760 w 932040"/>
                <a:gd name="textAreaTop" fmla="*/ 0 h 260280"/>
                <a:gd name="textAreaBottom" fmla="*/ 261000 h 260280"/>
              </a:gdLst>
              <a:ahLst/>
              <a:cxnLst/>
              <a:rect l="textAreaLeft" t="textAreaTop" r="textAreaRight" b="textAreaBottom"/>
              <a:pathLst>
                <a:path w="932688" h="261153">
                  <a:moveTo>
                    <a:pt x="0" y="261153"/>
                  </a:moveTo>
                  <a:lnTo>
                    <a:pt x="0" y="158557"/>
                  </a:lnTo>
                  <a:lnTo>
                    <a:pt x="27981" y="139903"/>
                  </a:lnTo>
                  <a:lnTo>
                    <a:pt x="410383" y="139903"/>
                  </a:lnTo>
                  <a:lnTo>
                    <a:pt x="429037" y="27981"/>
                  </a:lnTo>
                  <a:lnTo>
                    <a:pt x="466344" y="0"/>
                  </a:lnTo>
                  <a:lnTo>
                    <a:pt x="652882" y="0"/>
                  </a:lnTo>
                  <a:lnTo>
                    <a:pt x="690189" y="18654"/>
                  </a:lnTo>
                  <a:lnTo>
                    <a:pt x="774131" y="121250"/>
                  </a:lnTo>
                  <a:lnTo>
                    <a:pt x="904707" y="149230"/>
                  </a:lnTo>
                  <a:lnTo>
                    <a:pt x="932688" y="177211"/>
                  </a:lnTo>
                  <a:lnTo>
                    <a:pt x="932688" y="261153"/>
                  </a:lnTo>
                  <a:close/>
                </a:path>
              </a:pathLst>
            </a:cu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39" name="Freeform 59"/>
            <p:cNvSpPr/>
            <p:nvPr/>
          </p:nvSpPr>
          <p:spPr>
            <a:xfrm>
              <a:off x="7696080" y="1198800"/>
              <a:ext cx="232560" cy="83160"/>
            </a:xfrm>
            <a:custGeom>
              <a:avLst/>
              <a:gdLst>
                <a:gd name="textAreaLeft" fmla="*/ 0 w 232560"/>
                <a:gd name="textAreaRight" fmla="*/ 233280 w 232560"/>
                <a:gd name="textAreaTop" fmla="*/ 0 h 83160"/>
                <a:gd name="textAreaBottom" fmla="*/ 83880 h 83160"/>
              </a:gdLst>
              <a:ahLst/>
              <a:cxnLst/>
              <a:rect l="textAreaLeft" t="textAreaTop" r="textAreaRight" b="textAreaBottom"/>
              <a:pathLst>
                <a:path w="233172" h="83942">
                  <a:moveTo>
                    <a:pt x="0" y="0"/>
                  </a:moveTo>
                  <a:lnTo>
                    <a:pt x="167884" y="0"/>
                  </a:lnTo>
                  <a:lnTo>
                    <a:pt x="233172" y="83942"/>
                  </a:lnTo>
                  <a:lnTo>
                    <a:pt x="0" y="83942"/>
                  </a:lnTo>
                  <a:close/>
                </a:path>
              </a:pathLst>
            </a:custGeom>
            <a:solidFill>
              <a:srgbClr val="FFFFFF"/>
            </a:solidFill>
            <a:ln>
              <a:noFill/>
            </a:ln>
          </p:spPr>
          <p:style>
            <a:lnRef idx="1">
              <a:schemeClr val="accent1"/>
            </a:lnRef>
            <a:fillRef idx="3">
              <a:schemeClr val="accent1"/>
            </a:fillRef>
            <a:effectRef idx="2">
              <a:schemeClr val="accent1"/>
            </a:effectRef>
            <a:fontRef idx="minor"/>
          </p:style>
          <p:txBody>
            <a:bodyPr lIns="90000" tIns="38880" rIns="90000" bIns="38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40" name="Oval 60"/>
            <p:cNvSpPr/>
            <p:nvPr/>
          </p:nvSpPr>
          <p:spPr>
            <a:xfrm>
              <a:off x="732780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41" name="Oval 61"/>
            <p:cNvSpPr/>
            <p:nvPr/>
          </p:nvSpPr>
          <p:spPr>
            <a:xfrm>
              <a:off x="7341840" y="1357560"/>
              <a:ext cx="148680" cy="14868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42" name="Oval 62"/>
            <p:cNvSpPr/>
            <p:nvPr/>
          </p:nvSpPr>
          <p:spPr>
            <a:xfrm>
              <a:off x="738648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43" name="Oval 63"/>
            <p:cNvSpPr/>
            <p:nvPr/>
          </p:nvSpPr>
          <p:spPr>
            <a:xfrm>
              <a:off x="787824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44" name="Oval 64"/>
            <p:cNvSpPr/>
            <p:nvPr/>
          </p:nvSpPr>
          <p:spPr>
            <a:xfrm>
              <a:off x="7891920" y="1357560"/>
              <a:ext cx="148680" cy="14868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45" name="Oval 65"/>
            <p:cNvSpPr/>
            <p:nvPr/>
          </p:nvSpPr>
          <p:spPr>
            <a:xfrm>
              <a:off x="793692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grpSp>
      <p:grpSp>
        <p:nvGrpSpPr>
          <p:cNvPr id="346" name="camioneta_8"/>
          <p:cNvGrpSpPr/>
          <p:nvPr/>
        </p:nvGrpSpPr>
        <p:grpSpPr>
          <a:xfrm>
            <a:off x="8281440" y="1161720"/>
            <a:ext cx="932040" cy="358200"/>
            <a:chOff x="8281440" y="1161720"/>
            <a:chExt cx="932040" cy="358200"/>
          </a:xfrm>
        </p:grpSpPr>
        <p:sp>
          <p:nvSpPr>
            <p:cNvPr id="347" name="Freeform 67"/>
            <p:cNvSpPr/>
            <p:nvPr/>
          </p:nvSpPr>
          <p:spPr>
            <a:xfrm>
              <a:off x="8281440" y="1161720"/>
              <a:ext cx="932040" cy="260280"/>
            </a:xfrm>
            <a:custGeom>
              <a:avLst/>
              <a:gdLst>
                <a:gd name="textAreaLeft" fmla="*/ 0 w 932040"/>
                <a:gd name="textAreaRight" fmla="*/ 932760 w 932040"/>
                <a:gd name="textAreaTop" fmla="*/ 0 h 260280"/>
                <a:gd name="textAreaBottom" fmla="*/ 261000 h 260280"/>
              </a:gdLst>
              <a:ahLst/>
              <a:cxnLst/>
              <a:rect l="textAreaLeft" t="textAreaTop" r="textAreaRight" b="textAreaBottom"/>
              <a:pathLst>
                <a:path w="932688" h="261153">
                  <a:moveTo>
                    <a:pt x="0" y="261153"/>
                  </a:moveTo>
                  <a:lnTo>
                    <a:pt x="0" y="158557"/>
                  </a:lnTo>
                  <a:lnTo>
                    <a:pt x="27981" y="139903"/>
                  </a:lnTo>
                  <a:lnTo>
                    <a:pt x="410383" y="139903"/>
                  </a:lnTo>
                  <a:lnTo>
                    <a:pt x="429037" y="27981"/>
                  </a:lnTo>
                  <a:lnTo>
                    <a:pt x="466344" y="0"/>
                  </a:lnTo>
                  <a:lnTo>
                    <a:pt x="652882" y="0"/>
                  </a:lnTo>
                  <a:lnTo>
                    <a:pt x="690189" y="18654"/>
                  </a:lnTo>
                  <a:lnTo>
                    <a:pt x="774131" y="121250"/>
                  </a:lnTo>
                  <a:lnTo>
                    <a:pt x="904707" y="149230"/>
                  </a:lnTo>
                  <a:lnTo>
                    <a:pt x="932688" y="177211"/>
                  </a:lnTo>
                  <a:lnTo>
                    <a:pt x="932688" y="261153"/>
                  </a:lnTo>
                  <a:close/>
                </a:path>
              </a:pathLst>
            </a:cu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48" name="Freeform 68"/>
            <p:cNvSpPr/>
            <p:nvPr/>
          </p:nvSpPr>
          <p:spPr>
            <a:xfrm>
              <a:off x="8757000" y="1198800"/>
              <a:ext cx="232560" cy="83160"/>
            </a:xfrm>
            <a:custGeom>
              <a:avLst/>
              <a:gdLst>
                <a:gd name="textAreaLeft" fmla="*/ 0 w 232560"/>
                <a:gd name="textAreaRight" fmla="*/ 233280 w 232560"/>
                <a:gd name="textAreaTop" fmla="*/ 0 h 83160"/>
                <a:gd name="textAreaBottom" fmla="*/ 83880 h 83160"/>
              </a:gdLst>
              <a:ahLst/>
              <a:cxnLst/>
              <a:rect l="textAreaLeft" t="textAreaTop" r="textAreaRight" b="textAreaBottom"/>
              <a:pathLst>
                <a:path w="233172" h="83942">
                  <a:moveTo>
                    <a:pt x="0" y="0"/>
                  </a:moveTo>
                  <a:lnTo>
                    <a:pt x="167884" y="0"/>
                  </a:lnTo>
                  <a:lnTo>
                    <a:pt x="233172" y="83942"/>
                  </a:lnTo>
                  <a:lnTo>
                    <a:pt x="0" y="83942"/>
                  </a:lnTo>
                  <a:close/>
                </a:path>
              </a:pathLst>
            </a:custGeom>
            <a:solidFill>
              <a:srgbClr val="FFFFFF"/>
            </a:solidFill>
            <a:ln>
              <a:noFill/>
            </a:ln>
          </p:spPr>
          <p:style>
            <a:lnRef idx="1">
              <a:schemeClr val="accent1"/>
            </a:lnRef>
            <a:fillRef idx="3">
              <a:schemeClr val="accent1"/>
            </a:fillRef>
            <a:effectRef idx="2">
              <a:schemeClr val="accent1"/>
            </a:effectRef>
            <a:fontRef idx="minor"/>
          </p:style>
          <p:txBody>
            <a:bodyPr lIns="90000" tIns="38880" rIns="90000" bIns="38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49" name="Oval 69"/>
            <p:cNvSpPr/>
            <p:nvPr/>
          </p:nvSpPr>
          <p:spPr>
            <a:xfrm>
              <a:off x="838836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50" name="Oval 70"/>
            <p:cNvSpPr/>
            <p:nvPr/>
          </p:nvSpPr>
          <p:spPr>
            <a:xfrm>
              <a:off x="8402400" y="1357560"/>
              <a:ext cx="148680" cy="14868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51" name="Oval 71"/>
            <p:cNvSpPr/>
            <p:nvPr/>
          </p:nvSpPr>
          <p:spPr>
            <a:xfrm>
              <a:off x="844740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52" name="Oval 72"/>
            <p:cNvSpPr/>
            <p:nvPr/>
          </p:nvSpPr>
          <p:spPr>
            <a:xfrm>
              <a:off x="893880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53" name="Oval 73"/>
            <p:cNvSpPr/>
            <p:nvPr/>
          </p:nvSpPr>
          <p:spPr>
            <a:xfrm>
              <a:off x="8952840" y="1357560"/>
              <a:ext cx="148680" cy="14868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54" name="Oval 74"/>
            <p:cNvSpPr/>
            <p:nvPr/>
          </p:nvSpPr>
          <p:spPr>
            <a:xfrm>
              <a:off x="899748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grpSp>
      <p:grpSp>
        <p:nvGrpSpPr>
          <p:cNvPr id="355" name="camioneta_9"/>
          <p:cNvGrpSpPr/>
          <p:nvPr/>
        </p:nvGrpSpPr>
        <p:grpSpPr>
          <a:xfrm>
            <a:off x="9342000" y="1161720"/>
            <a:ext cx="932040" cy="358200"/>
            <a:chOff x="9342000" y="1161720"/>
            <a:chExt cx="932040" cy="358200"/>
          </a:xfrm>
        </p:grpSpPr>
        <p:sp>
          <p:nvSpPr>
            <p:cNvPr id="356" name="Freeform 76"/>
            <p:cNvSpPr/>
            <p:nvPr/>
          </p:nvSpPr>
          <p:spPr>
            <a:xfrm>
              <a:off x="9342000" y="1161720"/>
              <a:ext cx="932040" cy="260280"/>
            </a:xfrm>
            <a:custGeom>
              <a:avLst/>
              <a:gdLst>
                <a:gd name="textAreaLeft" fmla="*/ 0 w 932040"/>
                <a:gd name="textAreaRight" fmla="*/ 932760 w 932040"/>
                <a:gd name="textAreaTop" fmla="*/ 0 h 260280"/>
                <a:gd name="textAreaBottom" fmla="*/ 261000 h 260280"/>
              </a:gdLst>
              <a:ahLst/>
              <a:cxnLst/>
              <a:rect l="textAreaLeft" t="textAreaTop" r="textAreaRight" b="textAreaBottom"/>
              <a:pathLst>
                <a:path w="932688" h="261153">
                  <a:moveTo>
                    <a:pt x="0" y="261153"/>
                  </a:moveTo>
                  <a:lnTo>
                    <a:pt x="0" y="158557"/>
                  </a:lnTo>
                  <a:lnTo>
                    <a:pt x="27981" y="139903"/>
                  </a:lnTo>
                  <a:lnTo>
                    <a:pt x="410383" y="139903"/>
                  </a:lnTo>
                  <a:lnTo>
                    <a:pt x="429037" y="27981"/>
                  </a:lnTo>
                  <a:lnTo>
                    <a:pt x="466344" y="0"/>
                  </a:lnTo>
                  <a:lnTo>
                    <a:pt x="652882" y="0"/>
                  </a:lnTo>
                  <a:lnTo>
                    <a:pt x="690189" y="18654"/>
                  </a:lnTo>
                  <a:lnTo>
                    <a:pt x="774131" y="121250"/>
                  </a:lnTo>
                  <a:lnTo>
                    <a:pt x="904707" y="149230"/>
                  </a:lnTo>
                  <a:lnTo>
                    <a:pt x="932688" y="177211"/>
                  </a:lnTo>
                  <a:lnTo>
                    <a:pt x="932688" y="261153"/>
                  </a:lnTo>
                  <a:close/>
                </a:path>
              </a:pathLst>
            </a:cu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57" name="Freeform 77"/>
            <p:cNvSpPr/>
            <p:nvPr/>
          </p:nvSpPr>
          <p:spPr>
            <a:xfrm>
              <a:off x="9817560" y="1198800"/>
              <a:ext cx="232560" cy="83160"/>
            </a:xfrm>
            <a:custGeom>
              <a:avLst/>
              <a:gdLst>
                <a:gd name="textAreaLeft" fmla="*/ 0 w 232560"/>
                <a:gd name="textAreaRight" fmla="*/ 233280 w 232560"/>
                <a:gd name="textAreaTop" fmla="*/ 0 h 83160"/>
                <a:gd name="textAreaBottom" fmla="*/ 83880 h 83160"/>
              </a:gdLst>
              <a:ahLst/>
              <a:cxnLst/>
              <a:rect l="textAreaLeft" t="textAreaTop" r="textAreaRight" b="textAreaBottom"/>
              <a:pathLst>
                <a:path w="233172" h="83942">
                  <a:moveTo>
                    <a:pt x="0" y="0"/>
                  </a:moveTo>
                  <a:lnTo>
                    <a:pt x="167884" y="0"/>
                  </a:lnTo>
                  <a:lnTo>
                    <a:pt x="233172" y="83942"/>
                  </a:lnTo>
                  <a:lnTo>
                    <a:pt x="0" y="83942"/>
                  </a:lnTo>
                  <a:close/>
                </a:path>
              </a:pathLst>
            </a:custGeom>
            <a:solidFill>
              <a:srgbClr val="FFFFFF"/>
            </a:solidFill>
            <a:ln>
              <a:noFill/>
            </a:ln>
          </p:spPr>
          <p:style>
            <a:lnRef idx="1">
              <a:schemeClr val="accent1"/>
            </a:lnRef>
            <a:fillRef idx="3">
              <a:schemeClr val="accent1"/>
            </a:fillRef>
            <a:effectRef idx="2">
              <a:schemeClr val="accent1"/>
            </a:effectRef>
            <a:fontRef idx="minor"/>
          </p:style>
          <p:txBody>
            <a:bodyPr lIns="90000" tIns="38880" rIns="90000" bIns="38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58" name="Oval 78"/>
            <p:cNvSpPr/>
            <p:nvPr/>
          </p:nvSpPr>
          <p:spPr>
            <a:xfrm>
              <a:off x="944928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59" name="Oval 79"/>
            <p:cNvSpPr/>
            <p:nvPr/>
          </p:nvSpPr>
          <p:spPr>
            <a:xfrm>
              <a:off x="9463320" y="1357560"/>
              <a:ext cx="148680" cy="14868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60" name="Oval 80"/>
            <p:cNvSpPr/>
            <p:nvPr/>
          </p:nvSpPr>
          <p:spPr>
            <a:xfrm>
              <a:off x="950796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61" name="Oval 81"/>
            <p:cNvSpPr/>
            <p:nvPr/>
          </p:nvSpPr>
          <p:spPr>
            <a:xfrm>
              <a:off x="999936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62" name="Oval 82"/>
            <p:cNvSpPr/>
            <p:nvPr/>
          </p:nvSpPr>
          <p:spPr>
            <a:xfrm>
              <a:off x="10013400" y="1357560"/>
              <a:ext cx="148680" cy="14868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63" name="Oval 83"/>
            <p:cNvSpPr/>
            <p:nvPr/>
          </p:nvSpPr>
          <p:spPr>
            <a:xfrm>
              <a:off x="1005840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grpSp>
      <p:grpSp>
        <p:nvGrpSpPr>
          <p:cNvPr id="364" name="camioneta_10"/>
          <p:cNvGrpSpPr/>
          <p:nvPr/>
        </p:nvGrpSpPr>
        <p:grpSpPr>
          <a:xfrm>
            <a:off x="10402560" y="1161720"/>
            <a:ext cx="932040" cy="358200"/>
            <a:chOff x="10402560" y="1161720"/>
            <a:chExt cx="932040" cy="358200"/>
          </a:xfrm>
        </p:grpSpPr>
        <p:sp>
          <p:nvSpPr>
            <p:cNvPr id="365" name="Freeform 85"/>
            <p:cNvSpPr/>
            <p:nvPr/>
          </p:nvSpPr>
          <p:spPr>
            <a:xfrm>
              <a:off x="10402560" y="1161720"/>
              <a:ext cx="932040" cy="260280"/>
            </a:xfrm>
            <a:custGeom>
              <a:avLst/>
              <a:gdLst>
                <a:gd name="textAreaLeft" fmla="*/ 0 w 932040"/>
                <a:gd name="textAreaRight" fmla="*/ 932760 w 932040"/>
                <a:gd name="textAreaTop" fmla="*/ 0 h 260280"/>
                <a:gd name="textAreaBottom" fmla="*/ 261000 h 260280"/>
              </a:gdLst>
              <a:ahLst/>
              <a:cxnLst/>
              <a:rect l="textAreaLeft" t="textAreaTop" r="textAreaRight" b="textAreaBottom"/>
              <a:pathLst>
                <a:path w="932688" h="261153">
                  <a:moveTo>
                    <a:pt x="0" y="261153"/>
                  </a:moveTo>
                  <a:lnTo>
                    <a:pt x="0" y="158557"/>
                  </a:lnTo>
                  <a:lnTo>
                    <a:pt x="27981" y="139903"/>
                  </a:lnTo>
                  <a:lnTo>
                    <a:pt x="410383" y="139903"/>
                  </a:lnTo>
                  <a:lnTo>
                    <a:pt x="429037" y="27981"/>
                  </a:lnTo>
                  <a:lnTo>
                    <a:pt x="466344" y="0"/>
                  </a:lnTo>
                  <a:lnTo>
                    <a:pt x="652882" y="0"/>
                  </a:lnTo>
                  <a:lnTo>
                    <a:pt x="690189" y="18654"/>
                  </a:lnTo>
                  <a:lnTo>
                    <a:pt x="774131" y="121250"/>
                  </a:lnTo>
                  <a:lnTo>
                    <a:pt x="904707" y="149230"/>
                  </a:lnTo>
                  <a:lnTo>
                    <a:pt x="932688" y="177211"/>
                  </a:lnTo>
                  <a:lnTo>
                    <a:pt x="932688" y="261153"/>
                  </a:lnTo>
                  <a:close/>
                </a:path>
              </a:pathLst>
            </a:cu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66" name="Freeform 86"/>
            <p:cNvSpPr/>
            <p:nvPr/>
          </p:nvSpPr>
          <p:spPr>
            <a:xfrm>
              <a:off x="10878480" y="1198800"/>
              <a:ext cx="232560" cy="83160"/>
            </a:xfrm>
            <a:custGeom>
              <a:avLst/>
              <a:gdLst>
                <a:gd name="textAreaLeft" fmla="*/ 0 w 232560"/>
                <a:gd name="textAreaRight" fmla="*/ 233280 w 232560"/>
                <a:gd name="textAreaTop" fmla="*/ 0 h 83160"/>
                <a:gd name="textAreaBottom" fmla="*/ 83880 h 83160"/>
              </a:gdLst>
              <a:ahLst/>
              <a:cxnLst/>
              <a:rect l="textAreaLeft" t="textAreaTop" r="textAreaRight" b="textAreaBottom"/>
              <a:pathLst>
                <a:path w="233172" h="83942">
                  <a:moveTo>
                    <a:pt x="0" y="0"/>
                  </a:moveTo>
                  <a:lnTo>
                    <a:pt x="167884" y="0"/>
                  </a:lnTo>
                  <a:lnTo>
                    <a:pt x="233172" y="83942"/>
                  </a:lnTo>
                  <a:lnTo>
                    <a:pt x="0" y="83942"/>
                  </a:lnTo>
                  <a:close/>
                </a:path>
              </a:pathLst>
            </a:custGeom>
            <a:solidFill>
              <a:srgbClr val="FFFFFF"/>
            </a:solidFill>
            <a:ln>
              <a:noFill/>
            </a:ln>
          </p:spPr>
          <p:style>
            <a:lnRef idx="1">
              <a:schemeClr val="accent1"/>
            </a:lnRef>
            <a:fillRef idx="3">
              <a:schemeClr val="accent1"/>
            </a:fillRef>
            <a:effectRef idx="2">
              <a:schemeClr val="accent1"/>
            </a:effectRef>
            <a:fontRef idx="minor"/>
          </p:style>
          <p:txBody>
            <a:bodyPr lIns="90000" tIns="38880" rIns="90000" bIns="38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67" name="Oval 87"/>
            <p:cNvSpPr/>
            <p:nvPr/>
          </p:nvSpPr>
          <p:spPr>
            <a:xfrm>
              <a:off x="1050984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68" name="Oval 88"/>
            <p:cNvSpPr/>
            <p:nvPr/>
          </p:nvSpPr>
          <p:spPr>
            <a:xfrm>
              <a:off x="10523880" y="1357560"/>
              <a:ext cx="148680" cy="14868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69" name="Oval 89"/>
            <p:cNvSpPr/>
            <p:nvPr/>
          </p:nvSpPr>
          <p:spPr>
            <a:xfrm>
              <a:off x="1056852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70" name="Oval 90"/>
            <p:cNvSpPr/>
            <p:nvPr/>
          </p:nvSpPr>
          <p:spPr>
            <a:xfrm>
              <a:off x="1106028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71" name="Oval 91"/>
            <p:cNvSpPr/>
            <p:nvPr/>
          </p:nvSpPr>
          <p:spPr>
            <a:xfrm>
              <a:off x="11074320" y="1357560"/>
              <a:ext cx="148680" cy="14868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72" name="Oval 92"/>
            <p:cNvSpPr/>
            <p:nvPr/>
          </p:nvSpPr>
          <p:spPr>
            <a:xfrm>
              <a:off x="1111896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grpSp>
      <p:grpSp>
        <p:nvGrpSpPr>
          <p:cNvPr id="373" name="camioneta_perdida_2"/>
          <p:cNvGrpSpPr/>
          <p:nvPr/>
        </p:nvGrpSpPr>
        <p:grpSpPr>
          <a:xfrm>
            <a:off x="1917000" y="1161720"/>
            <a:ext cx="932040" cy="358200"/>
            <a:chOff x="1917000" y="1161720"/>
            <a:chExt cx="932040" cy="358200"/>
          </a:xfrm>
        </p:grpSpPr>
        <p:sp>
          <p:nvSpPr>
            <p:cNvPr id="374" name="Freeform 94"/>
            <p:cNvSpPr/>
            <p:nvPr/>
          </p:nvSpPr>
          <p:spPr>
            <a:xfrm>
              <a:off x="1917000" y="1161720"/>
              <a:ext cx="932040" cy="260280"/>
            </a:xfrm>
            <a:custGeom>
              <a:avLst/>
              <a:gdLst>
                <a:gd name="textAreaLeft" fmla="*/ 0 w 932040"/>
                <a:gd name="textAreaRight" fmla="*/ 932760 w 932040"/>
                <a:gd name="textAreaTop" fmla="*/ 0 h 260280"/>
                <a:gd name="textAreaBottom" fmla="*/ 261000 h 260280"/>
              </a:gdLst>
              <a:ahLst/>
              <a:cxnLst/>
              <a:rect l="textAreaLeft" t="textAreaTop" r="textAreaRight" b="textAreaBottom"/>
              <a:pathLst>
                <a:path w="932688" h="261153">
                  <a:moveTo>
                    <a:pt x="0" y="261153"/>
                  </a:moveTo>
                  <a:lnTo>
                    <a:pt x="0" y="158557"/>
                  </a:lnTo>
                  <a:lnTo>
                    <a:pt x="27981" y="139903"/>
                  </a:lnTo>
                  <a:lnTo>
                    <a:pt x="410383" y="139903"/>
                  </a:lnTo>
                  <a:lnTo>
                    <a:pt x="429037" y="27981"/>
                  </a:lnTo>
                  <a:lnTo>
                    <a:pt x="466344" y="0"/>
                  </a:lnTo>
                  <a:lnTo>
                    <a:pt x="652882" y="0"/>
                  </a:lnTo>
                  <a:lnTo>
                    <a:pt x="690189" y="18654"/>
                  </a:lnTo>
                  <a:lnTo>
                    <a:pt x="774131" y="121250"/>
                  </a:lnTo>
                  <a:lnTo>
                    <a:pt x="904707" y="149230"/>
                  </a:lnTo>
                  <a:lnTo>
                    <a:pt x="932688" y="177211"/>
                  </a:lnTo>
                  <a:lnTo>
                    <a:pt x="932688" y="261153"/>
                  </a:lnTo>
                  <a:close/>
                </a:path>
              </a:pathLst>
            </a:cu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75" name="Freeform 95"/>
            <p:cNvSpPr/>
            <p:nvPr/>
          </p:nvSpPr>
          <p:spPr>
            <a:xfrm>
              <a:off x="2392560" y="1198800"/>
              <a:ext cx="232560" cy="83160"/>
            </a:xfrm>
            <a:custGeom>
              <a:avLst/>
              <a:gdLst>
                <a:gd name="textAreaLeft" fmla="*/ 0 w 232560"/>
                <a:gd name="textAreaRight" fmla="*/ 233280 w 232560"/>
                <a:gd name="textAreaTop" fmla="*/ 0 h 83160"/>
                <a:gd name="textAreaBottom" fmla="*/ 83880 h 83160"/>
              </a:gdLst>
              <a:ahLst/>
              <a:cxnLst/>
              <a:rect l="textAreaLeft" t="textAreaTop" r="textAreaRight" b="textAreaBottom"/>
              <a:pathLst>
                <a:path w="233172" h="83942">
                  <a:moveTo>
                    <a:pt x="0" y="0"/>
                  </a:moveTo>
                  <a:lnTo>
                    <a:pt x="167884" y="0"/>
                  </a:lnTo>
                  <a:lnTo>
                    <a:pt x="233172" y="83942"/>
                  </a:lnTo>
                  <a:lnTo>
                    <a:pt x="0" y="83942"/>
                  </a:lnTo>
                  <a:close/>
                </a:path>
              </a:pathLst>
            </a:custGeom>
            <a:solidFill>
              <a:srgbClr val="FFFFFF"/>
            </a:solidFill>
            <a:ln>
              <a:noFill/>
            </a:ln>
          </p:spPr>
          <p:style>
            <a:lnRef idx="1">
              <a:schemeClr val="accent1"/>
            </a:lnRef>
            <a:fillRef idx="3">
              <a:schemeClr val="accent1"/>
            </a:fillRef>
            <a:effectRef idx="2">
              <a:schemeClr val="accent1"/>
            </a:effectRef>
            <a:fontRef idx="minor"/>
          </p:style>
          <p:txBody>
            <a:bodyPr lIns="90000" tIns="38880" rIns="90000" bIns="38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76" name="Oval 96"/>
            <p:cNvSpPr/>
            <p:nvPr/>
          </p:nvSpPr>
          <p:spPr>
            <a:xfrm>
              <a:off x="202428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77" name="Oval 97"/>
            <p:cNvSpPr/>
            <p:nvPr/>
          </p:nvSpPr>
          <p:spPr>
            <a:xfrm>
              <a:off x="2038320" y="1357560"/>
              <a:ext cx="148680" cy="148680"/>
            </a:xfrm>
            <a:prstGeom prst="ellipse">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78" name="Oval 98"/>
            <p:cNvSpPr/>
            <p:nvPr/>
          </p:nvSpPr>
          <p:spPr>
            <a:xfrm>
              <a:off x="208296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79" name="Oval 99"/>
            <p:cNvSpPr/>
            <p:nvPr/>
          </p:nvSpPr>
          <p:spPr>
            <a:xfrm>
              <a:off x="257472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80" name="Oval 100"/>
            <p:cNvSpPr/>
            <p:nvPr/>
          </p:nvSpPr>
          <p:spPr>
            <a:xfrm>
              <a:off x="2588400" y="1357560"/>
              <a:ext cx="148680" cy="148680"/>
            </a:xfrm>
            <a:prstGeom prst="ellipse">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81" name="Oval 101"/>
            <p:cNvSpPr/>
            <p:nvPr/>
          </p:nvSpPr>
          <p:spPr>
            <a:xfrm>
              <a:off x="263340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grpSp>
      <p:grpSp>
        <p:nvGrpSpPr>
          <p:cNvPr id="382" name="camioneta_perdida_5"/>
          <p:cNvGrpSpPr/>
          <p:nvPr/>
        </p:nvGrpSpPr>
        <p:grpSpPr>
          <a:xfrm>
            <a:off x="5099040" y="1161720"/>
            <a:ext cx="932040" cy="358200"/>
            <a:chOff x="5099040" y="1161720"/>
            <a:chExt cx="932040" cy="358200"/>
          </a:xfrm>
        </p:grpSpPr>
        <p:sp>
          <p:nvSpPr>
            <p:cNvPr id="383" name="Freeform 103"/>
            <p:cNvSpPr/>
            <p:nvPr/>
          </p:nvSpPr>
          <p:spPr>
            <a:xfrm>
              <a:off x="5099040" y="1161720"/>
              <a:ext cx="932040" cy="260280"/>
            </a:xfrm>
            <a:custGeom>
              <a:avLst/>
              <a:gdLst>
                <a:gd name="textAreaLeft" fmla="*/ 0 w 932040"/>
                <a:gd name="textAreaRight" fmla="*/ 932760 w 932040"/>
                <a:gd name="textAreaTop" fmla="*/ 0 h 260280"/>
                <a:gd name="textAreaBottom" fmla="*/ 261000 h 260280"/>
              </a:gdLst>
              <a:ahLst/>
              <a:cxnLst/>
              <a:rect l="textAreaLeft" t="textAreaTop" r="textAreaRight" b="textAreaBottom"/>
              <a:pathLst>
                <a:path w="932688" h="261153">
                  <a:moveTo>
                    <a:pt x="0" y="261153"/>
                  </a:moveTo>
                  <a:lnTo>
                    <a:pt x="0" y="158557"/>
                  </a:lnTo>
                  <a:lnTo>
                    <a:pt x="27981" y="139903"/>
                  </a:lnTo>
                  <a:lnTo>
                    <a:pt x="410383" y="139903"/>
                  </a:lnTo>
                  <a:lnTo>
                    <a:pt x="429037" y="27981"/>
                  </a:lnTo>
                  <a:lnTo>
                    <a:pt x="466344" y="0"/>
                  </a:lnTo>
                  <a:lnTo>
                    <a:pt x="652882" y="0"/>
                  </a:lnTo>
                  <a:lnTo>
                    <a:pt x="690189" y="18654"/>
                  </a:lnTo>
                  <a:lnTo>
                    <a:pt x="774131" y="121250"/>
                  </a:lnTo>
                  <a:lnTo>
                    <a:pt x="904707" y="149230"/>
                  </a:lnTo>
                  <a:lnTo>
                    <a:pt x="932688" y="177211"/>
                  </a:lnTo>
                  <a:lnTo>
                    <a:pt x="932688" y="261153"/>
                  </a:lnTo>
                  <a:close/>
                </a:path>
              </a:pathLst>
            </a:cu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84" name="Freeform 104"/>
            <p:cNvSpPr/>
            <p:nvPr/>
          </p:nvSpPr>
          <p:spPr>
            <a:xfrm>
              <a:off x="5574960" y="1198800"/>
              <a:ext cx="232560" cy="83160"/>
            </a:xfrm>
            <a:custGeom>
              <a:avLst/>
              <a:gdLst>
                <a:gd name="textAreaLeft" fmla="*/ 0 w 232560"/>
                <a:gd name="textAreaRight" fmla="*/ 233280 w 232560"/>
                <a:gd name="textAreaTop" fmla="*/ 0 h 83160"/>
                <a:gd name="textAreaBottom" fmla="*/ 83880 h 83160"/>
              </a:gdLst>
              <a:ahLst/>
              <a:cxnLst/>
              <a:rect l="textAreaLeft" t="textAreaTop" r="textAreaRight" b="textAreaBottom"/>
              <a:pathLst>
                <a:path w="233172" h="83942">
                  <a:moveTo>
                    <a:pt x="0" y="0"/>
                  </a:moveTo>
                  <a:lnTo>
                    <a:pt x="167884" y="0"/>
                  </a:lnTo>
                  <a:lnTo>
                    <a:pt x="233172" y="83942"/>
                  </a:lnTo>
                  <a:lnTo>
                    <a:pt x="0" y="83942"/>
                  </a:lnTo>
                  <a:close/>
                </a:path>
              </a:pathLst>
            </a:custGeom>
            <a:solidFill>
              <a:srgbClr val="FFFFFF"/>
            </a:solidFill>
            <a:ln>
              <a:noFill/>
            </a:ln>
          </p:spPr>
          <p:style>
            <a:lnRef idx="1">
              <a:schemeClr val="accent1"/>
            </a:lnRef>
            <a:fillRef idx="3">
              <a:schemeClr val="accent1"/>
            </a:fillRef>
            <a:effectRef idx="2">
              <a:schemeClr val="accent1"/>
            </a:effectRef>
            <a:fontRef idx="minor"/>
          </p:style>
          <p:txBody>
            <a:bodyPr lIns="90000" tIns="38880" rIns="90000" bIns="38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85" name="Oval 105"/>
            <p:cNvSpPr/>
            <p:nvPr/>
          </p:nvSpPr>
          <p:spPr>
            <a:xfrm>
              <a:off x="520632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86" name="Oval 106"/>
            <p:cNvSpPr/>
            <p:nvPr/>
          </p:nvSpPr>
          <p:spPr>
            <a:xfrm>
              <a:off x="5220360" y="1357560"/>
              <a:ext cx="148680" cy="148680"/>
            </a:xfrm>
            <a:prstGeom prst="ellipse">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87" name="Oval 107"/>
            <p:cNvSpPr/>
            <p:nvPr/>
          </p:nvSpPr>
          <p:spPr>
            <a:xfrm>
              <a:off x="526500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88" name="Oval 108"/>
            <p:cNvSpPr/>
            <p:nvPr/>
          </p:nvSpPr>
          <p:spPr>
            <a:xfrm>
              <a:off x="575676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89" name="Oval 109"/>
            <p:cNvSpPr/>
            <p:nvPr/>
          </p:nvSpPr>
          <p:spPr>
            <a:xfrm>
              <a:off x="5770800" y="1357560"/>
              <a:ext cx="148680" cy="148680"/>
            </a:xfrm>
            <a:prstGeom prst="ellipse">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90" name="Oval 110"/>
            <p:cNvSpPr/>
            <p:nvPr/>
          </p:nvSpPr>
          <p:spPr>
            <a:xfrm>
              <a:off x="581544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grpSp>
      <p:grpSp>
        <p:nvGrpSpPr>
          <p:cNvPr id="391" name="camioneta_perdida_7"/>
          <p:cNvGrpSpPr/>
          <p:nvPr/>
        </p:nvGrpSpPr>
        <p:grpSpPr>
          <a:xfrm>
            <a:off x="7220520" y="1161720"/>
            <a:ext cx="932040" cy="358200"/>
            <a:chOff x="7220520" y="1161720"/>
            <a:chExt cx="932040" cy="358200"/>
          </a:xfrm>
        </p:grpSpPr>
        <p:sp>
          <p:nvSpPr>
            <p:cNvPr id="392" name="Freeform 112"/>
            <p:cNvSpPr/>
            <p:nvPr/>
          </p:nvSpPr>
          <p:spPr>
            <a:xfrm>
              <a:off x="7220520" y="1161720"/>
              <a:ext cx="932040" cy="260280"/>
            </a:xfrm>
            <a:custGeom>
              <a:avLst/>
              <a:gdLst>
                <a:gd name="textAreaLeft" fmla="*/ 0 w 932040"/>
                <a:gd name="textAreaRight" fmla="*/ 932760 w 932040"/>
                <a:gd name="textAreaTop" fmla="*/ 0 h 260280"/>
                <a:gd name="textAreaBottom" fmla="*/ 261000 h 260280"/>
              </a:gdLst>
              <a:ahLst/>
              <a:cxnLst/>
              <a:rect l="textAreaLeft" t="textAreaTop" r="textAreaRight" b="textAreaBottom"/>
              <a:pathLst>
                <a:path w="932688" h="261153">
                  <a:moveTo>
                    <a:pt x="0" y="261153"/>
                  </a:moveTo>
                  <a:lnTo>
                    <a:pt x="0" y="158557"/>
                  </a:lnTo>
                  <a:lnTo>
                    <a:pt x="27981" y="139903"/>
                  </a:lnTo>
                  <a:lnTo>
                    <a:pt x="410383" y="139903"/>
                  </a:lnTo>
                  <a:lnTo>
                    <a:pt x="429037" y="27981"/>
                  </a:lnTo>
                  <a:lnTo>
                    <a:pt x="466344" y="0"/>
                  </a:lnTo>
                  <a:lnTo>
                    <a:pt x="652882" y="0"/>
                  </a:lnTo>
                  <a:lnTo>
                    <a:pt x="690189" y="18654"/>
                  </a:lnTo>
                  <a:lnTo>
                    <a:pt x="774131" y="121250"/>
                  </a:lnTo>
                  <a:lnTo>
                    <a:pt x="904707" y="149230"/>
                  </a:lnTo>
                  <a:lnTo>
                    <a:pt x="932688" y="177211"/>
                  </a:lnTo>
                  <a:lnTo>
                    <a:pt x="932688" y="261153"/>
                  </a:lnTo>
                  <a:close/>
                </a:path>
              </a:pathLst>
            </a:cu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93" name="Freeform 113"/>
            <p:cNvSpPr/>
            <p:nvPr/>
          </p:nvSpPr>
          <p:spPr>
            <a:xfrm>
              <a:off x="7696080" y="1198800"/>
              <a:ext cx="232560" cy="83160"/>
            </a:xfrm>
            <a:custGeom>
              <a:avLst/>
              <a:gdLst>
                <a:gd name="textAreaLeft" fmla="*/ 0 w 232560"/>
                <a:gd name="textAreaRight" fmla="*/ 233280 w 232560"/>
                <a:gd name="textAreaTop" fmla="*/ 0 h 83160"/>
                <a:gd name="textAreaBottom" fmla="*/ 83880 h 83160"/>
              </a:gdLst>
              <a:ahLst/>
              <a:cxnLst/>
              <a:rect l="textAreaLeft" t="textAreaTop" r="textAreaRight" b="textAreaBottom"/>
              <a:pathLst>
                <a:path w="233172" h="83942">
                  <a:moveTo>
                    <a:pt x="0" y="0"/>
                  </a:moveTo>
                  <a:lnTo>
                    <a:pt x="167884" y="0"/>
                  </a:lnTo>
                  <a:lnTo>
                    <a:pt x="233172" y="83942"/>
                  </a:lnTo>
                  <a:lnTo>
                    <a:pt x="0" y="83942"/>
                  </a:lnTo>
                  <a:close/>
                </a:path>
              </a:pathLst>
            </a:custGeom>
            <a:solidFill>
              <a:srgbClr val="FFFFFF"/>
            </a:solidFill>
            <a:ln>
              <a:noFill/>
            </a:ln>
          </p:spPr>
          <p:style>
            <a:lnRef idx="1">
              <a:schemeClr val="accent1"/>
            </a:lnRef>
            <a:fillRef idx="3">
              <a:schemeClr val="accent1"/>
            </a:fillRef>
            <a:effectRef idx="2">
              <a:schemeClr val="accent1"/>
            </a:effectRef>
            <a:fontRef idx="minor"/>
          </p:style>
          <p:txBody>
            <a:bodyPr lIns="90000" tIns="38880" rIns="90000" bIns="38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94" name="Oval 114"/>
            <p:cNvSpPr/>
            <p:nvPr/>
          </p:nvSpPr>
          <p:spPr>
            <a:xfrm>
              <a:off x="732780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95" name="Oval 115"/>
            <p:cNvSpPr/>
            <p:nvPr/>
          </p:nvSpPr>
          <p:spPr>
            <a:xfrm>
              <a:off x="7341840" y="1357560"/>
              <a:ext cx="148680" cy="148680"/>
            </a:xfrm>
            <a:prstGeom prst="ellipse">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96" name="Oval 116"/>
            <p:cNvSpPr/>
            <p:nvPr/>
          </p:nvSpPr>
          <p:spPr>
            <a:xfrm>
              <a:off x="738648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97" name="Oval 117"/>
            <p:cNvSpPr/>
            <p:nvPr/>
          </p:nvSpPr>
          <p:spPr>
            <a:xfrm>
              <a:off x="787824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98" name="Oval 118"/>
            <p:cNvSpPr/>
            <p:nvPr/>
          </p:nvSpPr>
          <p:spPr>
            <a:xfrm>
              <a:off x="7891920" y="1357560"/>
              <a:ext cx="148680" cy="148680"/>
            </a:xfrm>
            <a:prstGeom prst="ellipse">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399" name="Oval 119"/>
            <p:cNvSpPr/>
            <p:nvPr/>
          </p:nvSpPr>
          <p:spPr>
            <a:xfrm>
              <a:off x="793692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grpSp>
      <p:grpSp>
        <p:nvGrpSpPr>
          <p:cNvPr id="400" name="camioneta_perdida_10"/>
          <p:cNvGrpSpPr/>
          <p:nvPr/>
        </p:nvGrpSpPr>
        <p:grpSpPr>
          <a:xfrm>
            <a:off x="10402560" y="1161720"/>
            <a:ext cx="932040" cy="358200"/>
            <a:chOff x="10402560" y="1161720"/>
            <a:chExt cx="932040" cy="358200"/>
          </a:xfrm>
        </p:grpSpPr>
        <p:sp>
          <p:nvSpPr>
            <p:cNvPr id="401" name="Freeform 121"/>
            <p:cNvSpPr/>
            <p:nvPr/>
          </p:nvSpPr>
          <p:spPr>
            <a:xfrm>
              <a:off x="10402560" y="1161720"/>
              <a:ext cx="932040" cy="260280"/>
            </a:xfrm>
            <a:custGeom>
              <a:avLst/>
              <a:gdLst>
                <a:gd name="textAreaLeft" fmla="*/ 0 w 932040"/>
                <a:gd name="textAreaRight" fmla="*/ 932760 w 932040"/>
                <a:gd name="textAreaTop" fmla="*/ 0 h 260280"/>
                <a:gd name="textAreaBottom" fmla="*/ 261000 h 260280"/>
              </a:gdLst>
              <a:ahLst/>
              <a:cxnLst/>
              <a:rect l="textAreaLeft" t="textAreaTop" r="textAreaRight" b="textAreaBottom"/>
              <a:pathLst>
                <a:path w="932688" h="261153">
                  <a:moveTo>
                    <a:pt x="0" y="261153"/>
                  </a:moveTo>
                  <a:lnTo>
                    <a:pt x="0" y="158557"/>
                  </a:lnTo>
                  <a:lnTo>
                    <a:pt x="27981" y="139903"/>
                  </a:lnTo>
                  <a:lnTo>
                    <a:pt x="410383" y="139903"/>
                  </a:lnTo>
                  <a:lnTo>
                    <a:pt x="429037" y="27981"/>
                  </a:lnTo>
                  <a:lnTo>
                    <a:pt x="466344" y="0"/>
                  </a:lnTo>
                  <a:lnTo>
                    <a:pt x="652882" y="0"/>
                  </a:lnTo>
                  <a:lnTo>
                    <a:pt x="690189" y="18654"/>
                  </a:lnTo>
                  <a:lnTo>
                    <a:pt x="774131" y="121250"/>
                  </a:lnTo>
                  <a:lnTo>
                    <a:pt x="904707" y="149230"/>
                  </a:lnTo>
                  <a:lnTo>
                    <a:pt x="932688" y="177211"/>
                  </a:lnTo>
                  <a:lnTo>
                    <a:pt x="932688" y="261153"/>
                  </a:lnTo>
                  <a:close/>
                </a:path>
              </a:pathLst>
            </a:cu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402" name="Freeform 122"/>
            <p:cNvSpPr/>
            <p:nvPr/>
          </p:nvSpPr>
          <p:spPr>
            <a:xfrm>
              <a:off x="10878480" y="1198800"/>
              <a:ext cx="232560" cy="83160"/>
            </a:xfrm>
            <a:custGeom>
              <a:avLst/>
              <a:gdLst>
                <a:gd name="textAreaLeft" fmla="*/ 0 w 232560"/>
                <a:gd name="textAreaRight" fmla="*/ 233280 w 232560"/>
                <a:gd name="textAreaTop" fmla="*/ 0 h 83160"/>
                <a:gd name="textAreaBottom" fmla="*/ 83880 h 83160"/>
              </a:gdLst>
              <a:ahLst/>
              <a:cxnLst/>
              <a:rect l="textAreaLeft" t="textAreaTop" r="textAreaRight" b="textAreaBottom"/>
              <a:pathLst>
                <a:path w="233172" h="83942">
                  <a:moveTo>
                    <a:pt x="0" y="0"/>
                  </a:moveTo>
                  <a:lnTo>
                    <a:pt x="167884" y="0"/>
                  </a:lnTo>
                  <a:lnTo>
                    <a:pt x="233172" y="83942"/>
                  </a:lnTo>
                  <a:lnTo>
                    <a:pt x="0" y="83942"/>
                  </a:lnTo>
                  <a:close/>
                </a:path>
              </a:pathLst>
            </a:custGeom>
            <a:solidFill>
              <a:srgbClr val="FFFFFF"/>
            </a:solidFill>
            <a:ln>
              <a:noFill/>
            </a:ln>
          </p:spPr>
          <p:style>
            <a:lnRef idx="1">
              <a:schemeClr val="accent1"/>
            </a:lnRef>
            <a:fillRef idx="3">
              <a:schemeClr val="accent1"/>
            </a:fillRef>
            <a:effectRef idx="2">
              <a:schemeClr val="accent1"/>
            </a:effectRef>
            <a:fontRef idx="minor"/>
          </p:style>
          <p:txBody>
            <a:bodyPr lIns="90000" tIns="38880" rIns="90000" bIns="38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403" name="Oval 123"/>
            <p:cNvSpPr/>
            <p:nvPr/>
          </p:nvSpPr>
          <p:spPr>
            <a:xfrm>
              <a:off x="1050984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404" name="Oval 124"/>
            <p:cNvSpPr/>
            <p:nvPr/>
          </p:nvSpPr>
          <p:spPr>
            <a:xfrm>
              <a:off x="10523880" y="1357560"/>
              <a:ext cx="148680" cy="148680"/>
            </a:xfrm>
            <a:prstGeom prst="ellipse">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405" name="Oval 125"/>
            <p:cNvSpPr/>
            <p:nvPr/>
          </p:nvSpPr>
          <p:spPr>
            <a:xfrm>
              <a:off x="1056852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406" name="Oval 126"/>
            <p:cNvSpPr/>
            <p:nvPr/>
          </p:nvSpPr>
          <p:spPr>
            <a:xfrm>
              <a:off x="11060280" y="1343520"/>
              <a:ext cx="176400" cy="17640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407" name="Oval 127"/>
            <p:cNvSpPr/>
            <p:nvPr/>
          </p:nvSpPr>
          <p:spPr>
            <a:xfrm>
              <a:off x="11074320" y="1357560"/>
              <a:ext cx="148680" cy="148680"/>
            </a:xfrm>
            <a:prstGeom prst="ellipse">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venir Next LT Pro"/>
              </a:endParaRPr>
            </a:p>
          </p:txBody>
        </p:sp>
        <p:sp>
          <p:nvSpPr>
            <p:cNvPr id="408" name="Oval 128"/>
            <p:cNvSpPr/>
            <p:nvPr/>
          </p:nvSpPr>
          <p:spPr>
            <a:xfrm>
              <a:off x="11118960" y="1402200"/>
              <a:ext cx="59040" cy="59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90000" tIns="-2880" rIns="90000" bIns="-2880" anchor="ctr">
              <a:noAutofit/>
            </a:bodyPr>
            <a:lstStyle/>
            <a:p>
              <a:pPr algn="ctr" defTabSz="914400">
                <a:lnSpc>
                  <a:spcPct val="100000"/>
                </a:lnSpc>
              </a:pPr>
              <a:endParaRPr lang="en-US" sz="1800" b="0" strike="noStrike" spc="-1">
                <a:solidFill>
                  <a:schemeClr val="lt1"/>
                </a:solidFill>
                <a:latin typeface="Avenir Next LT Pro"/>
              </a:endParaRPr>
            </a:p>
          </p:txBody>
        </p:sp>
      </p:grpSp>
      <p:sp>
        <p:nvSpPr>
          <p:cNvPr id="409" name="cuatro_de_diez"/>
          <p:cNvSpPr/>
          <p:nvPr/>
        </p:nvSpPr>
        <p:spPr>
          <a:xfrm>
            <a:off x="822960" y="2148840"/>
            <a:ext cx="10514880" cy="1676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1000" b="0" strike="noStrike" spc="-1">
                <a:solidFill>
                  <a:srgbClr val="1700F3"/>
                </a:solidFill>
                <a:latin typeface="Avenir Next LT Pro"/>
              </a:rPr>
              <a:t>4</a:t>
            </a:r>
            <a:r>
              <a:rPr lang="en-US" sz="6000" b="0" strike="noStrike" spc="-1">
                <a:solidFill>
                  <a:srgbClr val="00095B"/>
                </a:solidFill>
                <a:latin typeface="Avenir Next LT Pro"/>
              </a:rPr>
              <a:t> de cada 10</a:t>
            </a:r>
            <a:endParaRPr lang="es-AR" sz="6000" b="0" strike="noStrike" spc="-1">
              <a:solidFill>
                <a:srgbClr val="000000"/>
              </a:solidFill>
              <a:latin typeface="Arial"/>
            </a:endParaRPr>
          </a:p>
        </p:txBody>
      </p:sp>
      <p:sp>
        <p:nvSpPr>
          <p:cNvPr id="410" name="no_vuelven"/>
          <p:cNvSpPr/>
          <p:nvPr/>
        </p:nvSpPr>
        <p:spPr>
          <a:xfrm>
            <a:off x="822960" y="3611880"/>
            <a:ext cx="10514880" cy="426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2800" b="0" strike="noStrike" spc="-1">
                <a:solidFill>
                  <a:srgbClr val="00095B"/>
                </a:solidFill>
                <a:latin typeface="Avenir Next LT Pro"/>
              </a:rPr>
              <a:t>no vuelven a hacer el service en un concesionario oficial</a:t>
            </a:r>
            <a:endParaRPr lang="es-AR" sz="2800" b="0" strike="noStrike" spc="-1">
              <a:solidFill>
                <a:srgbClr val="000000"/>
              </a:solidFill>
              <a:latin typeface="Arial"/>
            </a:endParaRPr>
          </a:p>
        </p:txBody>
      </p:sp>
      <p:sp>
        <p:nvSpPr>
          <p:cNvPr id="411" name="volumen"/>
          <p:cNvSpPr/>
          <p:nvPr/>
        </p:nvSpPr>
        <p:spPr>
          <a:xfrm>
            <a:off x="2898720" y="4617720"/>
            <a:ext cx="6400080" cy="959400"/>
          </a:xfrm>
          <a:prstGeom prst="rect">
            <a:avLst/>
          </a:prstGeom>
          <a:solidFill>
            <a:srgbClr val="F3F3F3"/>
          </a:solidFill>
          <a:ln>
            <a:noFill/>
          </a:ln>
        </p:spPr>
        <p:style>
          <a:lnRef idx="1">
            <a:schemeClr val="accent1"/>
          </a:lnRef>
          <a:fillRef idx="3">
            <a:schemeClr val="accent1"/>
          </a:fillRef>
          <a:effectRef idx="2">
            <a:schemeClr val="accent1"/>
          </a:effectRef>
          <a:fontRef idx="minor"/>
        </p:style>
        <p:txBody>
          <a:bodyPr lIns="73080" tIns="27360" rIns="73080" bIns="27360" anchor="ctr">
            <a:noAutofit/>
          </a:bodyPr>
          <a:lstStyle/>
          <a:p>
            <a:pPr algn="ctr" defTabSz="914400">
              <a:lnSpc>
                <a:spcPct val="100000"/>
              </a:lnSpc>
            </a:pPr>
            <a:r>
              <a:rPr lang="en-US" sz="2400" b="1" strike="noStrike" spc="-1">
                <a:solidFill>
                  <a:srgbClr val="00095B"/>
                </a:solidFill>
                <a:latin typeface="Avenir Next LT Pro"/>
              </a:rPr>
              <a:t>≈ 2.500 services por mes</a:t>
            </a:r>
            <a:endParaRPr lang="es-AR" sz="2400" b="0" strike="noStrike" spc="-1">
              <a:solidFill>
                <a:srgbClr val="000000"/>
              </a:solidFill>
              <a:latin typeface="Arial"/>
            </a:endParaRPr>
          </a:p>
          <a:p>
            <a:pPr algn="ctr" defTabSz="914400">
              <a:lnSpc>
                <a:spcPct val="100000"/>
              </a:lnSpc>
            </a:pPr>
            <a:r>
              <a:rPr lang="en-US" sz="1600" b="0" strike="noStrike" spc="-1">
                <a:solidFill>
                  <a:srgbClr val="7F7F7F"/>
                </a:solidFill>
                <a:latin typeface="Avenir Next LT Pro"/>
              </a:rPr>
              <a:t>que Ford deja de hacer. Todos los meses.</a:t>
            </a:r>
            <a:endParaRPr lang="es-AR" sz="1600" b="0" strike="noStrike" spc="-1">
              <a:solidFill>
                <a:srgbClr val="000000"/>
              </a:solidFill>
              <a:latin typeface="Arial"/>
            </a:endParaRPr>
          </a:p>
        </p:txBody>
      </p:sp>
      <p:sp>
        <p:nvSpPr>
          <p:cNvPr id="412" name="fuente"/>
          <p:cNvSpPr/>
          <p:nvPr/>
        </p:nvSpPr>
        <p:spPr>
          <a:xfrm>
            <a:off x="822960" y="5989320"/>
            <a:ext cx="1051488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000" b="0" strike="noStrike" spc="-1">
                <a:solidFill>
                  <a:srgbClr val="7F7F7F"/>
                </a:solidFill>
                <a:latin typeface="Avenir Next LT Pro"/>
              </a:rPr>
              <a:t>El 41,6 % de 142.637 ventanas de service 2024-2026 terminó sin service en un concesionario oficial (Ranger, Argentina).</a:t>
            </a:r>
            <a:endParaRPr lang="es-AR" sz="1000" b="0" strike="noStrike" spc="-1">
              <a:solidFill>
                <a:srgbClr val="000000"/>
              </a:solidFill>
              <a:latin typeface="Arial"/>
            </a:endParaRPr>
          </a:p>
        </p:txBody>
      </p:sp>
      <p:sp>
        <p:nvSpPr>
          <p:cNvPr id="413"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María Florencia Iuzzolino</a:t>
            </a:r>
            <a:endParaRPr lang="es-AR" sz="10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373"/>
                                        </p:tgtEl>
                                        <p:attrNameLst>
                                          <p:attrName>style.visibility</p:attrName>
                                        </p:attrNameLst>
                                      </p:cBhvr>
                                      <p:to>
                                        <p:strVal val="visible"/>
                                      </p:to>
                                    </p:set>
                                    <p:animEffect transition="in" filter="fade">
                                      <p:cBhvr additive="repl">
                                        <p:cTn id="7" dur="500"/>
                                        <p:tgtEl>
                                          <p:spTgt spid="373"/>
                                        </p:tgtEl>
                                      </p:cBhvr>
                                    </p:animEffect>
                                  </p:childTnLst>
                                </p:cTn>
                              </p:par>
                              <p:par>
                                <p:cTn id="8" presetID="10" presetClass="entr" fill="hold" nodeType="withEffect">
                                  <p:stCondLst>
                                    <p:cond delay="0"/>
                                  </p:stCondLst>
                                  <p:childTnLst>
                                    <p:set>
                                      <p:cBhvr>
                                        <p:cTn id="9" dur="1" fill="hold">
                                          <p:stCondLst>
                                            <p:cond delay="0"/>
                                          </p:stCondLst>
                                        </p:cTn>
                                        <p:tgtEl>
                                          <p:spTgt spid="382"/>
                                        </p:tgtEl>
                                        <p:attrNameLst>
                                          <p:attrName>style.visibility</p:attrName>
                                        </p:attrNameLst>
                                      </p:cBhvr>
                                      <p:to>
                                        <p:strVal val="visible"/>
                                      </p:to>
                                    </p:set>
                                    <p:animEffect transition="in" filter="fade">
                                      <p:cBhvr additive="repl">
                                        <p:cTn id="10" dur="500"/>
                                        <p:tgtEl>
                                          <p:spTgt spid="382"/>
                                        </p:tgtEl>
                                      </p:cBhvr>
                                    </p:animEffect>
                                  </p:childTnLst>
                                </p:cTn>
                              </p:par>
                              <p:par>
                                <p:cTn id="11" presetID="10" presetClass="entr" fill="hold" nodeType="withEffect">
                                  <p:stCondLst>
                                    <p:cond delay="0"/>
                                  </p:stCondLst>
                                  <p:childTnLst>
                                    <p:set>
                                      <p:cBhvr>
                                        <p:cTn id="12" dur="1" fill="hold">
                                          <p:stCondLst>
                                            <p:cond delay="0"/>
                                          </p:stCondLst>
                                        </p:cTn>
                                        <p:tgtEl>
                                          <p:spTgt spid="391"/>
                                        </p:tgtEl>
                                        <p:attrNameLst>
                                          <p:attrName>style.visibility</p:attrName>
                                        </p:attrNameLst>
                                      </p:cBhvr>
                                      <p:to>
                                        <p:strVal val="visible"/>
                                      </p:to>
                                    </p:set>
                                    <p:animEffect transition="in" filter="fade">
                                      <p:cBhvr additive="repl">
                                        <p:cTn id="13" dur="500"/>
                                        <p:tgtEl>
                                          <p:spTgt spid="391"/>
                                        </p:tgtEl>
                                      </p:cBhvr>
                                    </p:animEffect>
                                  </p:childTnLst>
                                </p:cTn>
                              </p:par>
                              <p:par>
                                <p:cTn id="14" presetID="10" presetClass="entr" fill="hold" nodeType="withEffect">
                                  <p:stCondLst>
                                    <p:cond delay="0"/>
                                  </p:stCondLst>
                                  <p:childTnLst>
                                    <p:set>
                                      <p:cBhvr>
                                        <p:cTn id="15" dur="1" fill="hold">
                                          <p:stCondLst>
                                            <p:cond delay="0"/>
                                          </p:stCondLst>
                                        </p:cTn>
                                        <p:tgtEl>
                                          <p:spTgt spid="400"/>
                                        </p:tgtEl>
                                        <p:attrNameLst>
                                          <p:attrName>style.visibility</p:attrName>
                                        </p:attrNameLst>
                                      </p:cBhvr>
                                      <p:to>
                                        <p:strVal val="visible"/>
                                      </p:to>
                                    </p:set>
                                    <p:animEffect transition="in" filter="fade">
                                      <p:cBhvr additive="repl">
                                        <p:cTn id="16" dur="500"/>
                                        <p:tgtEl>
                                          <p:spTgt spid="400"/>
                                        </p:tgtEl>
                                      </p:cBhvr>
                                    </p:animEffect>
                                  </p:childTnLst>
                                </p:cTn>
                              </p:par>
                              <p:par>
                                <p:cTn id="17" presetID="10" presetClass="entr" fill="hold" nodeType="withEffect">
                                  <p:stCondLst>
                                    <p:cond delay="0"/>
                                  </p:stCondLst>
                                  <p:childTnLst>
                                    <p:set>
                                      <p:cBhvr>
                                        <p:cTn id="18" dur="1" fill="hold">
                                          <p:stCondLst>
                                            <p:cond delay="0"/>
                                          </p:stCondLst>
                                        </p:cTn>
                                        <p:tgtEl>
                                          <p:spTgt spid="409"/>
                                        </p:tgtEl>
                                        <p:attrNameLst>
                                          <p:attrName>style.visibility</p:attrName>
                                        </p:attrNameLst>
                                      </p:cBhvr>
                                      <p:to>
                                        <p:strVal val="visible"/>
                                      </p:to>
                                    </p:set>
                                    <p:animEffect transition="in" filter="fade">
                                      <p:cBhvr additive="repl">
                                        <p:cTn id="19" dur="500"/>
                                        <p:tgtEl>
                                          <p:spTgt spid="409"/>
                                        </p:tgtEl>
                                      </p:cBhvr>
                                    </p:animEffect>
                                  </p:childTnLst>
                                </p:cTn>
                              </p:par>
                              <p:par>
                                <p:cTn id="20" presetID="10" presetClass="entr" fill="hold" nodeType="withEffect">
                                  <p:stCondLst>
                                    <p:cond delay="0"/>
                                  </p:stCondLst>
                                  <p:childTnLst>
                                    <p:set>
                                      <p:cBhvr>
                                        <p:cTn id="21" dur="1" fill="hold">
                                          <p:stCondLst>
                                            <p:cond delay="0"/>
                                          </p:stCondLst>
                                        </p:cTn>
                                        <p:tgtEl>
                                          <p:spTgt spid="410"/>
                                        </p:tgtEl>
                                        <p:attrNameLst>
                                          <p:attrName>style.visibility</p:attrName>
                                        </p:attrNameLst>
                                      </p:cBhvr>
                                      <p:to>
                                        <p:strVal val="visible"/>
                                      </p:to>
                                    </p:set>
                                    <p:animEffect transition="in" filter="fade">
                                      <p:cBhvr additive="repl">
                                        <p:cTn id="22" dur="500"/>
                                        <p:tgtEl>
                                          <p:spTgt spid="4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fill="hold" nodeType="clickEffect">
                                  <p:stCondLst>
                                    <p:cond delay="0"/>
                                  </p:stCondLst>
                                  <p:childTnLst>
                                    <p:set>
                                      <p:cBhvr>
                                        <p:cTn id="26" dur="1" fill="hold">
                                          <p:stCondLst>
                                            <p:cond delay="0"/>
                                          </p:stCondLst>
                                        </p:cTn>
                                        <p:tgtEl>
                                          <p:spTgt spid="411"/>
                                        </p:tgtEl>
                                        <p:attrNameLst>
                                          <p:attrName>style.visibility</p:attrName>
                                        </p:attrNameLst>
                                      </p:cBhvr>
                                      <p:to>
                                        <p:strVal val="visible"/>
                                      </p:to>
                                    </p:set>
                                    <p:animEffect transition="in" filter="fade">
                                      <p:cBhvr additive="repl">
                                        <p:cTn id="27" dur="500"/>
                                        <p:tgtEl>
                                          <p:spTgt spid="411"/>
                                        </p:tgtEl>
                                      </p:cBhvr>
                                    </p:animEffect>
                                  </p:childTnLst>
                                </p:cTn>
                              </p:par>
                              <p:par>
                                <p:cTn id="28" presetID="10" presetClass="entr" fill="hold" nodeType="withEffect">
                                  <p:stCondLst>
                                    <p:cond delay="0"/>
                                  </p:stCondLst>
                                  <p:childTnLst>
                                    <p:set>
                                      <p:cBhvr>
                                        <p:cTn id="29" dur="1" fill="hold">
                                          <p:stCondLst>
                                            <p:cond delay="0"/>
                                          </p:stCondLst>
                                        </p:cTn>
                                        <p:tgtEl>
                                          <p:spTgt spid="412"/>
                                        </p:tgtEl>
                                        <p:attrNameLst>
                                          <p:attrName>style.visibility</p:attrName>
                                        </p:attrNameLst>
                                      </p:cBhvr>
                                      <p:to>
                                        <p:strVal val="visible"/>
                                      </p:to>
                                    </p:set>
                                    <p:animEffect transition="in" filter="fade">
                                      <p:cBhvr additive="repl">
                                        <p:cTn id="30" dur="500"/>
                                        <p:tgtEl>
                                          <p:spTgt spid="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PlaceHolder 1"/>
          <p:cNvSpPr>
            <a:spLocks noGrp="1"/>
          </p:cNvSpPr>
          <p:nvPr>
            <p:ph type="title"/>
          </p:nvPr>
        </p:nvSpPr>
        <p:spPr>
          <a:xfrm>
            <a:off x="374760" y="502920"/>
            <a:ext cx="10514880" cy="1026360"/>
          </a:xfrm>
          <a:prstGeom prst="rect">
            <a:avLst/>
          </a:prstGeom>
          <a:noFill/>
          <a:ln w="0">
            <a:noFill/>
          </a:ln>
        </p:spPr>
        <p:txBody>
          <a:bodyPr lIns="0" tIns="45720" rIns="91440" bIns="45720" anchor="t">
            <a:noAutofit/>
          </a:bodyPr>
          <a:lstStyle/>
          <a:p>
            <a:pPr indent="0" defTabSz="914400">
              <a:lnSpc>
                <a:spcPct val="90000"/>
              </a:lnSpc>
              <a:buNone/>
              <a:tabLst>
                <a:tab pos="0" algn="l"/>
              </a:tabLst>
            </a:pPr>
            <a:r>
              <a:rPr lang="en-US" sz="2400" b="0" strike="noStrike" spc="66">
                <a:solidFill>
                  <a:schemeClr val="dk1"/>
                </a:solidFill>
                <a:latin typeface="Avenir Next LT Pro"/>
                <a:ea typeface="Avenir Next"/>
              </a:rPr>
              <a:t>Un service perdido es el primer paso de un cliente perdido</a:t>
            </a:r>
            <a:endParaRPr lang="es-AR" sz="2400" b="0" strike="noStrike" spc="-1">
              <a:solidFill>
                <a:srgbClr val="000000"/>
              </a:solidFill>
              <a:latin typeface="Arial"/>
            </a:endParaRPr>
          </a:p>
        </p:txBody>
      </p:sp>
      <p:sp>
        <p:nvSpPr>
          <p:cNvPr id="415" name="PlaceHolder 2"/>
          <p:cNvSpPr>
            <a:spLocks noGrp="1"/>
          </p:cNvSpPr>
          <p:nvPr>
            <p:ph/>
          </p:nvPr>
        </p:nvSpPr>
        <p:spPr>
          <a:xfrm>
            <a:off x="394920" y="286920"/>
            <a:ext cx="3901680" cy="215280"/>
          </a:xfrm>
          <a:prstGeom prst="rect">
            <a:avLst/>
          </a:prstGeom>
          <a:noFill/>
          <a:ln w="0">
            <a:noFill/>
          </a:ln>
        </p:spPr>
        <p:txBody>
          <a:bodyPr lIns="0" tIns="45720" rIns="91440" bIns="45720" anchor="t">
            <a:noAutofit/>
          </a:bodyPr>
          <a:lstStyle/>
          <a:p>
            <a:pPr indent="0" defTabSz="914400">
              <a:lnSpc>
                <a:spcPct val="90000"/>
              </a:lnSpc>
              <a:spcBef>
                <a:spcPts val="1001"/>
              </a:spcBef>
              <a:buNone/>
              <a:tabLst>
                <a:tab pos="0" algn="l"/>
              </a:tabLst>
            </a:pPr>
            <a:r>
              <a:rPr lang="en-US" sz="900" b="0" strike="noStrike" cap="all" spc="296">
                <a:solidFill>
                  <a:schemeClr val="accent1"/>
                </a:solidFill>
                <a:latin typeface="Avenir Next LT Pro"/>
                <a:ea typeface="Avenir Next"/>
              </a:rPr>
              <a:t>01 · Descripción del desafío</a:t>
            </a:r>
            <a:endParaRPr lang="es-AR" sz="900" b="0" strike="noStrike" spc="-1">
              <a:solidFill>
                <a:srgbClr val="000000"/>
              </a:solidFill>
              <a:latin typeface="Arial"/>
            </a:endParaRPr>
          </a:p>
        </p:txBody>
      </p:sp>
      <p:sp>
        <p:nvSpPr>
          <p:cNvPr id="416" name="PlaceHolder 3"/>
          <p:cNvSpPr>
            <a:spLocks noGrp="1"/>
          </p:cNvSpPr>
          <p:nvPr>
            <p:ph type="sldNum" idx="58"/>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45E45323-1A63-4291-BA92-7B63F8FCCE10}" type="slidenum">
              <a:rPr lang="en-US" sz="800" b="0" strike="noStrike" spc="-1">
                <a:solidFill>
                  <a:schemeClr val="dk1"/>
                </a:solidFill>
                <a:latin typeface="Avenir Next LT Pro"/>
                <a:ea typeface="Avenir Next"/>
              </a:rPr>
              <a:t>5</a:t>
            </a:fld>
            <a:endParaRPr lang="es-AR" sz="800" b="0" strike="noStrike" spc="-1">
              <a:solidFill>
                <a:srgbClr val="000000"/>
              </a:solidFill>
              <a:latin typeface="Times New Roman"/>
            </a:endParaRPr>
          </a:p>
        </p:txBody>
      </p:sp>
      <p:sp>
        <p:nvSpPr>
          <p:cNvPr id="417" name="paso1_num"/>
          <p:cNvSpPr/>
          <p:nvPr/>
        </p:nvSpPr>
        <p:spPr>
          <a:xfrm>
            <a:off x="548640" y="2057400"/>
            <a:ext cx="3291120" cy="82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5400" b="0" strike="noStrike" spc="-1">
                <a:solidFill>
                  <a:srgbClr val="1700F3"/>
                </a:solidFill>
                <a:latin typeface="Avenir Next LT Pro"/>
              </a:rPr>
              <a:t>01</a:t>
            </a:r>
            <a:endParaRPr lang="es-AR" sz="5400" b="0" strike="noStrike" spc="-1">
              <a:solidFill>
                <a:srgbClr val="000000"/>
              </a:solidFill>
              <a:latin typeface="Arial"/>
            </a:endParaRPr>
          </a:p>
        </p:txBody>
      </p:sp>
      <p:cxnSp>
        <p:nvCxnSpPr>
          <p:cNvPr id="418" name="paso1_linea"/>
          <p:cNvCxnSpPr/>
          <p:nvPr/>
        </p:nvCxnSpPr>
        <p:spPr>
          <a:xfrm>
            <a:off x="548640" y="3063240"/>
            <a:ext cx="3200760" cy="720"/>
          </a:xfrm>
          <a:prstGeom prst="straightConnector1">
            <a:avLst/>
          </a:prstGeom>
          <a:ln w="15875">
            <a:solidFill>
              <a:srgbClr val="B9BCBD"/>
            </a:solidFill>
            <a:round/>
          </a:ln>
        </p:spPr>
      </p:cxnSp>
      <p:sp>
        <p:nvSpPr>
          <p:cNvPr id="419" name="paso1_cab"/>
          <p:cNvSpPr/>
          <p:nvPr/>
        </p:nvSpPr>
        <p:spPr>
          <a:xfrm>
            <a:off x="548640" y="3246120"/>
            <a:ext cx="3291120" cy="33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2200" b="1" strike="noStrike" spc="-1">
                <a:solidFill>
                  <a:srgbClr val="00095B"/>
                </a:solidFill>
                <a:latin typeface="Avenir Next LT Pro"/>
              </a:rPr>
              <a:t>Se pierde el service</a:t>
            </a:r>
            <a:endParaRPr lang="es-AR" sz="2200" b="0" strike="noStrike" spc="-1">
              <a:solidFill>
                <a:srgbClr val="000000"/>
              </a:solidFill>
              <a:latin typeface="Arial"/>
            </a:endParaRPr>
          </a:p>
        </p:txBody>
      </p:sp>
      <p:sp>
        <p:nvSpPr>
          <p:cNvPr id="420" name="paso1_cuerpo"/>
          <p:cNvSpPr/>
          <p:nvPr/>
        </p:nvSpPr>
        <p:spPr>
          <a:xfrm>
            <a:off x="548640" y="4114800"/>
            <a:ext cx="31082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600" b="0" strike="noStrike" spc="-1">
                <a:solidFill>
                  <a:srgbClr val="7F7F7F"/>
                </a:solidFill>
                <a:latin typeface="Avenir Next LT Pro"/>
              </a:rPr>
              <a:t>El trabajo de taller, los repuestos, el margen de la visita.</a:t>
            </a:r>
            <a:endParaRPr lang="es-AR" sz="1600" b="0" strike="noStrike" spc="-1">
              <a:solidFill>
                <a:srgbClr val="000000"/>
              </a:solidFill>
              <a:latin typeface="Arial"/>
            </a:endParaRPr>
          </a:p>
        </p:txBody>
      </p:sp>
      <p:sp>
        <p:nvSpPr>
          <p:cNvPr id="421" name="flecha1"/>
          <p:cNvSpPr/>
          <p:nvPr/>
        </p:nvSpPr>
        <p:spPr>
          <a:xfrm>
            <a:off x="3950280" y="2395800"/>
            <a:ext cx="273600" cy="383400"/>
          </a:xfrm>
          <a:prstGeom prst="chevron">
            <a:avLst>
              <a:gd name="adj" fmla="val 50000"/>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422" name="paso2_num"/>
          <p:cNvSpPr/>
          <p:nvPr/>
        </p:nvSpPr>
        <p:spPr>
          <a:xfrm>
            <a:off x="4343400" y="2057400"/>
            <a:ext cx="3291120" cy="82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5400" b="0" strike="noStrike" spc="-1">
                <a:solidFill>
                  <a:srgbClr val="1700F3"/>
                </a:solidFill>
                <a:latin typeface="Avenir Next LT Pro"/>
              </a:rPr>
              <a:t>02</a:t>
            </a:r>
            <a:endParaRPr lang="es-AR" sz="5400" b="0" strike="noStrike" spc="-1">
              <a:solidFill>
                <a:srgbClr val="000000"/>
              </a:solidFill>
              <a:latin typeface="Arial"/>
            </a:endParaRPr>
          </a:p>
        </p:txBody>
      </p:sp>
      <p:cxnSp>
        <p:nvCxnSpPr>
          <p:cNvPr id="423" name="paso2_linea"/>
          <p:cNvCxnSpPr/>
          <p:nvPr/>
        </p:nvCxnSpPr>
        <p:spPr>
          <a:xfrm>
            <a:off x="4343400" y="3063240"/>
            <a:ext cx="3201120" cy="720"/>
          </a:xfrm>
          <a:prstGeom prst="straightConnector1">
            <a:avLst/>
          </a:prstGeom>
          <a:ln w="15875">
            <a:solidFill>
              <a:srgbClr val="B9BCBD"/>
            </a:solidFill>
            <a:round/>
          </a:ln>
        </p:spPr>
      </p:cxnSp>
      <p:sp>
        <p:nvSpPr>
          <p:cNvPr id="424" name="paso2_cab"/>
          <p:cNvSpPr/>
          <p:nvPr/>
        </p:nvSpPr>
        <p:spPr>
          <a:xfrm>
            <a:off x="4343400" y="3246120"/>
            <a:ext cx="3291120" cy="33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2200" b="1" strike="noStrike" spc="-1">
                <a:solidFill>
                  <a:srgbClr val="00095B"/>
                </a:solidFill>
                <a:latin typeface="Avenir Next LT Pro"/>
              </a:rPr>
              <a:t>Se corta la relación</a:t>
            </a:r>
            <a:endParaRPr lang="es-AR" sz="2200" b="0" strike="noStrike" spc="-1">
              <a:solidFill>
                <a:srgbClr val="000000"/>
              </a:solidFill>
              <a:latin typeface="Arial"/>
            </a:endParaRPr>
          </a:p>
        </p:txBody>
      </p:sp>
      <p:sp>
        <p:nvSpPr>
          <p:cNvPr id="425" name="paso2_cuerpo"/>
          <p:cNvSpPr/>
          <p:nvPr/>
        </p:nvSpPr>
        <p:spPr>
          <a:xfrm>
            <a:off x="4343400" y="4114800"/>
            <a:ext cx="31082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600" b="0" strike="noStrike" spc="-1">
                <a:solidFill>
                  <a:srgbClr val="7F7F7F"/>
                </a:solidFill>
                <a:latin typeface="Avenir Next LT Pro"/>
              </a:rPr>
              <a:t>El cliente deja de venir y de hablar con su concesionario: Ford deja de estar presente.</a:t>
            </a:r>
            <a:endParaRPr lang="es-AR" sz="1600" b="0" strike="noStrike" spc="-1">
              <a:solidFill>
                <a:srgbClr val="000000"/>
              </a:solidFill>
              <a:latin typeface="Arial"/>
            </a:endParaRPr>
          </a:p>
        </p:txBody>
      </p:sp>
      <p:sp>
        <p:nvSpPr>
          <p:cNvPr id="426" name="flecha2"/>
          <p:cNvSpPr/>
          <p:nvPr/>
        </p:nvSpPr>
        <p:spPr>
          <a:xfrm>
            <a:off x="7745040" y="2395800"/>
            <a:ext cx="273600" cy="383400"/>
          </a:xfrm>
          <a:prstGeom prst="chevron">
            <a:avLst>
              <a:gd name="adj" fmla="val 50000"/>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427" name="paso3_num"/>
          <p:cNvSpPr/>
          <p:nvPr/>
        </p:nvSpPr>
        <p:spPr>
          <a:xfrm>
            <a:off x="8138160" y="2057400"/>
            <a:ext cx="3291120" cy="82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5400" b="0" strike="noStrike" spc="-1">
                <a:solidFill>
                  <a:srgbClr val="1700F3"/>
                </a:solidFill>
                <a:latin typeface="Avenir Next LT Pro"/>
              </a:rPr>
              <a:t>03</a:t>
            </a:r>
            <a:endParaRPr lang="es-AR" sz="5400" b="0" strike="noStrike" spc="-1">
              <a:solidFill>
                <a:srgbClr val="000000"/>
              </a:solidFill>
              <a:latin typeface="Arial"/>
            </a:endParaRPr>
          </a:p>
        </p:txBody>
      </p:sp>
      <p:cxnSp>
        <p:nvCxnSpPr>
          <p:cNvPr id="428" name="paso3_linea"/>
          <p:cNvCxnSpPr/>
          <p:nvPr/>
        </p:nvCxnSpPr>
        <p:spPr>
          <a:xfrm>
            <a:off x="8138160" y="3063240"/>
            <a:ext cx="3201120" cy="720"/>
          </a:xfrm>
          <a:prstGeom prst="straightConnector1">
            <a:avLst/>
          </a:prstGeom>
          <a:ln w="15875">
            <a:solidFill>
              <a:srgbClr val="00095B"/>
            </a:solidFill>
            <a:round/>
          </a:ln>
        </p:spPr>
      </p:cxnSp>
      <p:sp>
        <p:nvSpPr>
          <p:cNvPr id="429" name="paso3_cab"/>
          <p:cNvSpPr/>
          <p:nvPr/>
        </p:nvSpPr>
        <p:spPr>
          <a:xfrm>
            <a:off x="8138160" y="3246120"/>
            <a:ext cx="3291120" cy="670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2200" b="1" strike="noStrike" spc="-1">
                <a:solidFill>
                  <a:srgbClr val="00095B"/>
                </a:solidFill>
                <a:latin typeface="Avenir Next LT Pro"/>
              </a:rPr>
              <a:t>Se pierde la próxima Ford</a:t>
            </a:r>
            <a:endParaRPr lang="es-AR" sz="2200" b="0" strike="noStrike" spc="-1">
              <a:solidFill>
                <a:srgbClr val="000000"/>
              </a:solidFill>
              <a:latin typeface="Arial"/>
            </a:endParaRPr>
          </a:p>
        </p:txBody>
      </p:sp>
      <p:sp>
        <p:nvSpPr>
          <p:cNvPr id="430" name="paso3_cuerpo"/>
          <p:cNvSpPr/>
          <p:nvPr/>
        </p:nvSpPr>
        <p:spPr>
          <a:xfrm>
            <a:off x="8138160" y="4114800"/>
            <a:ext cx="310824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600" b="0" strike="noStrike" spc="-1">
                <a:solidFill>
                  <a:srgbClr val="7F7F7F"/>
                </a:solidFill>
                <a:latin typeface="Avenir Next LT Pro"/>
              </a:rPr>
              <a:t>Cuando cambie la camioneta, va a decidir sin nosotros.</a:t>
            </a:r>
            <a:endParaRPr lang="es-AR" sz="1600" b="0" strike="noStrike" spc="-1">
              <a:solidFill>
                <a:srgbClr val="000000"/>
              </a:solidFill>
              <a:latin typeface="Arial"/>
            </a:endParaRPr>
          </a:p>
        </p:txBody>
      </p:sp>
      <p:sp>
        <p:nvSpPr>
          <p:cNvPr id="431" name="bumper"/>
          <p:cNvSpPr/>
          <p:nvPr/>
        </p:nvSpPr>
        <p:spPr>
          <a:xfrm>
            <a:off x="182880" y="5440680"/>
            <a:ext cx="11822400" cy="776520"/>
          </a:xfrm>
          <a:prstGeom prst="rect">
            <a:avLst/>
          </a:prstGeom>
          <a:solidFill>
            <a:srgbClr val="00095B"/>
          </a:solidFill>
          <a:ln>
            <a:noFill/>
          </a:ln>
        </p:spPr>
        <p:style>
          <a:lnRef idx="1">
            <a:schemeClr val="accent1"/>
          </a:lnRef>
          <a:fillRef idx="3">
            <a:schemeClr val="accent1"/>
          </a:fillRef>
          <a:effectRef idx="2">
            <a:schemeClr val="accent1"/>
          </a:effectRef>
          <a:fontRef idx="minor"/>
        </p:style>
        <p:txBody>
          <a:bodyPr lIns="73080" tIns="27360" rIns="73080" bIns="27360" anchor="ctr">
            <a:noAutofit/>
          </a:bodyPr>
          <a:lstStyle/>
          <a:p>
            <a:pPr algn="ctr" defTabSz="914400">
              <a:lnSpc>
                <a:spcPct val="100000"/>
              </a:lnSpc>
            </a:pPr>
            <a:r>
              <a:rPr lang="en-US" sz="2400" b="0" strike="noStrike" spc="-1">
                <a:solidFill>
                  <a:srgbClr val="FFFFFF"/>
                </a:solidFill>
                <a:latin typeface="Avenir Next LT Pro"/>
              </a:rPr>
              <a:t>La próxima venta no se gana en el salón: </a:t>
            </a:r>
            <a:r>
              <a:rPr lang="en-US" sz="2400" b="1" strike="noStrike" spc="-1">
                <a:solidFill>
                  <a:srgbClr val="FFFFFF"/>
                </a:solidFill>
                <a:latin typeface="Avenir Next LT Pro"/>
              </a:rPr>
              <a:t>se gana en el taller.</a:t>
            </a:r>
            <a:endParaRPr lang="es-AR" sz="2400" b="0" strike="noStrike" spc="-1">
              <a:solidFill>
                <a:srgbClr val="FFFFFF"/>
              </a:solidFill>
              <a:latin typeface="Arial"/>
            </a:endParaRPr>
          </a:p>
        </p:txBody>
      </p:sp>
      <p:sp>
        <p:nvSpPr>
          <p:cNvPr id="432"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María Florencia Iuzzolino</a:t>
            </a:r>
            <a:endParaRPr lang="es-AR" sz="10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417"/>
                                        </p:tgtEl>
                                        <p:attrNameLst>
                                          <p:attrName>style.visibility</p:attrName>
                                        </p:attrNameLst>
                                      </p:cBhvr>
                                      <p:to>
                                        <p:strVal val="visible"/>
                                      </p:to>
                                    </p:set>
                                    <p:animEffect transition="in" filter="fade">
                                      <p:cBhvr additive="repl">
                                        <p:cTn id="7" dur="500"/>
                                        <p:tgtEl>
                                          <p:spTgt spid="417"/>
                                        </p:tgtEl>
                                      </p:cBhvr>
                                    </p:animEffect>
                                  </p:childTnLst>
                                </p:cTn>
                              </p:par>
                              <p:par>
                                <p:cTn id="8" presetID="10" presetClass="entr" fill="hold" nodeType="withEffect">
                                  <p:stCondLst>
                                    <p:cond delay="0"/>
                                  </p:stCondLst>
                                  <p:childTnLst>
                                    <p:set>
                                      <p:cBhvr>
                                        <p:cTn id="9" dur="1" fill="hold">
                                          <p:stCondLst>
                                            <p:cond delay="0"/>
                                          </p:stCondLst>
                                        </p:cTn>
                                        <p:tgtEl>
                                          <p:spTgt spid="418"/>
                                        </p:tgtEl>
                                        <p:attrNameLst>
                                          <p:attrName>style.visibility</p:attrName>
                                        </p:attrNameLst>
                                      </p:cBhvr>
                                      <p:to>
                                        <p:strVal val="visible"/>
                                      </p:to>
                                    </p:set>
                                    <p:animEffect transition="in" filter="fade">
                                      <p:cBhvr additive="repl">
                                        <p:cTn id="10" dur="500"/>
                                        <p:tgtEl>
                                          <p:spTgt spid="418"/>
                                        </p:tgtEl>
                                      </p:cBhvr>
                                    </p:animEffect>
                                  </p:childTnLst>
                                </p:cTn>
                              </p:par>
                              <p:par>
                                <p:cTn id="11" presetID="10" presetClass="entr" fill="hold" nodeType="withEffect">
                                  <p:stCondLst>
                                    <p:cond delay="0"/>
                                  </p:stCondLst>
                                  <p:childTnLst>
                                    <p:set>
                                      <p:cBhvr>
                                        <p:cTn id="12" dur="1" fill="hold">
                                          <p:stCondLst>
                                            <p:cond delay="0"/>
                                          </p:stCondLst>
                                        </p:cTn>
                                        <p:tgtEl>
                                          <p:spTgt spid="419"/>
                                        </p:tgtEl>
                                        <p:attrNameLst>
                                          <p:attrName>style.visibility</p:attrName>
                                        </p:attrNameLst>
                                      </p:cBhvr>
                                      <p:to>
                                        <p:strVal val="visible"/>
                                      </p:to>
                                    </p:set>
                                    <p:animEffect transition="in" filter="fade">
                                      <p:cBhvr additive="repl">
                                        <p:cTn id="13" dur="500"/>
                                        <p:tgtEl>
                                          <p:spTgt spid="419"/>
                                        </p:tgtEl>
                                      </p:cBhvr>
                                    </p:animEffect>
                                  </p:childTnLst>
                                </p:cTn>
                              </p:par>
                              <p:par>
                                <p:cTn id="14" presetID="10" presetClass="entr" fill="hold" nodeType="withEffect">
                                  <p:stCondLst>
                                    <p:cond delay="0"/>
                                  </p:stCondLst>
                                  <p:childTnLst>
                                    <p:set>
                                      <p:cBhvr>
                                        <p:cTn id="15" dur="1" fill="hold">
                                          <p:stCondLst>
                                            <p:cond delay="0"/>
                                          </p:stCondLst>
                                        </p:cTn>
                                        <p:tgtEl>
                                          <p:spTgt spid="420"/>
                                        </p:tgtEl>
                                        <p:attrNameLst>
                                          <p:attrName>style.visibility</p:attrName>
                                        </p:attrNameLst>
                                      </p:cBhvr>
                                      <p:to>
                                        <p:strVal val="visible"/>
                                      </p:to>
                                    </p:set>
                                    <p:animEffect transition="in" filter="fade">
                                      <p:cBhvr additive="repl">
                                        <p:cTn id="16" dur="500"/>
                                        <p:tgtEl>
                                          <p:spTgt spid="42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fill="hold" nodeType="clickEffect">
                                  <p:stCondLst>
                                    <p:cond delay="0"/>
                                  </p:stCondLst>
                                  <p:childTnLst>
                                    <p:set>
                                      <p:cBhvr>
                                        <p:cTn id="20" dur="1" fill="hold">
                                          <p:stCondLst>
                                            <p:cond delay="0"/>
                                          </p:stCondLst>
                                        </p:cTn>
                                        <p:tgtEl>
                                          <p:spTgt spid="421"/>
                                        </p:tgtEl>
                                        <p:attrNameLst>
                                          <p:attrName>style.visibility</p:attrName>
                                        </p:attrNameLst>
                                      </p:cBhvr>
                                      <p:to>
                                        <p:strVal val="visible"/>
                                      </p:to>
                                    </p:set>
                                    <p:animEffect transition="in" filter="fade">
                                      <p:cBhvr additive="repl">
                                        <p:cTn id="21" dur="500"/>
                                        <p:tgtEl>
                                          <p:spTgt spid="421"/>
                                        </p:tgtEl>
                                      </p:cBhvr>
                                    </p:animEffect>
                                  </p:childTnLst>
                                </p:cTn>
                              </p:par>
                              <p:par>
                                <p:cTn id="22" presetID="10" presetClass="entr" fill="hold" nodeType="withEffect">
                                  <p:stCondLst>
                                    <p:cond delay="0"/>
                                  </p:stCondLst>
                                  <p:childTnLst>
                                    <p:set>
                                      <p:cBhvr>
                                        <p:cTn id="23" dur="1" fill="hold">
                                          <p:stCondLst>
                                            <p:cond delay="0"/>
                                          </p:stCondLst>
                                        </p:cTn>
                                        <p:tgtEl>
                                          <p:spTgt spid="422"/>
                                        </p:tgtEl>
                                        <p:attrNameLst>
                                          <p:attrName>style.visibility</p:attrName>
                                        </p:attrNameLst>
                                      </p:cBhvr>
                                      <p:to>
                                        <p:strVal val="visible"/>
                                      </p:to>
                                    </p:set>
                                    <p:animEffect transition="in" filter="fade">
                                      <p:cBhvr additive="repl">
                                        <p:cTn id="24" dur="500"/>
                                        <p:tgtEl>
                                          <p:spTgt spid="422"/>
                                        </p:tgtEl>
                                      </p:cBhvr>
                                    </p:animEffect>
                                  </p:childTnLst>
                                </p:cTn>
                              </p:par>
                              <p:par>
                                <p:cTn id="25" presetID="10" presetClass="entr" fill="hold" nodeType="withEffect">
                                  <p:stCondLst>
                                    <p:cond delay="0"/>
                                  </p:stCondLst>
                                  <p:childTnLst>
                                    <p:set>
                                      <p:cBhvr>
                                        <p:cTn id="26" dur="1" fill="hold">
                                          <p:stCondLst>
                                            <p:cond delay="0"/>
                                          </p:stCondLst>
                                        </p:cTn>
                                        <p:tgtEl>
                                          <p:spTgt spid="423"/>
                                        </p:tgtEl>
                                        <p:attrNameLst>
                                          <p:attrName>style.visibility</p:attrName>
                                        </p:attrNameLst>
                                      </p:cBhvr>
                                      <p:to>
                                        <p:strVal val="visible"/>
                                      </p:to>
                                    </p:set>
                                    <p:animEffect transition="in" filter="fade">
                                      <p:cBhvr additive="repl">
                                        <p:cTn id="27" dur="500"/>
                                        <p:tgtEl>
                                          <p:spTgt spid="423"/>
                                        </p:tgtEl>
                                      </p:cBhvr>
                                    </p:animEffect>
                                  </p:childTnLst>
                                </p:cTn>
                              </p:par>
                              <p:par>
                                <p:cTn id="28" presetID="10" presetClass="entr" fill="hold" nodeType="withEffect">
                                  <p:stCondLst>
                                    <p:cond delay="0"/>
                                  </p:stCondLst>
                                  <p:childTnLst>
                                    <p:set>
                                      <p:cBhvr>
                                        <p:cTn id="29" dur="1" fill="hold">
                                          <p:stCondLst>
                                            <p:cond delay="0"/>
                                          </p:stCondLst>
                                        </p:cTn>
                                        <p:tgtEl>
                                          <p:spTgt spid="424"/>
                                        </p:tgtEl>
                                        <p:attrNameLst>
                                          <p:attrName>style.visibility</p:attrName>
                                        </p:attrNameLst>
                                      </p:cBhvr>
                                      <p:to>
                                        <p:strVal val="visible"/>
                                      </p:to>
                                    </p:set>
                                    <p:animEffect transition="in" filter="fade">
                                      <p:cBhvr additive="repl">
                                        <p:cTn id="30" dur="500"/>
                                        <p:tgtEl>
                                          <p:spTgt spid="424"/>
                                        </p:tgtEl>
                                      </p:cBhvr>
                                    </p:animEffect>
                                  </p:childTnLst>
                                </p:cTn>
                              </p:par>
                              <p:par>
                                <p:cTn id="31" presetID="10" presetClass="entr" fill="hold" nodeType="withEffect">
                                  <p:stCondLst>
                                    <p:cond delay="0"/>
                                  </p:stCondLst>
                                  <p:childTnLst>
                                    <p:set>
                                      <p:cBhvr>
                                        <p:cTn id="32" dur="1" fill="hold">
                                          <p:stCondLst>
                                            <p:cond delay="0"/>
                                          </p:stCondLst>
                                        </p:cTn>
                                        <p:tgtEl>
                                          <p:spTgt spid="425"/>
                                        </p:tgtEl>
                                        <p:attrNameLst>
                                          <p:attrName>style.visibility</p:attrName>
                                        </p:attrNameLst>
                                      </p:cBhvr>
                                      <p:to>
                                        <p:strVal val="visible"/>
                                      </p:to>
                                    </p:set>
                                    <p:animEffect transition="in" filter="fade">
                                      <p:cBhvr additive="repl">
                                        <p:cTn id="33" dur="500"/>
                                        <p:tgtEl>
                                          <p:spTgt spid="42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fill="hold" nodeType="clickEffect">
                                  <p:stCondLst>
                                    <p:cond delay="0"/>
                                  </p:stCondLst>
                                  <p:childTnLst>
                                    <p:set>
                                      <p:cBhvr>
                                        <p:cTn id="37" dur="1" fill="hold">
                                          <p:stCondLst>
                                            <p:cond delay="0"/>
                                          </p:stCondLst>
                                        </p:cTn>
                                        <p:tgtEl>
                                          <p:spTgt spid="426"/>
                                        </p:tgtEl>
                                        <p:attrNameLst>
                                          <p:attrName>style.visibility</p:attrName>
                                        </p:attrNameLst>
                                      </p:cBhvr>
                                      <p:to>
                                        <p:strVal val="visible"/>
                                      </p:to>
                                    </p:set>
                                    <p:animEffect transition="in" filter="fade">
                                      <p:cBhvr additive="repl">
                                        <p:cTn id="38" dur="500"/>
                                        <p:tgtEl>
                                          <p:spTgt spid="426"/>
                                        </p:tgtEl>
                                      </p:cBhvr>
                                    </p:animEffect>
                                  </p:childTnLst>
                                </p:cTn>
                              </p:par>
                              <p:par>
                                <p:cTn id="39" presetID="10" presetClass="entr" fill="hold" nodeType="withEffect">
                                  <p:stCondLst>
                                    <p:cond delay="0"/>
                                  </p:stCondLst>
                                  <p:childTnLst>
                                    <p:set>
                                      <p:cBhvr>
                                        <p:cTn id="40" dur="1" fill="hold">
                                          <p:stCondLst>
                                            <p:cond delay="0"/>
                                          </p:stCondLst>
                                        </p:cTn>
                                        <p:tgtEl>
                                          <p:spTgt spid="427"/>
                                        </p:tgtEl>
                                        <p:attrNameLst>
                                          <p:attrName>style.visibility</p:attrName>
                                        </p:attrNameLst>
                                      </p:cBhvr>
                                      <p:to>
                                        <p:strVal val="visible"/>
                                      </p:to>
                                    </p:set>
                                    <p:animEffect transition="in" filter="fade">
                                      <p:cBhvr additive="repl">
                                        <p:cTn id="41" dur="500"/>
                                        <p:tgtEl>
                                          <p:spTgt spid="427"/>
                                        </p:tgtEl>
                                      </p:cBhvr>
                                    </p:animEffect>
                                  </p:childTnLst>
                                </p:cTn>
                              </p:par>
                              <p:par>
                                <p:cTn id="42" presetID="10" presetClass="entr" fill="hold" nodeType="withEffect">
                                  <p:stCondLst>
                                    <p:cond delay="0"/>
                                  </p:stCondLst>
                                  <p:childTnLst>
                                    <p:set>
                                      <p:cBhvr>
                                        <p:cTn id="43" dur="1" fill="hold">
                                          <p:stCondLst>
                                            <p:cond delay="0"/>
                                          </p:stCondLst>
                                        </p:cTn>
                                        <p:tgtEl>
                                          <p:spTgt spid="428"/>
                                        </p:tgtEl>
                                        <p:attrNameLst>
                                          <p:attrName>style.visibility</p:attrName>
                                        </p:attrNameLst>
                                      </p:cBhvr>
                                      <p:to>
                                        <p:strVal val="visible"/>
                                      </p:to>
                                    </p:set>
                                    <p:animEffect transition="in" filter="fade">
                                      <p:cBhvr additive="repl">
                                        <p:cTn id="44" dur="500"/>
                                        <p:tgtEl>
                                          <p:spTgt spid="428"/>
                                        </p:tgtEl>
                                      </p:cBhvr>
                                    </p:animEffect>
                                  </p:childTnLst>
                                </p:cTn>
                              </p:par>
                              <p:par>
                                <p:cTn id="45" presetID="10" presetClass="entr" fill="hold" nodeType="withEffect">
                                  <p:stCondLst>
                                    <p:cond delay="0"/>
                                  </p:stCondLst>
                                  <p:childTnLst>
                                    <p:set>
                                      <p:cBhvr>
                                        <p:cTn id="46" dur="1" fill="hold">
                                          <p:stCondLst>
                                            <p:cond delay="0"/>
                                          </p:stCondLst>
                                        </p:cTn>
                                        <p:tgtEl>
                                          <p:spTgt spid="429"/>
                                        </p:tgtEl>
                                        <p:attrNameLst>
                                          <p:attrName>style.visibility</p:attrName>
                                        </p:attrNameLst>
                                      </p:cBhvr>
                                      <p:to>
                                        <p:strVal val="visible"/>
                                      </p:to>
                                    </p:set>
                                    <p:animEffect transition="in" filter="fade">
                                      <p:cBhvr additive="repl">
                                        <p:cTn id="47" dur="500"/>
                                        <p:tgtEl>
                                          <p:spTgt spid="429"/>
                                        </p:tgtEl>
                                      </p:cBhvr>
                                    </p:animEffect>
                                  </p:childTnLst>
                                </p:cTn>
                              </p:par>
                              <p:par>
                                <p:cTn id="48" presetID="10" presetClass="entr" fill="hold" nodeType="withEffect">
                                  <p:stCondLst>
                                    <p:cond delay="0"/>
                                  </p:stCondLst>
                                  <p:childTnLst>
                                    <p:set>
                                      <p:cBhvr>
                                        <p:cTn id="49" dur="1" fill="hold">
                                          <p:stCondLst>
                                            <p:cond delay="0"/>
                                          </p:stCondLst>
                                        </p:cTn>
                                        <p:tgtEl>
                                          <p:spTgt spid="430"/>
                                        </p:tgtEl>
                                        <p:attrNameLst>
                                          <p:attrName>style.visibility</p:attrName>
                                        </p:attrNameLst>
                                      </p:cBhvr>
                                      <p:to>
                                        <p:strVal val="visible"/>
                                      </p:to>
                                    </p:set>
                                    <p:animEffect transition="in" filter="fade">
                                      <p:cBhvr additive="repl">
                                        <p:cTn id="50" dur="500"/>
                                        <p:tgtEl>
                                          <p:spTgt spid="43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431"/>
                                        </p:tgtEl>
                                        <p:attrNameLst>
                                          <p:attrName>style.visibility</p:attrName>
                                        </p:attrNameLst>
                                      </p:cBhvr>
                                      <p:to>
                                        <p:strVal val="visible"/>
                                      </p:to>
                                    </p:set>
                                    <p:animEffect transition="in" filter="wipe(left)">
                                      <p:cBhvr additive="repl">
                                        <p:cTn id="55" dur="700"/>
                                        <p:tgtEl>
                                          <p:spTgt spid="4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 name="PlaceHolder 1"/>
          <p:cNvSpPr>
            <a:spLocks noGrp="1"/>
          </p:cNvSpPr>
          <p:nvPr>
            <p:ph/>
          </p:nvPr>
        </p:nvSpPr>
        <p:spPr>
          <a:xfrm>
            <a:off x="394920" y="286920"/>
            <a:ext cx="5334480" cy="215280"/>
          </a:xfrm>
          <a:prstGeom prst="rect">
            <a:avLst/>
          </a:prstGeom>
          <a:noFill/>
          <a:ln w="0">
            <a:noFill/>
          </a:ln>
        </p:spPr>
        <p:txBody>
          <a:bodyPr lIns="0" tIns="45720" rIns="91440" bIns="45720" anchor="t">
            <a:noAutofit/>
          </a:bodyPr>
          <a:lstStyle/>
          <a:p>
            <a:pPr indent="0" defTabSz="914400">
              <a:lnSpc>
                <a:spcPct val="90000"/>
              </a:lnSpc>
              <a:spcBef>
                <a:spcPts val="1001"/>
              </a:spcBef>
              <a:buNone/>
              <a:tabLst>
                <a:tab pos="0" algn="l"/>
              </a:tabLst>
            </a:pPr>
            <a:r>
              <a:rPr lang="en-US" sz="900" b="0" strike="noStrike" cap="all" spc="296">
                <a:solidFill>
                  <a:schemeClr val="accent1"/>
                </a:solidFill>
                <a:latin typeface="Avenir Next LT Pro"/>
                <a:ea typeface="Avenir Next"/>
              </a:rPr>
              <a:t>01 · Descripción del desafío</a:t>
            </a:r>
            <a:endParaRPr lang="es-AR" sz="900" b="0" strike="noStrike" spc="-1">
              <a:solidFill>
                <a:srgbClr val="000000"/>
              </a:solidFill>
              <a:latin typeface="Arial"/>
            </a:endParaRPr>
          </a:p>
        </p:txBody>
      </p:sp>
      <p:sp>
        <p:nvSpPr>
          <p:cNvPr id="434" name="PlaceHolder 2"/>
          <p:cNvSpPr>
            <a:spLocks noGrp="1"/>
          </p:cNvSpPr>
          <p:nvPr>
            <p:ph type="title"/>
          </p:nvPr>
        </p:nvSpPr>
        <p:spPr>
          <a:xfrm>
            <a:off x="374760" y="502920"/>
            <a:ext cx="5334480" cy="1058400"/>
          </a:xfrm>
          <a:prstGeom prst="rect">
            <a:avLst/>
          </a:prstGeom>
          <a:noFill/>
          <a:ln w="0">
            <a:noFill/>
          </a:ln>
        </p:spPr>
        <p:txBody>
          <a:bodyPr lIns="0" tIns="45720" rIns="91440" bIns="45720" anchor="t">
            <a:noAutofit/>
          </a:bodyPr>
          <a:lstStyle/>
          <a:p>
            <a:pPr indent="0" defTabSz="914400">
              <a:lnSpc>
                <a:spcPct val="90000"/>
              </a:lnSpc>
              <a:buNone/>
              <a:tabLst>
                <a:tab pos="0" algn="l"/>
              </a:tabLst>
            </a:pPr>
            <a:r>
              <a:rPr lang="en-US" sz="2400" b="0" strike="noStrike" spc="66">
                <a:solidFill>
                  <a:schemeClr val="dk1"/>
                </a:solidFill>
                <a:latin typeface="Avenir Next LT Pro"/>
                <a:ea typeface="Avenir Next"/>
              </a:rPr>
              <a:t>Hoy, Ford le habla igual a todos</a:t>
            </a:r>
            <a:endParaRPr lang="es-AR" sz="2400" b="0" strike="noStrike" spc="-1">
              <a:solidFill>
                <a:srgbClr val="000000"/>
              </a:solidFill>
              <a:latin typeface="Arial"/>
            </a:endParaRPr>
          </a:p>
        </p:txBody>
      </p:sp>
      <p:sp>
        <p:nvSpPr>
          <p:cNvPr id="435" name="PlaceHolder 3"/>
          <p:cNvSpPr>
            <a:spLocks noGrp="1"/>
          </p:cNvSpPr>
          <p:nvPr>
            <p:ph type="sldNum" idx="59"/>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E1B8286A-60E5-46DA-9F1B-288DA110772F}" type="slidenum">
              <a:rPr lang="en-US" sz="800" b="0" strike="noStrike" spc="-1">
                <a:solidFill>
                  <a:schemeClr val="dk1"/>
                </a:solidFill>
                <a:latin typeface="Avenir Next LT Pro"/>
                <a:ea typeface="Avenir Next"/>
              </a:rPr>
              <a:t>6</a:t>
            </a:fld>
            <a:endParaRPr lang="es-AR" sz="800" b="0" strike="noStrike" spc="-1">
              <a:solidFill>
                <a:srgbClr val="000000"/>
              </a:solidFill>
              <a:latin typeface="Times New Roman"/>
            </a:endParaRPr>
          </a:p>
        </p:txBody>
      </p:sp>
      <p:sp>
        <p:nvSpPr>
          <p:cNvPr id="436" name="datos_existen"/>
          <p:cNvSpPr/>
          <p:nvPr/>
        </p:nvSpPr>
        <p:spPr>
          <a:xfrm>
            <a:off x="374760" y="2331720"/>
            <a:ext cx="4937040" cy="60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4000" b="0" strike="noStrike" spc="-1">
                <a:solidFill>
                  <a:srgbClr val="1700F3"/>
                </a:solidFill>
                <a:latin typeface="Avenir Next LT Pro"/>
              </a:rPr>
              <a:t>Los datos existen.</a:t>
            </a:r>
            <a:endParaRPr lang="es-AR" sz="4000" b="0" strike="noStrike" spc="-1">
              <a:solidFill>
                <a:srgbClr val="000000"/>
              </a:solidFill>
              <a:latin typeface="Arial"/>
            </a:endParaRPr>
          </a:p>
        </p:txBody>
      </p:sp>
      <p:sp>
        <p:nvSpPr>
          <p:cNvPr id="437" name="no_se_aprovechan"/>
          <p:cNvSpPr/>
          <p:nvPr/>
        </p:nvSpPr>
        <p:spPr>
          <a:xfrm>
            <a:off x="374760" y="3246120"/>
            <a:ext cx="4845600" cy="1371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2000" b="1" strike="noStrike" spc="-1">
                <a:solidFill>
                  <a:srgbClr val="00095B"/>
                </a:solidFill>
                <a:latin typeface="Avenir Next LT Pro"/>
              </a:rPr>
              <a:t>Pero no se terminan de aprovechar.</a:t>
            </a:r>
            <a:endParaRPr lang="es-AR" sz="2000" b="0" strike="noStrike" spc="-1">
              <a:solidFill>
                <a:srgbClr val="000000"/>
              </a:solidFill>
              <a:latin typeface="Arial"/>
            </a:endParaRPr>
          </a:p>
          <a:p>
            <a:pPr defTabSz="914400">
              <a:lnSpc>
                <a:spcPct val="100000"/>
              </a:lnSpc>
              <a:spcBef>
                <a:spcPts val="1199"/>
              </a:spcBef>
            </a:pPr>
            <a:r>
              <a:rPr lang="en-US" sz="2000" b="0" strike="noStrike" spc="-1">
                <a:solidFill>
                  <a:srgbClr val="00095B"/>
                </a:solidFill>
                <a:latin typeface="Avenir Next LT Pro"/>
              </a:rPr>
              <a:t>Todos reciben el mismo mensaje, en el mismo orden, y el cliente que se va se detecta cuando ya es tarde.</a:t>
            </a:r>
            <a:endParaRPr lang="es-AR" sz="2000" b="0" strike="noStrike" spc="-1">
              <a:solidFill>
                <a:srgbClr val="000000"/>
              </a:solidFill>
              <a:latin typeface="Arial"/>
            </a:endParaRPr>
          </a:p>
        </p:txBody>
      </p:sp>
      <p:sp>
        <p:nvSpPr>
          <p:cNvPr id="438" name="contacto_1"/>
          <p:cNvSpPr/>
          <p:nvPr/>
        </p:nvSpPr>
        <p:spPr>
          <a:xfrm>
            <a:off x="6556320" y="2514600"/>
            <a:ext cx="383400" cy="38340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439" name="contacto_2"/>
          <p:cNvSpPr/>
          <p:nvPr/>
        </p:nvSpPr>
        <p:spPr>
          <a:xfrm>
            <a:off x="7031880" y="2514600"/>
            <a:ext cx="383400" cy="383400"/>
          </a:xfrm>
          <a:prstGeom prst="ellipse">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440" name="contacto_3"/>
          <p:cNvSpPr/>
          <p:nvPr/>
        </p:nvSpPr>
        <p:spPr>
          <a:xfrm>
            <a:off x="7507080" y="2514600"/>
            <a:ext cx="383400" cy="383400"/>
          </a:xfrm>
          <a:prstGeom prst="ellipse">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441" name="contacto_4"/>
          <p:cNvSpPr/>
          <p:nvPr/>
        </p:nvSpPr>
        <p:spPr>
          <a:xfrm>
            <a:off x="7982640" y="2514600"/>
            <a:ext cx="383400" cy="38340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442" name="contacto_5"/>
          <p:cNvSpPr/>
          <p:nvPr/>
        </p:nvSpPr>
        <p:spPr>
          <a:xfrm>
            <a:off x="8458200" y="2514600"/>
            <a:ext cx="383400" cy="383400"/>
          </a:xfrm>
          <a:prstGeom prst="ellipse">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443" name="contacto_6"/>
          <p:cNvSpPr/>
          <p:nvPr/>
        </p:nvSpPr>
        <p:spPr>
          <a:xfrm>
            <a:off x="8933760" y="2514600"/>
            <a:ext cx="383400" cy="38340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444" name="contacto_7"/>
          <p:cNvSpPr/>
          <p:nvPr/>
        </p:nvSpPr>
        <p:spPr>
          <a:xfrm>
            <a:off x="9409320" y="2514600"/>
            <a:ext cx="383400" cy="383400"/>
          </a:xfrm>
          <a:prstGeom prst="ellipse">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445" name="contacto_8"/>
          <p:cNvSpPr/>
          <p:nvPr/>
        </p:nvSpPr>
        <p:spPr>
          <a:xfrm>
            <a:off x="9884520" y="2514600"/>
            <a:ext cx="383400" cy="383400"/>
          </a:xfrm>
          <a:prstGeom prst="ellipse">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446" name="contacto_9"/>
          <p:cNvSpPr/>
          <p:nvPr/>
        </p:nvSpPr>
        <p:spPr>
          <a:xfrm>
            <a:off x="10360080" y="2514600"/>
            <a:ext cx="383400" cy="383400"/>
          </a:xfrm>
          <a:prstGeom prst="ellipse">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447" name="contacto_10"/>
          <p:cNvSpPr/>
          <p:nvPr/>
        </p:nvSpPr>
        <p:spPr>
          <a:xfrm>
            <a:off x="10835640" y="2514600"/>
            <a:ext cx="383400" cy="383400"/>
          </a:xfrm>
          <a:prstGeom prst="ellipse">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448" name="res_texto"/>
          <p:cNvSpPr/>
          <p:nvPr/>
        </p:nvSpPr>
        <p:spPr>
          <a:xfrm>
            <a:off x="6556320" y="3200400"/>
            <a:ext cx="4845600" cy="109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2400" b="0" strike="noStrike" spc="-1">
                <a:solidFill>
                  <a:srgbClr val="00095B"/>
                </a:solidFill>
                <a:latin typeface="Avenir Next LT Pro"/>
              </a:rPr>
              <a:t>De cada 10 contactos, </a:t>
            </a:r>
            <a:r>
              <a:rPr lang="en-US" sz="2400" b="1" strike="noStrike" spc="-1">
                <a:solidFill>
                  <a:srgbClr val="00095B"/>
                </a:solidFill>
                <a:latin typeface="Avenir Next LT Pro"/>
              </a:rPr>
              <a:t>6</a:t>
            </a:r>
            <a:r>
              <a:rPr lang="en-US" sz="2400" b="0" strike="noStrike" spc="-1">
                <a:solidFill>
                  <a:srgbClr val="00095B"/>
                </a:solidFill>
                <a:latin typeface="Avenir Next LT Pro"/>
              </a:rPr>
              <a:t> van a clientes fidelizados que volverían a elegir Ford igual.</a:t>
            </a:r>
            <a:endParaRPr lang="es-AR" sz="2400" b="0" strike="noStrike" spc="-1">
              <a:solidFill>
                <a:srgbClr val="000000"/>
              </a:solidFill>
              <a:latin typeface="Arial"/>
            </a:endParaRPr>
          </a:p>
        </p:txBody>
      </p:sp>
      <p:sp>
        <p:nvSpPr>
          <p:cNvPr id="449" name="leyenda"/>
          <p:cNvSpPr/>
          <p:nvPr/>
        </p:nvSpPr>
        <p:spPr>
          <a:xfrm>
            <a:off x="6556320" y="4754880"/>
            <a:ext cx="4845600" cy="182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200" b="0" strike="noStrike" spc="-1">
                <a:solidFill>
                  <a:srgbClr val="00095B"/>
                </a:solidFill>
                <a:latin typeface="Avenir Next LT Pro"/>
              </a:rPr>
              <a:t>●</a:t>
            </a:r>
            <a:r>
              <a:rPr lang="en-US" sz="1200" b="0" strike="noStrike" spc="-1">
                <a:solidFill>
                  <a:srgbClr val="7F7F7F"/>
                </a:solidFill>
                <a:latin typeface="Avenir Next LT Pro"/>
              </a:rPr>
              <a:t>  está dejando Ford     </a:t>
            </a:r>
            <a:r>
              <a:rPr lang="en-US" sz="1200" b="0" strike="noStrike" spc="-1">
                <a:solidFill>
                  <a:srgbClr val="B9BCBD"/>
                </a:solidFill>
                <a:latin typeface="Avenir Next LT Pro"/>
              </a:rPr>
              <a:t>●</a:t>
            </a:r>
            <a:r>
              <a:rPr lang="en-US" sz="1200" b="0" strike="noStrike" spc="-1">
                <a:solidFill>
                  <a:srgbClr val="7F7F7F"/>
                </a:solidFill>
                <a:latin typeface="Avenir Next LT Pro"/>
              </a:rPr>
              <a:t>  vuelve igual</a:t>
            </a:r>
            <a:endParaRPr lang="es-AR" sz="1200" b="0" strike="noStrike" spc="-1">
              <a:solidFill>
                <a:srgbClr val="000000"/>
              </a:solidFill>
              <a:latin typeface="Arial"/>
            </a:endParaRPr>
          </a:p>
        </p:txBody>
      </p:sp>
      <p:sp>
        <p:nvSpPr>
          <p:cNvPr id="450"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María Florencia Iuzzolino</a:t>
            </a:r>
            <a:endParaRPr lang="es-AR" sz="10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436"/>
                                        </p:tgtEl>
                                        <p:attrNameLst>
                                          <p:attrName>style.visibility</p:attrName>
                                        </p:attrNameLst>
                                      </p:cBhvr>
                                      <p:to>
                                        <p:strVal val="visible"/>
                                      </p:to>
                                    </p:set>
                                    <p:animEffect transition="in" filter="fade">
                                      <p:cBhvr additive="repl">
                                        <p:cTn id="7" dur="500"/>
                                        <p:tgtEl>
                                          <p:spTgt spid="436"/>
                                        </p:tgtEl>
                                      </p:cBhvr>
                                    </p:animEffect>
                                  </p:childTnLst>
                                </p:cTn>
                              </p:par>
                              <p:par>
                                <p:cTn id="8" presetID="10" presetClass="entr" fill="hold" nodeType="withEffect">
                                  <p:stCondLst>
                                    <p:cond delay="0"/>
                                  </p:stCondLst>
                                  <p:childTnLst>
                                    <p:set>
                                      <p:cBhvr>
                                        <p:cTn id="9" dur="1" fill="hold">
                                          <p:stCondLst>
                                            <p:cond delay="0"/>
                                          </p:stCondLst>
                                        </p:cTn>
                                        <p:tgtEl>
                                          <p:spTgt spid="437"/>
                                        </p:tgtEl>
                                        <p:attrNameLst>
                                          <p:attrName>style.visibility</p:attrName>
                                        </p:attrNameLst>
                                      </p:cBhvr>
                                      <p:to>
                                        <p:strVal val="visible"/>
                                      </p:to>
                                    </p:set>
                                    <p:animEffect transition="in" filter="fade">
                                      <p:cBhvr additive="repl">
                                        <p:cTn id="10" dur="500"/>
                                        <p:tgtEl>
                                          <p:spTgt spid="43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fill="hold" nodeType="clickEffect">
                                  <p:stCondLst>
                                    <p:cond delay="0"/>
                                  </p:stCondLst>
                                  <p:childTnLst>
                                    <p:set>
                                      <p:cBhvr>
                                        <p:cTn id="14" dur="1" fill="hold">
                                          <p:stCondLst>
                                            <p:cond delay="0"/>
                                          </p:stCondLst>
                                        </p:cTn>
                                        <p:tgtEl>
                                          <p:spTgt spid="438"/>
                                        </p:tgtEl>
                                        <p:attrNameLst>
                                          <p:attrName>style.visibility</p:attrName>
                                        </p:attrNameLst>
                                      </p:cBhvr>
                                      <p:to>
                                        <p:strVal val="visible"/>
                                      </p:to>
                                    </p:set>
                                    <p:animEffect transition="in" filter="fade">
                                      <p:cBhvr additive="repl">
                                        <p:cTn id="15" dur="500"/>
                                        <p:tgtEl>
                                          <p:spTgt spid="438"/>
                                        </p:tgtEl>
                                      </p:cBhvr>
                                    </p:animEffect>
                                  </p:childTnLst>
                                </p:cTn>
                              </p:par>
                              <p:par>
                                <p:cTn id="16" presetID="10" presetClass="entr" fill="hold" nodeType="withEffect">
                                  <p:stCondLst>
                                    <p:cond delay="0"/>
                                  </p:stCondLst>
                                  <p:childTnLst>
                                    <p:set>
                                      <p:cBhvr>
                                        <p:cTn id="17" dur="1" fill="hold">
                                          <p:stCondLst>
                                            <p:cond delay="0"/>
                                          </p:stCondLst>
                                        </p:cTn>
                                        <p:tgtEl>
                                          <p:spTgt spid="439"/>
                                        </p:tgtEl>
                                        <p:attrNameLst>
                                          <p:attrName>style.visibility</p:attrName>
                                        </p:attrNameLst>
                                      </p:cBhvr>
                                      <p:to>
                                        <p:strVal val="visible"/>
                                      </p:to>
                                    </p:set>
                                    <p:animEffect transition="in" filter="fade">
                                      <p:cBhvr additive="repl">
                                        <p:cTn id="18" dur="500"/>
                                        <p:tgtEl>
                                          <p:spTgt spid="439"/>
                                        </p:tgtEl>
                                      </p:cBhvr>
                                    </p:animEffect>
                                  </p:childTnLst>
                                </p:cTn>
                              </p:par>
                              <p:par>
                                <p:cTn id="19" presetID="10" presetClass="entr" fill="hold" nodeType="withEffect">
                                  <p:stCondLst>
                                    <p:cond delay="0"/>
                                  </p:stCondLst>
                                  <p:childTnLst>
                                    <p:set>
                                      <p:cBhvr>
                                        <p:cTn id="20" dur="1" fill="hold">
                                          <p:stCondLst>
                                            <p:cond delay="0"/>
                                          </p:stCondLst>
                                        </p:cTn>
                                        <p:tgtEl>
                                          <p:spTgt spid="440"/>
                                        </p:tgtEl>
                                        <p:attrNameLst>
                                          <p:attrName>style.visibility</p:attrName>
                                        </p:attrNameLst>
                                      </p:cBhvr>
                                      <p:to>
                                        <p:strVal val="visible"/>
                                      </p:to>
                                    </p:set>
                                    <p:animEffect transition="in" filter="fade">
                                      <p:cBhvr additive="repl">
                                        <p:cTn id="21" dur="500"/>
                                        <p:tgtEl>
                                          <p:spTgt spid="440"/>
                                        </p:tgtEl>
                                      </p:cBhvr>
                                    </p:animEffect>
                                  </p:childTnLst>
                                </p:cTn>
                              </p:par>
                              <p:par>
                                <p:cTn id="22" presetID="10" presetClass="entr" fill="hold" nodeType="withEffect">
                                  <p:stCondLst>
                                    <p:cond delay="0"/>
                                  </p:stCondLst>
                                  <p:childTnLst>
                                    <p:set>
                                      <p:cBhvr>
                                        <p:cTn id="23" dur="1" fill="hold">
                                          <p:stCondLst>
                                            <p:cond delay="0"/>
                                          </p:stCondLst>
                                        </p:cTn>
                                        <p:tgtEl>
                                          <p:spTgt spid="441"/>
                                        </p:tgtEl>
                                        <p:attrNameLst>
                                          <p:attrName>style.visibility</p:attrName>
                                        </p:attrNameLst>
                                      </p:cBhvr>
                                      <p:to>
                                        <p:strVal val="visible"/>
                                      </p:to>
                                    </p:set>
                                    <p:animEffect transition="in" filter="fade">
                                      <p:cBhvr additive="repl">
                                        <p:cTn id="24" dur="500"/>
                                        <p:tgtEl>
                                          <p:spTgt spid="441"/>
                                        </p:tgtEl>
                                      </p:cBhvr>
                                    </p:animEffect>
                                  </p:childTnLst>
                                </p:cTn>
                              </p:par>
                              <p:par>
                                <p:cTn id="25" presetID="10" presetClass="entr" fill="hold" nodeType="withEffect">
                                  <p:stCondLst>
                                    <p:cond delay="0"/>
                                  </p:stCondLst>
                                  <p:childTnLst>
                                    <p:set>
                                      <p:cBhvr>
                                        <p:cTn id="26" dur="1" fill="hold">
                                          <p:stCondLst>
                                            <p:cond delay="0"/>
                                          </p:stCondLst>
                                        </p:cTn>
                                        <p:tgtEl>
                                          <p:spTgt spid="442"/>
                                        </p:tgtEl>
                                        <p:attrNameLst>
                                          <p:attrName>style.visibility</p:attrName>
                                        </p:attrNameLst>
                                      </p:cBhvr>
                                      <p:to>
                                        <p:strVal val="visible"/>
                                      </p:to>
                                    </p:set>
                                    <p:animEffect transition="in" filter="fade">
                                      <p:cBhvr additive="repl">
                                        <p:cTn id="27" dur="500"/>
                                        <p:tgtEl>
                                          <p:spTgt spid="442"/>
                                        </p:tgtEl>
                                      </p:cBhvr>
                                    </p:animEffect>
                                  </p:childTnLst>
                                </p:cTn>
                              </p:par>
                              <p:par>
                                <p:cTn id="28" presetID="10" presetClass="entr" fill="hold" nodeType="withEffect">
                                  <p:stCondLst>
                                    <p:cond delay="0"/>
                                  </p:stCondLst>
                                  <p:childTnLst>
                                    <p:set>
                                      <p:cBhvr>
                                        <p:cTn id="29" dur="1" fill="hold">
                                          <p:stCondLst>
                                            <p:cond delay="0"/>
                                          </p:stCondLst>
                                        </p:cTn>
                                        <p:tgtEl>
                                          <p:spTgt spid="443"/>
                                        </p:tgtEl>
                                        <p:attrNameLst>
                                          <p:attrName>style.visibility</p:attrName>
                                        </p:attrNameLst>
                                      </p:cBhvr>
                                      <p:to>
                                        <p:strVal val="visible"/>
                                      </p:to>
                                    </p:set>
                                    <p:animEffect transition="in" filter="fade">
                                      <p:cBhvr additive="repl">
                                        <p:cTn id="30" dur="500"/>
                                        <p:tgtEl>
                                          <p:spTgt spid="443"/>
                                        </p:tgtEl>
                                      </p:cBhvr>
                                    </p:animEffect>
                                  </p:childTnLst>
                                </p:cTn>
                              </p:par>
                              <p:par>
                                <p:cTn id="31" presetID="10" presetClass="entr" fill="hold" nodeType="withEffect">
                                  <p:stCondLst>
                                    <p:cond delay="0"/>
                                  </p:stCondLst>
                                  <p:childTnLst>
                                    <p:set>
                                      <p:cBhvr>
                                        <p:cTn id="32" dur="1" fill="hold">
                                          <p:stCondLst>
                                            <p:cond delay="0"/>
                                          </p:stCondLst>
                                        </p:cTn>
                                        <p:tgtEl>
                                          <p:spTgt spid="444"/>
                                        </p:tgtEl>
                                        <p:attrNameLst>
                                          <p:attrName>style.visibility</p:attrName>
                                        </p:attrNameLst>
                                      </p:cBhvr>
                                      <p:to>
                                        <p:strVal val="visible"/>
                                      </p:to>
                                    </p:set>
                                    <p:animEffect transition="in" filter="fade">
                                      <p:cBhvr additive="repl">
                                        <p:cTn id="33" dur="500"/>
                                        <p:tgtEl>
                                          <p:spTgt spid="444"/>
                                        </p:tgtEl>
                                      </p:cBhvr>
                                    </p:animEffect>
                                  </p:childTnLst>
                                </p:cTn>
                              </p:par>
                              <p:par>
                                <p:cTn id="34" presetID="10" presetClass="entr" fill="hold" nodeType="withEffect">
                                  <p:stCondLst>
                                    <p:cond delay="0"/>
                                  </p:stCondLst>
                                  <p:childTnLst>
                                    <p:set>
                                      <p:cBhvr>
                                        <p:cTn id="35" dur="1" fill="hold">
                                          <p:stCondLst>
                                            <p:cond delay="0"/>
                                          </p:stCondLst>
                                        </p:cTn>
                                        <p:tgtEl>
                                          <p:spTgt spid="445"/>
                                        </p:tgtEl>
                                        <p:attrNameLst>
                                          <p:attrName>style.visibility</p:attrName>
                                        </p:attrNameLst>
                                      </p:cBhvr>
                                      <p:to>
                                        <p:strVal val="visible"/>
                                      </p:to>
                                    </p:set>
                                    <p:animEffect transition="in" filter="fade">
                                      <p:cBhvr additive="repl">
                                        <p:cTn id="36" dur="500"/>
                                        <p:tgtEl>
                                          <p:spTgt spid="445"/>
                                        </p:tgtEl>
                                      </p:cBhvr>
                                    </p:animEffect>
                                  </p:childTnLst>
                                </p:cTn>
                              </p:par>
                              <p:par>
                                <p:cTn id="37" presetID="10" presetClass="entr" fill="hold" nodeType="withEffect">
                                  <p:stCondLst>
                                    <p:cond delay="0"/>
                                  </p:stCondLst>
                                  <p:childTnLst>
                                    <p:set>
                                      <p:cBhvr>
                                        <p:cTn id="38" dur="1" fill="hold">
                                          <p:stCondLst>
                                            <p:cond delay="0"/>
                                          </p:stCondLst>
                                        </p:cTn>
                                        <p:tgtEl>
                                          <p:spTgt spid="446"/>
                                        </p:tgtEl>
                                        <p:attrNameLst>
                                          <p:attrName>style.visibility</p:attrName>
                                        </p:attrNameLst>
                                      </p:cBhvr>
                                      <p:to>
                                        <p:strVal val="visible"/>
                                      </p:to>
                                    </p:set>
                                    <p:animEffect transition="in" filter="fade">
                                      <p:cBhvr additive="repl">
                                        <p:cTn id="39" dur="500"/>
                                        <p:tgtEl>
                                          <p:spTgt spid="446"/>
                                        </p:tgtEl>
                                      </p:cBhvr>
                                    </p:animEffect>
                                  </p:childTnLst>
                                </p:cTn>
                              </p:par>
                              <p:par>
                                <p:cTn id="40" presetID="10" presetClass="entr" fill="hold" nodeType="withEffect">
                                  <p:stCondLst>
                                    <p:cond delay="0"/>
                                  </p:stCondLst>
                                  <p:childTnLst>
                                    <p:set>
                                      <p:cBhvr>
                                        <p:cTn id="41" dur="1" fill="hold">
                                          <p:stCondLst>
                                            <p:cond delay="0"/>
                                          </p:stCondLst>
                                        </p:cTn>
                                        <p:tgtEl>
                                          <p:spTgt spid="447"/>
                                        </p:tgtEl>
                                        <p:attrNameLst>
                                          <p:attrName>style.visibility</p:attrName>
                                        </p:attrNameLst>
                                      </p:cBhvr>
                                      <p:to>
                                        <p:strVal val="visible"/>
                                      </p:to>
                                    </p:set>
                                    <p:animEffect transition="in" filter="fade">
                                      <p:cBhvr additive="repl">
                                        <p:cTn id="42" dur="500"/>
                                        <p:tgtEl>
                                          <p:spTgt spid="447"/>
                                        </p:tgtEl>
                                      </p:cBhvr>
                                    </p:animEffect>
                                  </p:childTnLst>
                                </p:cTn>
                              </p:par>
                              <p:par>
                                <p:cTn id="43" presetID="10" presetClass="entr" fill="hold" nodeType="withEffect">
                                  <p:stCondLst>
                                    <p:cond delay="0"/>
                                  </p:stCondLst>
                                  <p:childTnLst>
                                    <p:set>
                                      <p:cBhvr>
                                        <p:cTn id="44" dur="1" fill="hold">
                                          <p:stCondLst>
                                            <p:cond delay="0"/>
                                          </p:stCondLst>
                                        </p:cTn>
                                        <p:tgtEl>
                                          <p:spTgt spid="448"/>
                                        </p:tgtEl>
                                        <p:attrNameLst>
                                          <p:attrName>style.visibility</p:attrName>
                                        </p:attrNameLst>
                                      </p:cBhvr>
                                      <p:to>
                                        <p:strVal val="visible"/>
                                      </p:to>
                                    </p:set>
                                    <p:animEffect transition="in" filter="fade">
                                      <p:cBhvr additive="repl">
                                        <p:cTn id="45" dur="500"/>
                                        <p:tgtEl>
                                          <p:spTgt spid="448"/>
                                        </p:tgtEl>
                                      </p:cBhvr>
                                    </p:animEffect>
                                  </p:childTnLst>
                                </p:cTn>
                              </p:par>
                              <p:par>
                                <p:cTn id="46" presetID="10" presetClass="entr" fill="hold" nodeType="withEffect">
                                  <p:stCondLst>
                                    <p:cond delay="0"/>
                                  </p:stCondLst>
                                  <p:childTnLst>
                                    <p:set>
                                      <p:cBhvr>
                                        <p:cTn id="47" dur="1" fill="hold">
                                          <p:stCondLst>
                                            <p:cond delay="0"/>
                                          </p:stCondLst>
                                        </p:cTn>
                                        <p:tgtEl>
                                          <p:spTgt spid="449"/>
                                        </p:tgtEl>
                                        <p:attrNameLst>
                                          <p:attrName>style.visibility</p:attrName>
                                        </p:attrNameLst>
                                      </p:cBhvr>
                                      <p:to>
                                        <p:strVal val="visible"/>
                                      </p:to>
                                    </p:set>
                                    <p:animEffect transition="in" filter="fade">
                                      <p:cBhvr additive="repl">
                                        <p:cTn id="48" dur="500"/>
                                        <p:tgtEl>
                                          <p:spTgt spid="4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PlaceHolder 1"/>
          <p:cNvSpPr>
            <a:spLocks noGrp="1"/>
          </p:cNvSpPr>
          <p:nvPr>
            <p:ph type="title"/>
          </p:nvPr>
        </p:nvSpPr>
        <p:spPr>
          <a:xfrm>
            <a:off x="996840" y="3033000"/>
            <a:ext cx="10524240" cy="395280"/>
          </a:xfrm>
          <a:prstGeom prst="rect">
            <a:avLst/>
          </a:prstGeom>
          <a:noFill/>
          <a:ln w="0">
            <a:noFill/>
          </a:ln>
        </p:spPr>
        <p:txBody>
          <a:bodyPr lIns="0" tIns="45720" rIns="91440" bIns="45720" anchor="t">
            <a:noAutofit/>
          </a:bodyPr>
          <a:lstStyle/>
          <a:p>
            <a:pPr indent="0" defTabSz="914400">
              <a:lnSpc>
                <a:spcPct val="100000"/>
              </a:lnSpc>
              <a:buNone/>
              <a:tabLst>
                <a:tab pos="0" algn="l"/>
              </a:tabLst>
            </a:pPr>
            <a:r>
              <a:rPr lang="en-US" sz="2400" b="0" strike="noStrike" spc="35">
                <a:solidFill>
                  <a:schemeClr val="dk1"/>
                </a:solidFill>
                <a:latin typeface="Avenir Next LT Pro"/>
                <a:ea typeface="Avenir Next"/>
              </a:rPr>
              <a:t>Descripción de la solución</a:t>
            </a:r>
            <a:endParaRPr lang="es-AR" sz="2400" b="0" strike="noStrike" spc="-1">
              <a:solidFill>
                <a:srgbClr val="000000"/>
              </a:solidFill>
              <a:latin typeface="Arial"/>
            </a:endParaRPr>
          </a:p>
        </p:txBody>
      </p:sp>
      <p:sp>
        <p:nvSpPr>
          <p:cNvPr id="452" name="PlaceHolder 2"/>
          <p:cNvSpPr>
            <a:spLocks noGrp="1"/>
          </p:cNvSpPr>
          <p:nvPr>
            <p:ph/>
          </p:nvPr>
        </p:nvSpPr>
        <p:spPr>
          <a:xfrm>
            <a:off x="996840" y="3584520"/>
            <a:ext cx="10514880" cy="438840"/>
          </a:xfrm>
          <a:prstGeom prst="rect">
            <a:avLst/>
          </a:prstGeom>
          <a:noFill/>
          <a:ln w="0">
            <a:noFill/>
          </a:ln>
        </p:spPr>
        <p:txBody>
          <a:bodyPr lIns="0" tIns="45720" rIns="91440" bIns="45720" anchor="t">
            <a:noAutofit/>
          </a:bodyPr>
          <a:lstStyle/>
          <a:p>
            <a:pPr indent="0" defTabSz="914400">
              <a:lnSpc>
                <a:spcPct val="90000"/>
              </a:lnSpc>
              <a:spcBef>
                <a:spcPts val="1001"/>
              </a:spcBef>
              <a:buNone/>
              <a:tabLst>
                <a:tab pos="0" algn="l"/>
              </a:tabLst>
            </a:pPr>
            <a:r>
              <a:rPr lang="en-US" sz="1200" b="0" strike="noStrike" spc="55">
                <a:solidFill>
                  <a:schemeClr val="dk1"/>
                </a:solidFill>
                <a:latin typeface="Avenir Next LT Pro"/>
                <a:ea typeface="Avenir Next"/>
              </a:rPr>
              <a:t>Primero entendimos cómo vuelve, y cómo se va, un cliente</a:t>
            </a:r>
            <a:endParaRPr lang="es-AR" sz="1200" b="0" strike="noStrike" spc="-1">
              <a:solidFill>
                <a:srgbClr val="000000"/>
              </a:solidFill>
              <a:latin typeface="Arial"/>
            </a:endParaRPr>
          </a:p>
        </p:txBody>
      </p:sp>
      <p:sp>
        <p:nvSpPr>
          <p:cNvPr id="453" name="PlaceHolder 3"/>
          <p:cNvSpPr>
            <a:spLocks noGrp="1"/>
          </p:cNvSpPr>
          <p:nvPr>
            <p:ph/>
          </p:nvPr>
        </p:nvSpPr>
        <p:spPr>
          <a:xfrm>
            <a:off x="996840" y="1550520"/>
            <a:ext cx="1470960" cy="1102680"/>
          </a:xfrm>
          <a:prstGeom prst="rect">
            <a:avLst/>
          </a:prstGeom>
          <a:noFill/>
          <a:ln w="0">
            <a:noFill/>
          </a:ln>
        </p:spPr>
        <p:txBody>
          <a:bodyPr lIns="0" tIns="45720" rIns="91440" bIns="0" anchor="b">
            <a:noAutofit/>
          </a:bodyPr>
          <a:lstStyle/>
          <a:p>
            <a:pPr indent="0" defTabSz="914400">
              <a:lnSpc>
                <a:spcPct val="90000"/>
              </a:lnSpc>
              <a:spcBef>
                <a:spcPts val="1001"/>
              </a:spcBef>
              <a:buNone/>
              <a:tabLst>
                <a:tab pos="0" algn="l"/>
              </a:tabLst>
            </a:pPr>
            <a:r>
              <a:rPr lang="en-US" sz="3200" b="0" strike="noStrike" spc="46">
                <a:solidFill>
                  <a:schemeClr val="accent1"/>
                </a:solidFill>
                <a:latin typeface="Avenir Next LT Pro"/>
                <a:ea typeface="Avenir Next"/>
              </a:rPr>
              <a:t>02</a:t>
            </a:r>
            <a:endParaRPr lang="es-AR" sz="3200" b="0" strike="noStrike" spc="-1">
              <a:solidFill>
                <a:srgbClr val="000000"/>
              </a:solidFill>
              <a:latin typeface="Arial"/>
            </a:endParaRPr>
          </a:p>
        </p:txBody>
      </p:sp>
      <p:sp>
        <p:nvSpPr>
          <p:cNvPr id="454"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María Florencia Iuzzolino</a:t>
            </a:r>
            <a:endParaRPr lang="es-AR" sz="1000" b="0" strike="noStrike" spc="-1">
              <a:solidFill>
                <a:srgbClr val="000000"/>
              </a:solidFill>
              <a:latin typeface="Arial"/>
            </a:endParaRPr>
          </a:p>
        </p:txBody>
      </p:sp>
      <p:sp>
        <p:nvSpPr>
          <p:cNvPr id="5" name="PlaceHolder 4"/>
          <p:cNvSpPr>
            <a:spLocks noGrp="1"/>
          </p:cNvSpPr>
          <p:nvPr>
            <p:ph type="sldNum" idx="12"/>
          </p:nvPr>
        </p:nvSpPr>
        <p:spPr/>
        <p:txBody>
          <a:bodyPr/>
          <a:lstStyle/>
          <a:p>
            <a:fld id="{78FBE27A-6F93-418B-93BA-267719EF3E02}" type="slidenum">
              <a:rPr/>
              <a:t>7</a:t>
            </a:fld>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 name="PlaceHolder 1"/>
          <p:cNvSpPr>
            <a:spLocks noGrp="1"/>
          </p:cNvSpPr>
          <p:nvPr>
            <p:ph type="title"/>
          </p:nvPr>
        </p:nvSpPr>
        <p:spPr>
          <a:xfrm>
            <a:off x="374760" y="502920"/>
            <a:ext cx="7701480" cy="1026360"/>
          </a:xfrm>
          <a:prstGeom prst="rect">
            <a:avLst/>
          </a:prstGeom>
          <a:noFill/>
          <a:ln w="0">
            <a:noFill/>
          </a:ln>
        </p:spPr>
        <p:txBody>
          <a:bodyPr lIns="0" tIns="45720" rIns="91440" bIns="45720" anchor="t">
            <a:noAutofit/>
          </a:bodyPr>
          <a:lstStyle/>
          <a:p>
            <a:pPr indent="0" defTabSz="914400">
              <a:lnSpc>
                <a:spcPct val="90000"/>
              </a:lnSpc>
              <a:buNone/>
              <a:tabLst>
                <a:tab pos="0" algn="l"/>
              </a:tabLst>
            </a:pPr>
            <a:r>
              <a:rPr lang="en-US" sz="2400" b="0" strike="noStrike" spc="66">
                <a:solidFill>
                  <a:schemeClr val="dk1"/>
                </a:solidFill>
                <a:latin typeface="Avenir Next LT Pro"/>
                <a:ea typeface="Avenir Next"/>
              </a:rPr>
              <a:t>Los datos ya avisan quién se va</a:t>
            </a:r>
            <a:endParaRPr lang="es-AR" sz="2400" b="0" strike="noStrike" spc="-1">
              <a:solidFill>
                <a:srgbClr val="000000"/>
              </a:solidFill>
              <a:latin typeface="Arial"/>
            </a:endParaRPr>
          </a:p>
        </p:txBody>
      </p:sp>
      <p:sp>
        <p:nvSpPr>
          <p:cNvPr id="456" name="PlaceHolder 2"/>
          <p:cNvSpPr>
            <a:spLocks noGrp="1"/>
          </p:cNvSpPr>
          <p:nvPr>
            <p:ph/>
          </p:nvPr>
        </p:nvSpPr>
        <p:spPr>
          <a:xfrm>
            <a:off x="394920" y="286920"/>
            <a:ext cx="5638680" cy="198000"/>
          </a:xfrm>
          <a:prstGeom prst="rect">
            <a:avLst/>
          </a:prstGeom>
          <a:noFill/>
          <a:ln w="0">
            <a:noFill/>
          </a:ln>
        </p:spPr>
        <p:txBody>
          <a:bodyPr lIns="0" tIns="45720" rIns="91440" bIns="45720" anchor="t">
            <a:noAutofit/>
          </a:bodyPr>
          <a:lstStyle/>
          <a:p>
            <a:pPr indent="0" defTabSz="914400">
              <a:lnSpc>
                <a:spcPct val="90000"/>
              </a:lnSpc>
              <a:spcBef>
                <a:spcPts val="1001"/>
              </a:spcBef>
              <a:buNone/>
              <a:tabLst>
                <a:tab pos="0" algn="l"/>
              </a:tabLst>
            </a:pPr>
            <a:r>
              <a:rPr lang="en-US" sz="900" b="0" strike="noStrike" cap="all" spc="296">
                <a:solidFill>
                  <a:schemeClr val="accent1"/>
                </a:solidFill>
                <a:latin typeface="Avenir Next LT Pro"/>
                <a:ea typeface="Avenir Next"/>
              </a:rPr>
              <a:t>02 · Descripción de la solución</a:t>
            </a:r>
            <a:endParaRPr lang="es-AR" sz="900" b="0" strike="noStrike" spc="-1">
              <a:solidFill>
                <a:srgbClr val="000000"/>
              </a:solidFill>
              <a:latin typeface="Arial"/>
            </a:endParaRPr>
          </a:p>
        </p:txBody>
      </p:sp>
      <p:sp>
        <p:nvSpPr>
          <p:cNvPr id="457" name="PlaceHolder 3"/>
          <p:cNvSpPr>
            <a:spLocks noGrp="1"/>
          </p:cNvSpPr>
          <p:nvPr>
            <p:ph type="sldNum" idx="60"/>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6F26EC24-0F17-437A-98F3-E824D7DE98A1}" type="slidenum">
              <a:rPr lang="en-US" sz="800" b="0" strike="noStrike" spc="-1">
                <a:solidFill>
                  <a:schemeClr val="dk1"/>
                </a:solidFill>
                <a:latin typeface="Avenir Next LT Pro"/>
                <a:ea typeface="Avenir Next"/>
              </a:rPr>
              <a:t>8</a:t>
            </a:fld>
            <a:endParaRPr lang="es-AR" sz="800" b="0" strike="noStrike" spc="-1">
              <a:solidFill>
                <a:srgbClr val="000000"/>
              </a:solidFill>
              <a:latin typeface="Times New Roman"/>
            </a:endParaRPr>
          </a:p>
        </p:txBody>
      </p:sp>
      <p:sp>
        <p:nvSpPr>
          <p:cNvPr id="458" name="dato1_num"/>
          <p:cNvSpPr/>
          <p:nvPr/>
        </p:nvSpPr>
        <p:spPr>
          <a:xfrm>
            <a:off x="374760" y="1691640"/>
            <a:ext cx="3016800" cy="60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4000" b="0" strike="noStrike" spc="-1">
                <a:solidFill>
                  <a:srgbClr val="1700F3"/>
                </a:solidFill>
                <a:latin typeface="Avenir Next LT Pro"/>
              </a:rPr>
              <a:t>6 a 8 meses</a:t>
            </a:r>
            <a:endParaRPr lang="es-AR" sz="4000" b="0" strike="noStrike" spc="-1">
              <a:solidFill>
                <a:srgbClr val="000000"/>
              </a:solidFill>
              <a:latin typeface="Arial"/>
            </a:endParaRPr>
          </a:p>
        </p:txBody>
      </p:sp>
      <p:sp>
        <p:nvSpPr>
          <p:cNvPr id="459" name="dato1_cab"/>
          <p:cNvSpPr/>
          <p:nvPr/>
        </p:nvSpPr>
        <p:spPr>
          <a:xfrm>
            <a:off x="374760" y="2606040"/>
            <a:ext cx="2971080" cy="77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700" b="1" strike="noStrike" spc="-1">
                <a:solidFill>
                  <a:srgbClr val="00095B"/>
                </a:solidFill>
                <a:latin typeface="Avenir Next LT Pro"/>
              </a:rPr>
              <a:t>El service va por kilómetros, no por calendario</a:t>
            </a:r>
            <a:endParaRPr lang="es-AR" sz="1700" b="0" strike="noStrike" spc="-1">
              <a:solidFill>
                <a:srgbClr val="000000"/>
              </a:solidFill>
              <a:latin typeface="Arial"/>
            </a:endParaRPr>
          </a:p>
        </p:txBody>
      </p:sp>
      <p:sp>
        <p:nvSpPr>
          <p:cNvPr id="460" name="dato1_cuerpo"/>
          <p:cNvSpPr/>
          <p:nvPr/>
        </p:nvSpPr>
        <p:spPr>
          <a:xfrm>
            <a:off x="374760" y="3611880"/>
            <a:ext cx="2833920" cy="79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300" b="0" strike="noStrike" spc="-1">
                <a:solidFill>
                  <a:srgbClr val="7F7F7F"/>
                </a:solidFill>
                <a:latin typeface="Avenir Next LT Pro"/>
              </a:rPr>
              <a:t>Una Ranger hace unos 22.000 km por año. Si se espera “al año”, se llega tarde: el 86 % ya lo había hecho.</a:t>
            </a:r>
            <a:endParaRPr lang="es-AR" sz="1300" b="0" strike="noStrike" spc="-1">
              <a:solidFill>
                <a:srgbClr val="000000"/>
              </a:solidFill>
              <a:latin typeface="Arial"/>
            </a:endParaRPr>
          </a:p>
        </p:txBody>
      </p:sp>
      <p:sp>
        <p:nvSpPr>
          <p:cNvPr id="461" name="dato2_num"/>
          <p:cNvSpPr/>
          <p:nvPr/>
        </p:nvSpPr>
        <p:spPr>
          <a:xfrm>
            <a:off x="4581000" y="1691640"/>
            <a:ext cx="3016800" cy="60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4000" b="0" strike="noStrike" spc="-1">
                <a:solidFill>
                  <a:srgbClr val="1700F3"/>
                </a:solidFill>
                <a:latin typeface="Avenir Next LT Pro"/>
              </a:rPr>
              <a:t>1 de cada 3</a:t>
            </a:r>
            <a:endParaRPr lang="es-AR" sz="4000" b="0" strike="noStrike" spc="-1">
              <a:solidFill>
                <a:srgbClr val="000000"/>
              </a:solidFill>
              <a:latin typeface="Arial"/>
            </a:endParaRPr>
          </a:p>
        </p:txBody>
      </p:sp>
      <p:sp>
        <p:nvSpPr>
          <p:cNvPr id="462" name="dato2_cab"/>
          <p:cNvSpPr/>
          <p:nvPr/>
        </p:nvSpPr>
        <p:spPr>
          <a:xfrm>
            <a:off x="4581000" y="2606040"/>
            <a:ext cx="2971080" cy="518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700" b="1" strike="noStrike" spc="-1">
                <a:solidFill>
                  <a:srgbClr val="00095B"/>
                </a:solidFill>
                <a:latin typeface="Avenir Next LT Pro"/>
              </a:rPr>
              <a:t>El primer service es el momento crítico</a:t>
            </a:r>
            <a:endParaRPr lang="es-AR" sz="1700" b="0" strike="noStrike" spc="-1">
              <a:solidFill>
                <a:srgbClr val="000000"/>
              </a:solidFill>
              <a:latin typeface="Arial"/>
            </a:endParaRPr>
          </a:p>
        </p:txBody>
      </p:sp>
      <p:sp>
        <p:nvSpPr>
          <p:cNvPr id="463" name="dato2_cuerpo"/>
          <p:cNvSpPr/>
          <p:nvPr/>
        </p:nvSpPr>
        <p:spPr>
          <a:xfrm>
            <a:off x="4581000" y="3611880"/>
            <a:ext cx="2833920" cy="79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300" b="0" strike="noStrike" spc="-1">
                <a:solidFill>
                  <a:srgbClr val="7F7F7F"/>
                </a:solidFill>
                <a:latin typeface="Avenir Next LT Pro"/>
              </a:rPr>
              <a:t>Más de un tercio no hace el primero en un concesionario oficial. En el segundo, baja a 1 de cada 4: el que vuelve una vez, se queda.</a:t>
            </a:r>
            <a:endParaRPr lang="es-AR" sz="1300" b="0" strike="noStrike" spc="-1">
              <a:solidFill>
                <a:srgbClr val="000000"/>
              </a:solidFill>
              <a:latin typeface="Arial"/>
            </a:endParaRPr>
          </a:p>
        </p:txBody>
      </p:sp>
      <p:sp>
        <p:nvSpPr>
          <p:cNvPr id="464" name="dato3_num"/>
          <p:cNvSpPr/>
          <p:nvPr/>
        </p:nvSpPr>
        <p:spPr>
          <a:xfrm>
            <a:off x="8732520" y="1691640"/>
            <a:ext cx="3016800" cy="60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4000" b="0" strike="noStrike" spc="-1">
                <a:solidFill>
                  <a:srgbClr val="1700F3"/>
                </a:solidFill>
                <a:latin typeface="Avenir Next LT Pro"/>
              </a:rPr>
              <a:t>Se ve venir</a:t>
            </a:r>
            <a:endParaRPr lang="es-AR" sz="4000" b="0" strike="noStrike" spc="-1">
              <a:solidFill>
                <a:srgbClr val="000000"/>
              </a:solidFill>
              <a:latin typeface="Arial"/>
            </a:endParaRPr>
          </a:p>
        </p:txBody>
      </p:sp>
      <p:sp>
        <p:nvSpPr>
          <p:cNvPr id="465" name="dato3_cab"/>
          <p:cNvSpPr/>
          <p:nvPr/>
        </p:nvSpPr>
        <p:spPr>
          <a:xfrm>
            <a:off x="8732520" y="2606040"/>
            <a:ext cx="2971080" cy="259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700" b="1" strike="noStrike" spc="-1">
                <a:solidFill>
                  <a:srgbClr val="00095B"/>
                </a:solidFill>
                <a:latin typeface="Avenir Next LT Pro"/>
              </a:rPr>
              <a:t>El que se va deja señales</a:t>
            </a:r>
            <a:endParaRPr lang="es-AR" sz="1700" b="0" strike="noStrike" spc="-1">
              <a:solidFill>
                <a:srgbClr val="000000"/>
              </a:solidFill>
              <a:latin typeface="Arial"/>
            </a:endParaRPr>
          </a:p>
        </p:txBody>
      </p:sp>
      <p:sp>
        <p:nvSpPr>
          <p:cNvPr id="466" name="dato3_cuerpo"/>
          <p:cNvSpPr/>
          <p:nvPr/>
        </p:nvSpPr>
        <p:spPr>
          <a:xfrm>
            <a:off x="8732520" y="3611880"/>
            <a:ext cx="2833920" cy="79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300" b="0" strike="noStrike" spc="-1">
                <a:solidFill>
                  <a:srgbClr val="7F7F7F"/>
                </a:solidFill>
                <a:latin typeface="Avenir Next LT Pro"/>
              </a:rPr>
              <a:t>Llega tarde respecto del plan, viene poco, es una flota, depende del concesionario. La encuesta de satisfacción no anticipa nada.</a:t>
            </a:r>
            <a:endParaRPr lang="es-AR" sz="1300" b="0" strike="noStrike" spc="-1">
              <a:solidFill>
                <a:srgbClr val="000000"/>
              </a:solidFill>
              <a:latin typeface="Arial"/>
            </a:endParaRPr>
          </a:p>
        </p:txBody>
      </p:sp>
      <p:sp>
        <p:nvSpPr>
          <p:cNvPr id="467"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María Florencia Iuzzolino</a:t>
            </a:r>
            <a:endParaRPr lang="es-AR" sz="10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458"/>
                                        </p:tgtEl>
                                        <p:attrNameLst>
                                          <p:attrName>style.visibility</p:attrName>
                                        </p:attrNameLst>
                                      </p:cBhvr>
                                      <p:to>
                                        <p:strVal val="visible"/>
                                      </p:to>
                                    </p:set>
                                    <p:animEffect transition="in" filter="fade">
                                      <p:cBhvr additive="repl">
                                        <p:cTn id="7" dur="500"/>
                                        <p:tgtEl>
                                          <p:spTgt spid="458"/>
                                        </p:tgtEl>
                                      </p:cBhvr>
                                    </p:animEffect>
                                  </p:childTnLst>
                                </p:cTn>
                              </p:par>
                              <p:par>
                                <p:cTn id="8" presetID="10" presetClass="entr" fill="hold" nodeType="withEffect">
                                  <p:stCondLst>
                                    <p:cond delay="0"/>
                                  </p:stCondLst>
                                  <p:childTnLst>
                                    <p:set>
                                      <p:cBhvr>
                                        <p:cTn id="9" dur="1" fill="hold">
                                          <p:stCondLst>
                                            <p:cond delay="0"/>
                                          </p:stCondLst>
                                        </p:cTn>
                                        <p:tgtEl>
                                          <p:spTgt spid="459"/>
                                        </p:tgtEl>
                                        <p:attrNameLst>
                                          <p:attrName>style.visibility</p:attrName>
                                        </p:attrNameLst>
                                      </p:cBhvr>
                                      <p:to>
                                        <p:strVal val="visible"/>
                                      </p:to>
                                    </p:set>
                                    <p:animEffect transition="in" filter="fade">
                                      <p:cBhvr additive="repl">
                                        <p:cTn id="10" dur="500"/>
                                        <p:tgtEl>
                                          <p:spTgt spid="459"/>
                                        </p:tgtEl>
                                      </p:cBhvr>
                                    </p:animEffect>
                                  </p:childTnLst>
                                </p:cTn>
                              </p:par>
                              <p:par>
                                <p:cTn id="11" presetID="10" presetClass="entr" fill="hold" nodeType="withEffect">
                                  <p:stCondLst>
                                    <p:cond delay="0"/>
                                  </p:stCondLst>
                                  <p:childTnLst>
                                    <p:set>
                                      <p:cBhvr>
                                        <p:cTn id="12" dur="1" fill="hold">
                                          <p:stCondLst>
                                            <p:cond delay="0"/>
                                          </p:stCondLst>
                                        </p:cTn>
                                        <p:tgtEl>
                                          <p:spTgt spid="460"/>
                                        </p:tgtEl>
                                        <p:attrNameLst>
                                          <p:attrName>style.visibility</p:attrName>
                                        </p:attrNameLst>
                                      </p:cBhvr>
                                      <p:to>
                                        <p:strVal val="visible"/>
                                      </p:to>
                                    </p:set>
                                    <p:animEffect transition="in" filter="fade">
                                      <p:cBhvr additive="repl">
                                        <p:cTn id="13" dur="500"/>
                                        <p:tgtEl>
                                          <p:spTgt spid="46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fill="hold" nodeType="clickEffect">
                                  <p:stCondLst>
                                    <p:cond delay="0"/>
                                  </p:stCondLst>
                                  <p:childTnLst>
                                    <p:set>
                                      <p:cBhvr>
                                        <p:cTn id="17" dur="1" fill="hold">
                                          <p:stCondLst>
                                            <p:cond delay="0"/>
                                          </p:stCondLst>
                                        </p:cTn>
                                        <p:tgtEl>
                                          <p:spTgt spid="461"/>
                                        </p:tgtEl>
                                        <p:attrNameLst>
                                          <p:attrName>style.visibility</p:attrName>
                                        </p:attrNameLst>
                                      </p:cBhvr>
                                      <p:to>
                                        <p:strVal val="visible"/>
                                      </p:to>
                                    </p:set>
                                    <p:animEffect transition="in" filter="fade">
                                      <p:cBhvr additive="repl">
                                        <p:cTn id="18" dur="500"/>
                                        <p:tgtEl>
                                          <p:spTgt spid="461"/>
                                        </p:tgtEl>
                                      </p:cBhvr>
                                    </p:animEffect>
                                  </p:childTnLst>
                                </p:cTn>
                              </p:par>
                              <p:par>
                                <p:cTn id="19" presetID="10" presetClass="entr" fill="hold" nodeType="withEffect">
                                  <p:stCondLst>
                                    <p:cond delay="0"/>
                                  </p:stCondLst>
                                  <p:childTnLst>
                                    <p:set>
                                      <p:cBhvr>
                                        <p:cTn id="20" dur="1" fill="hold">
                                          <p:stCondLst>
                                            <p:cond delay="0"/>
                                          </p:stCondLst>
                                        </p:cTn>
                                        <p:tgtEl>
                                          <p:spTgt spid="462"/>
                                        </p:tgtEl>
                                        <p:attrNameLst>
                                          <p:attrName>style.visibility</p:attrName>
                                        </p:attrNameLst>
                                      </p:cBhvr>
                                      <p:to>
                                        <p:strVal val="visible"/>
                                      </p:to>
                                    </p:set>
                                    <p:animEffect transition="in" filter="fade">
                                      <p:cBhvr additive="repl">
                                        <p:cTn id="21" dur="500"/>
                                        <p:tgtEl>
                                          <p:spTgt spid="462"/>
                                        </p:tgtEl>
                                      </p:cBhvr>
                                    </p:animEffect>
                                  </p:childTnLst>
                                </p:cTn>
                              </p:par>
                              <p:par>
                                <p:cTn id="22" presetID="10" presetClass="entr" fill="hold" nodeType="withEffect">
                                  <p:stCondLst>
                                    <p:cond delay="0"/>
                                  </p:stCondLst>
                                  <p:childTnLst>
                                    <p:set>
                                      <p:cBhvr>
                                        <p:cTn id="23" dur="1" fill="hold">
                                          <p:stCondLst>
                                            <p:cond delay="0"/>
                                          </p:stCondLst>
                                        </p:cTn>
                                        <p:tgtEl>
                                          <p:spTgt spid="463"/>
                                        </p:tgtEl>
                                        <p:attrNameLst>
                                          <p:attrName>style.visibility</p:attrName>
                                        </p:attrNameLst>
                                      </p:cBhvr>
                                      <p:to>
                                        <p:strVal val="visible"/>
                                      </p:to>
                                    </p:set>
                                    <p:animEffect transition="in" filter="fade">
                                      <p:cBhvr additive="repl">
                                        <p:cTn id="24" dur="500"/>
                                        <p:tgtEl>
                                          <p:spTgt spid="46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fill="hold" nodeType="clickEffect">
                                  <p:stCondLst>
                                    <p:cond delay="0"/>
                                  </p:stCondLst>
                                  <p:childTnLst>
                                    <p:set>
                                      <p:cBhvr>
                                        <p:cTn id="28" dur="1" fill="hold">
                                          <p:stCondLst>
                                            <p:cond delay="0"/>
                                          </p:stCondLst>
                                        </p:cTn>
                                        <p:tgtEl>
                                          <p:spTgt spid="464"/>
                                        </p:tgtEl>
                                        <p:attrNameLst>
                                          <p:attrName>style.visibility</p:attrName>
                                        </p:attrNameLst>
                                      </p:cBhvr>
                                      <p:to>
                                        <p:strVal val="visible"/>
                                      </p:to>
                                    </p:set>
                                    <p:animEffect transition="in" filter="fade">
                                      <p:cBhvr additive="repl">
                                        <p:cTn id="29" dur="500"/>
                                        <p:tgtEl>
                                          <p:spTgt spid="464"/>
                                        </p:tgtEl>
                                      </p:cBhvr>
                                    </p:animEffect>
                                  </p:childTnLst>
                                </p:cTn>
                              </p:par>
                              <p:par>
                                <p:cTn id="30" presetID="10" presetClass="entr" fill="hold" nodeType="withEffect">
                                  <p:stCondLst>
                                    <p:cond delay="0"/>
                                  </p:stCondLst>
                                  <p:childTnLst>
                                    <p:set>
                                      <p:cBhvr>
                                        <p:cTn id="31" dur="1" fill="hold">
                                          <p:stCondLst>
                                            <p:cond delay="0"/>
                                          </p:stCondLst>
                                        </p:cTn>
                                        <p:tgtEl>
                                          <p:spTgt spid="465"/>
                                        </p:tgtEl>
                                        <p:attrNameLst>
                                          <p:attrName>style.visibility</p:attrName>
                                        </p:attrNameLst>
                                      </p:cBhvr>
                                      <p:to>
                                        <p:strVal val="visible"/>
                                      </p:to>
                                    </p:set>
                                    <p:animEffect transition="in" filter="fade">
                                      <p:cBhvr additive="repl">
                                        <p:cTn id="32" dur="500"/>
                                        <p:tgtEl>
                                          <p:spTgt spid="465"/>
                                        </p:tgtEl>
                                      </p:cBhvr>
                                    </p:animEffect>
                                  </p:childTnLst>
                                </p:cTn>
                              </p:par>
                              <p:par>
                                <p:cTn id="33" presetID="10" presetClass="entr" fill="hold" nodeType="withEffect">
                                  <p:stCondLst>
                                    <p:cond delay="0"/>
                                  </p:stCondLst>
                                  <p:childTnLst>
                                    <p:set>
                                      <p:cBhvr>
                                        <p:cTn id="34" dur="1" fill="hold">
                                          <p:stCondLst>
                                            <p:cond delay="0"/>
                                          </p:stCondLst>
                                        </p:cTn>
                                        <p:tgtEl>
                                          <p:spTgt spid="466"/>
                                        </p:tgtEl>
                                        <p:attrNameLst>
                                          <p:attrName>style.visibility</p:attrName>
                                        </p:attrNameLst>
                                      </p:cBhvr>
                                      <p:to>
                                        <p:strVal val="visible"/>
                                      </p:to>
                                    </p:set>
                                    <p:animEffect transition="in" filter="fade">
                                      <p:cBhvr additive="repl">
                                        <p:cTn id="35" dur="500"/>
                                        <p:tgtEl>
                                          <p:spTgt spid="4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 name="PlaceHolder 1"/>
          <p:cNvSpPr>
            <a:spLocks noGrp="1"/>
          </p:cNvSpPr>
          <p:nvPr>
            <p:ph type="title"/>
          </p:nvPr>
        </p:nvSpPr>
        <p:spPr>
          <a:xfrm>
            <a:off x="374760" y="502920"/>
            <a:ext cx="10514880" cy="1026360"/>
          </a:xfrm>
          <a:prstGeom prst="rect">
            <a:avLst/>
          </a:prstGeom>
          <a:noFill/>
          <a:ln w="0">
            <a:noFill/>
          </a:ln>
        </p:spPr>
        <p:txBody>
          <a:bodyPr lIns="0" tIns="45720" rIns="91440" bIns="45720" anchor="t">
            <a:noAutofit/>
          </a:bodyPr>
          <a:lstStyle/>
          <a:p>
            <a:pPr indent="0" defTabSz="914400">
              <a:lnSpc>
                <a:spcPct val="90000"/>
              </a:lnSpc>
              <a:buNone/>
              <a:tabLst>
                <a:tab pos="0" algn="l"/>
              </a:tabLst>
            </a:pPr>
            <a:r>
              <a:rPr lang="en-US" sz="2400" b="0" strike="noStrike" spc="66">
                <a:solidFill>
                  <a:schemeClr val="dk1"/>
                </a:solidFill>
                <a:latin typeface="Avenir Next LT Pro"/>
                <a:ea typeface="Avenir Next"/>
              </a:rPr>
              <a:t>Una sola pieza nueva, en el proceso de siempre</a:t>
            </a:r>
            <a:endParaRPr lang="es-AR" sz="2400" b="0" strike="noStrike" spc="-1">
              <a:solidFill>
                <a:srgbClr val="000000"/>
              </a:solidFill>
              <a:latin typeface="Arial"/>
            </a:endParaRPr>
          </a:p>
        </p:txBody>
      </p:sp>
      <p:sp>
        <p:nvSpPr>
          <p:cNvPr id="469" name="PlaceHolder 2"/>
          <p:cNvSpPr>
            <a:spLocks noGrp="1"/>
          </p:cNvSpPr>
          <p:nvPr>
            <p:ph/>
          </p:nvPr>
        </p:nvSpPr>
        <p:spPr>
          <a:xfrm>
            <a:off x="394920" y="286920"/>
            <a:ext cx="3901680" cy="215280"/>
          </a:xfrm>
          <a:prstGeom prst="rect">
            <a:avLst/>
          </a:prstGeom>
          <a:noFill/>
          <a:ln w="0">
            <a:noFill/>
          </a:ln>
        </p:spPr>
        <p:txBody>
          <a:bodyPr lIns="0" tIns="45720" rIns="91440" bIns="45720" anchor="t">
            <a:noAutofit/>
          </a:bodyPr>
          <a:lstStyle/>
          <a:p>
            <a:pPr indent="0" defTabSz="914400">
              <a:lnSpc>
                <a:spcPct val="90000"/>
              </a:lnSpc>
              <a:spcBef>
                <a:spcPts val="1001"/>
              </a:spcBef>
              <a:buNone/>
              <a:tabLst>
                <a:tab pos="0" algn="l"/>
              </a:tabLst>
            </a:pPr>
            <a:r>
              <a:rPr lang="en-US" sz="900" b="0" strike="noStrike" cap="all" spc="296">
                <a:solidFill>
                  <a:schemeClr val="accent1"/>
                </a:solidFill>
                <a:latin typeface="Avenir Next LT Pro"/>
                <a:ea typeface="Avenir Next"/>
              </a:rPr>
              <a:t>02 · Descripción de la solución</a:t>
            </a:r>
            <a:endParaRPr lang="es-AR" sz="900" b="0" strike="noStrike" spc="-1">
              <a:solidFill>
                <a:srgbClr val="000000"/>
              </a:solidFill>
              <a:latin typeface="Arial"/>
            </a:endParaRPr>
          </a:p>
        </p:txBody>
      </p:sp>
      <p:sp>
        <p:nvSpPr>
          <p:cNvPr id="470" name="PlaceHolder 3"/>
          <p:cNvSpPr>
            <a:spLocks noGrp="1"/>
          </p:cNvSpPr>
          <p:nvPr>
            <p:ph type="sldNum" idx="61"/>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28301E42-5207-4FAC-B726-5F88F2B86C96}" type="slidenum">
              <a:rPr lang="en-US" sz="800" b="0" strike="noStrike" spc="-1">
                <a:solidFill>
                  <a:schemeClr val="dk1"/>
                </a:solidFill>
                <a:latin typeface="Avenir Next LT Pro"/>
                <a:ea typeface="Avenir Next"/>
              </a:rPr>
              <a:t>9</a:t>
            </a:fld>
            <a:endParaRPr lang="es-AR" sz="800" b="0" strike="noStrike" spc="-1">
              <a:solidFill>
                <a:srgbClr val="000000"/>
              </a:solidFill>
              <a:latin typeface="Times New Roman"/>
            </a:endParaRPr>
          </a:p>
        </p:txBody>
      </p:sp>
      <p:sp>
        <p:nvSpPr>
          <p:cNvPr id="471" name="paso1_caja"/>
          <p:cNvSpPr/>
          <p:nvPr/>
        </p:nvSpPr>
        <p:spPr>
          <a:xfrm>
            <a:off x="545400" y="2011680"/>
            <a:ext cx="2486520" cy="2833920"/>
          </a:xfrm>
          <a:prstGeom prst="rect">
            <a:avLst/>
          </a:prstGeom>
          <a:solidFill>
            <a:srgbClr val="F3F3F3"/>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pic>
        <p:nvPicPr>
          <p:cNvPr id="472" name="paso1_icono" descr="image19.png"/>
          <p:cNvPicPr/>
          <p:nvPr/>
        </p:nvPicPr>
        <p:blipFill>
          <a:blip r:embed="rId3"/>
          <a:stretch/>
        </p:blipFill>
        <p:spPr>
          <a:xfrm>
            <a:off x="1286280" y="2286000"/>
            <a:ext cx="1005120" cy="1005120"/>
          </a:xfrm>
          <a:prstGeom prst="rect">
            <a:avLst/>
          </a:prstGeom>
          <a:ln w="0">
            <a:noFill/>
          </a:ln>
        </p:spPr>
      </p:pic>
      <p:sp>
        <p:nvSpPr>
          <p:cNvPr id="473" name="paso1_cab"/>
          <p:cNvSpPr/>
          <p:nvPr/>
        </p:nvSpPr>
        <p:spPr>
          <a:xfrm>
            <a:off x="728280" y="3429000"/>
            <a:ext cx="21207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600" b="1" strike="noStrike" spc="-1">
                <a:solidFill>
                  <a:srgbClr val="00095B"/>
                </a:solidFill>
                <a:latin typeface="Avenir Next LT Pro"/>
              </a:rPr>
              <a:t>La Ranger entra en su ventana de service</a:t>
            </a:r>
            <a:endParaRPr lang="es-AR" sz="1600" b="0" strike="noStrike" spc="-1">
              <a:solidFill>
                <a:srgbClr val="000000"/>
              </a:solidFill>
              <a:latin typeface="Arial"/>
            </a:endParaRPr>
          </a:p>
        </p:txBody>
      </p:sp>
      <p:sp>
        <p:nvSpPr>
          <p:cNvPr id="474" name="paso1_sub"/>
          <p:cNvSpPr/>
          <p:nvPr/>
        </p:nvSpPr>
        <p:spPr>
          <a:xfrm>
            <a:off x="728280" y="4389120"/>
            <a:ext cx="212076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000" b="0" strike="noStrike" spc="197">
                <a:solidFill>
                  <a:srgbClr val="1700F3"/>
                </a:solidFill>
                <a:latin typeface="Avenir Next LT Pro"/>
              </a:rPr>
              <a:t>COMO HOY</a:t>
            </a:r>
            <a:endParaRPr lang="es-AR" sz="1000" b="0" strike="noStrike" spc="-1">
              <a:solidFill>
                <a:srgbClr val="000000"/>
              </a:solidFill>
              <a:latin typeface="Arial"/>
            </a:endParaRPr>
          </a:p>
        </p:txBody>
      </p:sp>
      <p:sp>
        <p:nvSpPr>
          <p:cNvPr id="475" name="flecha1"/>
          <p:cNvSpPr/>
          <p:nvPr/>
        </p:nvSpPr>
        <p:spPr>
          <a:xfrm>
            <a:off x="3124080" y="3246120"/>
            <a:ext cx="200520" cy="310320"/>
          </a:xfrm>
          <a:prstGeom prst="chevron">
            <a:avLst>
              <a:gd name="adj" fmla="val 50000"/>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476" name="paso2_caja"/>
          <p:cNvSpPr/>
          <p:nvPr/>
        </p:nvSpPr>
        <p:spPr>
          <a:xfrm>
            <a:off x="3416760" y="2011680"/>
            <a:ext cx="2486520" cy="2833920"/>
          </a:xfrm>
          <a:prstGeom prst="rect">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pic>
        <p:nvPicPr>
          <p:cNvPr id="477" name="paso2_icono" descr="image17_blanco.png"/>
          <p:cNvPicPr/>
          <p:nvPr/>
        </p:nvPicPr>
        <p:blipFill>
          <a:blip r:embed="rId4"/>
          <a:stretch/>
        </p:blipFill>
        <p:spPr>
          <a:xfrm>
            <a:off x="4157280" y="2286000"/>
            <a:ext cx="1005120" cy="1005120"/>
          </a:xfrm>
          <a:prstGeom prst="rect">
            <a:avLst/>
          </a:prstGeom>
          <a:ln w="0">
            <a:noFill/>
          </a:ln>
        </p:spPr>
      </p:pic>
      <p:sp>
        <p:nvSpPr>
          <p:cNvPr id="478" name="paso2_cab"/>
          <p:cNvSpPr/>
          <p:nvPr/>
        </p:nvSpPr>
        <p:spPr>
          <a:xfrm>
            <a:off x="3599640" y="3429000"/>
            <a:ext cx="21207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600" b="1" strike="noStrike" spc="-1">
                <a:solidFill>
                  <a:srgbClr val="FFFFFF"/>
                </a:solidFill>
                <a:latin typeface="Avenir Next LT Pro"/>
              </a:rPr>
              <a:t>Nuestra solución la ordena por riesgo y explica por qué</a:t>
            </a:r>
            <a:endParaRPr lang="es-AR" sz="1600" b="0" strike="noStrike" spc="-1">
              <a:solidFill>
                <a:srgbClr val="000000"/>
              </a:solidFill>
              <a:latin typeface="Arial"/>
            </a:endParaRPr>
          </a:p>
        </p:txBody>
      </p:sp>
      <p:sp>
        <p:nvSpPr>
          <p:cNvPr id="479" name="paso2_sub"/>
          <p:cNvSpPr/>
          <p:nvPr/>
        </p:nvSpPr>
        <p:spPr>
          <a:xfrm>
            <a:off x="3599640" y="4389120"/>
            <a:ext cx="212076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000" b="0" strike="noStrike" spc="197">
                <a:solidFill>
                  <a:srgbClr val="FFFFFF"/>
                </a:solidFill>
                <a:latin typeface="Avenir Next LT Pro"/>
              </a:rPr>
              <a:t>LO NUEVO</a:t>
            </a:r>
            <a:endParaRPr lang="es-AR" sz="1000" b="0" strike="noStrike" spc="-1">
              <a:solidFill>
                <a:srgbClr val="000000"/>
              </a:solidFill>
              <a:latin typeface="Arial"/>
            </a:endParaRPr>
          </a:p>
        </p:txBody>
      </p:sp>
      <p:sp>
        <p:nvSpPr>
          <p:cNvPr id="480" name="flecha2"/>
          <p:cNvSpPr/>
          <p:nvPr/>
        </p:nvSpPr>
        <p:spPr>
          <a:xfrm>
            <a:off x="5995440" y="3246120"/>
            <a:ext cx="200520" cy="310320"/>
          </a:xfrm>
          <a:prstGeom prst="chevron">
            <a:avLst>
              <a:gd name="adj" fmla="val 50000"/>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481" name="paso3_caja"/>
          <p:cNvSpPr/>
          <p:nvPr/>
        </p:nvSpPr>
        <p:spPr>
          <a:xfrm>
            <a:off x="6287760" y="2011680"/>
            <a:ext cx="2486520" cy="2833920"/>
          </a:xfrm>
          <a:prstGeom prst="rect">
            <a:avLst/>
          </a:prstGeom>
          <a:solidFill>
            <a:srgbClr val="F3F3F3"/>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pic>
        <p:nvPicPr>
          <p:cNvPr id="482" name="paso3_icono" descr="image14.png"/>
          <p:cNvPicPr/>
          <p:nvPr/>
        </p:nvPicPr>
        <p:blipFill>
          <a:blip r:embed="rId5"/>
          <a:stretch/>
        </p:blipFill>
        <p:spPr>
          <a:xfrm>
            <a:off x="7028640" y="2286000"/>
            <a:ext cx="1005120" cy="1005120"/>
          </a:xfrm>
          <a:prstGeom prst="rect">
            <a:avLst/>
          </a:prstGeom>
          <a:ln w="0">
            <a:noFill/>
          </a:ln>
        </p:spPr>
      </p:pic>
      <p:sp>
        <p:nvSpPr>
          <p:cNvPr id="483" name="paso3_cab"/>
          <p:cNvSpPr/>
          <p:nvPr/>
        </p:nvSpPr>
        <p:spPr>
          <a:xfrm>
            <a:off x="6470640" y="3429000"/>
            <a:ext cx="21207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600" b="1" strike="noStrike" spc="-1">
                <a:solidFill>
                  <a:srgbClr val="00095B"/>
                </a:solidFill>
                <a:latin typeface="Avenir Next LT Pro"/>
              </a:rPr>
              <a:t>El concesionario la contacta, o FordPass le recuerda</a:t>
            </a:r>
            <a:endParaRPr lang="es-AR" sz="1600" b="0" strike="noStrike" spc="-1">
              <a:solidFill>
                <a:srgbClr val="000000"/>
              </a:solidFill>
              <a:latin typeface="Arial"/>
            </a:endParaRPr>
          </a:p>
        </p:txBody>
      </p:sp>
      <p:sp>
        <p:nvSpPr>
          <p:cNvPr id="484" name="paso3_sub"/>
          <p:cNvSpPr/>
          <p:nvPr/>
        </p:nvSpPr>
        <p:spPr>
          <a:xfrm>
            <a:off x="6470640" y="4389120"/>
            <a:ext cx="212076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000" b="0" strike="noStrike" spc="197">
                <a:solidFill>
                  <a:srgbClr val="1700F3"/>
                </a:solidFill>
                <a:latin typeface="Avenir Next LT Pro"/>
              </a:rPr>
              <a:t>SEGÚN EL RIESGO</a:t>
            </a:r>
            <a:endParaRPr lang="es-AR" sz="1000" b="0" strike="noStrike" spc="-1">
              <a:solidFill>
                <a:srgbClr val="000000"/>
              </a:solidFill>
              <a:latin typeface="Arial"/>
            </a:endParaRPr>
          </a:p>
        </p:txBody>
      </p:sp>
      <p:sp>
        <p:nvSpPr>
          <p:cNvPr id="485" name="flecha3"/>
          <p:cNvSpPr/>
          <p:nvPr/>
        </p:nvSpPr>
        <p:spPr>
          <a:xfrm>
            <a:off x="8866440" y="3246120"/>
            <a:ext cx="200520" cy="310320"/>
          </a:xfrm>
          <a:prstGeom prst="chevron">
            <a:avLst>
              <a:gd name="adj" fmla="val 50000"/>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486" name="paso4_caja"/>
          <p:cNvSpPr/>
          <p:nvPr/>
        </p:nvSpPr>
        <p:spPr>
          <a:xfrm>
            <a:off x="9159120" y="2011680"/>
            <a:ext cx="2486520" cy="2833920"/>
          </a:xfrm>
          <a:prstGeom prst="rect">
            <a:avLst/>
          </a:prstGeom>
          <a:solidFill>
            <a:srgbClr val="F3F3F3"/>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pic>
        <p:nvPicPr>
          <p:cNvPr id="487" name="paso4_icono" descr="image18.png"/>
          <p:cNvPicPr/>
          <p:nvPr/>
        </p:nvPicPr>
        <p:blipFill>
          <a:blip r:embed="rId6"/>
          <a:stretch/>
        </p:blipFill>
        <p:spPr>
          <a:xfrm>
            <a:off x="9899640" y="2286000"/>
            <a:ext cx="1005120" cy="1005120"/>
          </a:xfrm>
          <a:prstGeom prst="rect">
            <a:avLst/>
          </a:prstGeom>
          <a:ln w="0">
            <a:noFill/>
          </a:ln>
        </p:spPr>
      </p:pic>
      <p:sp>
        <p:nvSpPr>
          <p:cNvPr id="488" name="paso4_cab"/>
          <p:cNvSpPr/>
          <p:nvPr/>
        </p:nvSpPr>
        <p:spPr>
          <a:xfrm>
            <a:off x="9342000" y="3429000"/>
            <a:ext cx="21207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600" b="1" strike="noStrike" spc="-1">
                <a:solidFill>
                  <a:srgbClr val="00095B"/>
                </a:solidFill>
                <a:latin typeface="Avenir Next LT Pro"/>
              </a:rPr>
              <a:t>Turno y service en el concesionario</a:t>
            </a:r>
            <a:endParaRPr lang="es-AR" sz="1600" b="0" strike="noStrike" spc="-1">
              <a:solidFill>
                <a:srgbClr val="000000"/>
              </a:solidFill>
              <a:latin typeface="Arial"/>
            </a:endParaRPr>
          </a:p>
        </p:txBody>
      </p:sp>
      <p:sp>
        <p:nvSpPr>
          <p:cNvPr id="489" name="paso4_sub"/>
          <p:cNvSpPr/>
          <p:nvPr/>
        </p:nvSpPr>
        <p:spPr>
          <a:xfrm>
            <a:off x="9342000" y="4389120"/>
            <a:ext cx="212076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000" b="0" strike="noStrike" spc="197">
                <a:solidFill>
                  <a:srgbClr val="1700F3"/>
                </a:solidFill>
                <a:latin typeface="Avenir Next LT Pro"/>
              </a:rPr>
              <a:t>EL CLIENTE VUELVE</a:t>
            </a:r>
            <a:endParaRPr lang="es-AR" sz="1000" b="0" strike="noStrike" spc="-1">
              <a:solidFill>
                <a:srgbClr val="000000"/>
              </a:solidFill>
              <a:latin typeface="Arial"/>
            </a:endParaRPr>
          </a:p>
        </p:txBody>
      </p:sp>
      <p:sp>
        <p:nvSpPr>
          <p:cNvPr id="490" name="remate"/>
          <p:cNvSpPr/>
          <p:nvPr/>
        </p:nvSpPr>
        <p:spPr>
          <a:xfrm>
            <a:off x="374760" y="5212080"/>
            <a:ext cx="11429280" cy="457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3000" b="0" strike="noStrike" spc="-1">
                <a:solidFill>
                  <a:srgbClr val="00095B"/>
                </a:solidFill>
                <a:latin typeface="Avenir Next LT Pro"/>
              </a:rPr>
              <a:t>Mismo proceso. Otro orden. </a:t>
            </a:r>
            <a:r>
              <a:rPr lang="en-US" sz="3000" b="1" strike="noStrike" spc="-1">
                <a:solidFill>
                  <a:srgbClr val="1700F3"/>
                </a:solidFill>
                <a:latin typeface="Avenir Next LT Pro"/>
              </a:rPr>
              <a:t>Más clientes que vuelven.</a:t>
            </a:r>
            <a:endParaRPr lang="es-AR" sz="3000" b="0" strike="noStrike" spc="-1">
              <a:solidFill>
                <a:srgbClr val="000000"/>
              </a:solidFill>
              <a:latin typeface="Arial"/>
            </a:endParaRPr>
          </a:p>
        </p:txBody>
      </p:sp>
      <p:sp>
        <p:nvSpPr>
          <p:cNvPr id="491"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Franco Tomás Malfetano</a:t>
            </a:r>
            <a:endParaRPr lang="es-AR" sz="10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71"/>
                                        </p:tgtEl>
                                        <p:attrNameLst>
                                          <p:attrName>style.visibility</p:attrName>
                                        </p:attrNameLst>
                                      </p:cBhvr>
                                      <p:to>
                                        <p:strVal val="visible"/>
                                      </p:to>
                                    </p:set>
                                    <p:animEffect transition="in" filter="wipe(left)">
                                      <p:cBhvr additive="repl">
                                        <p:cTn id="7" dur="700"/>
                                        <p:tgtEl>
                                          <p:spTgt spid="471"/>
                                        </p:tgtEl>
                                      </p:cBhvr>
                                    </p:animEffect>
                                  </p:childTnLst>
                                </p:cTn>
                              </p:par>
                              <p:par>
                                <p:cTn id="8" presetID="10" presetClass="entr" fill="hold" nodeType="withEffect">
                                  <p:stCondLst>
                                    <p:cond delay="0"/>
                                  </p:stCondLst>
                                  <p:childTnLst>
                                    <p:set>
                                      <p:cBhvr>
                                        <p:cTn id="9" dur="1" fill="hold">
                                          <p:stCondLst>
                                            <p:cond delay="0"/>
                                          </p:stCondLst>
                                        </p:cTn>
                                        <p:tgtEl>
                                          <p:spTgt spid="472"/>
                                        </p:tgtEl>
                                        <p:attrNameLst>
                                          <p:attrName>style.visibility</p:attrName>
                                        </p:attrNameLst>
                                      </p:cBhvr>
                                      <p:to>
                                        <p:strVal val="visible"/>
                                      </p:to>
                                    </p:set>
                                    <p:animEffect transition="in" filter="fade">
                                      <p:cBhvr additive="repl">
                                        <p:cTn id="10" dur="500"/>
                                        <p:tgtEl>
                                          <p:spTgt spid="472"/>
                                        </p:tgtEl>
                                      </p:cBhvr>
                                    </p:animEffect>
                                  </p:childTnLst>
                                </p:cTn>
                              </p:par>
                              <p:par>
                                <p:cTn id="11" presetID="10" presetClass="entr" fill="hold" nodeType="withEffect">
                                  <p:stCondLst>
                                    <p:cond delay="0"/>
                                  </p:stCondLst>
                                  <p:childTnLst>
                                    <p:set>
                                      <p:cBhvr>
                                        <p:cTn id="12" dur="1" fill="hold">
                                          <p:stCondLst>
                                            <p:cond delay="0"/>
                                          </p:stCondLst>
                                        </p:cTn>
                                        <p:tgtEl>
                                          <p:spTgt spid="473"/>
                                        </p:tgtEl>
                                        <p:attrNameLst>
                                          <p:attrName>style.visibility</p:attrName>
                                        </p:attrNameLst>
                                      </p:cBhvr>
                                      <p:to>
                                        <p:strVal val="visible"/>
                                      </p:to>
                                    </p:set>
                                    <p:animEffect transition="in" filter="fade">
                                      <p:cBhvr additive="repl">
                                        <p:cTn id="13" dur="500"/>
                                        <p:tgtEl>
                                          <p:spTgt spid="473"/>
                                        </p:tgtEl>
                                      </p:cBhvr>
                                    </p:animEffect>
                                  </p:childTnLst>
                                </p:cTn>
                              </p:par>
                              <p:par>
                                <p:cTn id="14" presetID="10" presetClass="entr" fill="hold" nodeType="withEffect">
                                  <p:stCondLst>
                                    <p:cond delay="0"/>
                                  </p:stCondLst>
                                  <p:childTnLst>
                                    <p:set>
                                      <p:cBhvr>
                                        <p:cTn id="15" dur="1" fill="hold">
                                          <p:stCondLst>
                                            <p:cond delay="0"/>
                                          </p:stCondLst>
                                        </p:cTn>
                                        <p:tgtEl>
                                          <p:spTgt spid="474"/>
                                        </p:tgtEl>
                                        <p:attrNameLst>
                                          <p:attrName>style.visibility</p:attrName>
                                        </p:attrNameLst>
                                      </p:cBhvr>
                                      <p:to>
                                        <p:strVal val="visible"/>
                                      </p:to>
                                    </p:set>
                                    <p:animEffect transition="in" filter="fade">
                                      <p:cBhvr additive="repl">
                                        <p:cTn id="16" dur="500"/>
                                        <p:tgtEl>
                                          <p:spTgt spid="47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fill="hold" nodeType="clickEffect">
                                  <p:stCondLst>
                                    <p:cond delay="0"/>
                                  </p:stCondLst>
                                  <p:childTnLst>
                                    <p:set>
                                      <p:cBhvr>
                                        <p:cTn id="20" dur="1" fill="hold">
                                          <p:stCondLst>
                                            <p:cond delay="0"/>
                                          </p:stCondLst>
                                        </p:cTn>
                                        <p:tgtEl>
                                          <p:spTgt spid="475"/>
                                        </p:tgtEl>
                                        <p:attrNameLst>
                                          <p:attrName>style.visibility</p:attrName>
                                        </p:attrNameLst>
                                      </p:cBhvr>
                                      <p:to>
                                        <p:strVal val="visible"/>
                                      </p:to>
                                    </p:set>
                                    <p:animEffect transition="in" filter="fade">
                                      <p:cBhvr additive="repl">
                                        <p:cTn id="21" dur="500"/>
                                        <p:tgtEl>
                                          <p:spTgt spid="475"/>
                                        </p:tgtEl>
                                      </p:cBhvr>
                                    </p:animEffect>
                                  </p:childTnLst>
                                </p:cTn>
                              </p:par>
                              <p:par>
                                <p:cTn id="22" presetID="22" presetClass="entr" presetSubtype="8" fill="hold" nodeType="withEffect">
                                  <p:stCondLst>
                                    <p:cond delay="0"/>
                                  </p:stCondLst>
                                  <p:childTnLst>
                                    <p:set>
                                      <p:cBhvr>
                                        <p:cTn id="23" dur="1" fill="hold">
                                          <p:stCondLst>
                                            <p:cond delay="0"/>
                                          </p:stCondLst>
                                        </p:cTn>
                                        <p:tgtEl>
                                          <p:spTgt spid="476"/>
                                        </p:tgtEl>
                                        <p:attrNameLst>
                                          <p:attrName>style.visibility</p:attrName>
                                        </p:attrNameLst>
                                      </p:cBhvr>
                                      <p:to>
                                        <p:strVal val="visible"/>
                                      </p:to>
                                    </p:set>
                                    <p:animEffect transition="in" filter="wipe(left)">
                                      <p:cBhvr additive="repl">
                                        <p:cTn id="24" dur="700"/>
                                        <p:tgtEl>
                                          <p:spTgt spid="476"/>
                                        </p:tgtEl>
                                      </p:cBhvr>
                                    </p:animEffect>
                                  </p:childTnLst>
                                </p:cTn>
                              </p:par>
                              <p:par>
                                <p:cTn id="25" presetID="10" presetClass="entr" fill="hold" nodeType="withEffect">
                                  <p:stCondLst>
                                    <p:cond delay="0"/>
                                  </p:stCondLst>
                                  <p:childTnLst>
                                    <p:set>
                                      <p:cBhvr>
                                        <p:cTn id="26" dur="1" fill="hold">
                                          <p:stCondLst>
                                            <p:cond delay="0"/>
                                          </p:stCondLst>
                                        </p:cTn>
                                        <p:tgtEl>
                                          <p:spTgt spid="477"/>
                                        </p:tgtEl>
                                        <p:attrNameLst>
                                          <p:attrName>style.visibility</p:attrName>
                                        </p:attrNameLst>
                                      </p:cBhvr>
                                      <p:to>
                                        <p:strVal val="visible"/>
                                      </p:to>
                                    </p:set>
                                    <p:animEffect transition="in" filter="fade">
                                      <p:cBhvr additive="repl">
                                        <p:cTn id="27" dur="500"/>
                                        <p:tgtEl>
                                          <p:spTgt spid="477"/>
                                        </p:tgtEl>
                                      </p:cBhvr>
                                    </p:animEffect>
                                  </p:childTnLst>
                                </p:cTn>
                              </p:par>
                              <p:par>
                                <p:cTn id="28" presetID="10" presetClass="entr" fill="hold" nodeType="withEffect">
                                  <p:stCondLst>
                                    <p:cond delay="0"/>
                                  </p:stCondLst>
                                  <p:childTnLst>
                                    <p:set>
                                      <p:cBhvr>
                                        <p:cTn id="29" dur="1" fill="hold">
                                          <p:stCondLst>
                                            <p:cond delay="0"/>
                                          </p:stCondLst>
                                        </p:cTn>
                                        <p:tgtEl>
                                          <p:spTgt spid="478"/>
                                        </p:tgtEl>
                                        <p:attrNameLst>
                                          <p:attrName>style.visibility</p:attrName>
                                        </p:attrNameLst>
                                      </p:cBhvr>
                                      <p:to>
                                        <p:strVal val="visible"/>
                                      </p:to>
                                    </p:set>
                                    <p:animEffect transition="in" filter="fade">
                                      <p:cBhvr additive="repl">
                                        <p:cTn id="30" dur="500"/>
                                        <p:tgtEl>
                                          <p:spTgt spid="478"/>
                                        </p:tgtEl>
                                      </p:cBhvr>
                                    </p:animEffect>
                                  </p:childTnLst>
                                </p:cTn>
                              </p:par>
                              <p:par>
                                <p:cTn id="31" presetID="10" presetClass="entr" fill="hold" nodeType="withEffect">
                                  <p:stCondLst>
                                    <p:cond delay="0"/>
                                  </p:stCondLst>
                                  <p:childTnLst>
                                    <p:set>
                                      <p:cBhvr>
                                        <p:cTn id="32" dur="1" fill="hold">
                                          <p:stCondLst>
                                            <p:cond delay="0"/>
                                          </p:stCondLst>
                                        </p:cTn>
                                        <p:tgtEl>
                                          <p:spTgt spid="479"/>
                                        </p:tgtEl>
                                        <p:attrNameLst>
                                          <p:attrName>style.visibility</p:attrName>
                                        </p:attrNameLst>
                                      </p:cBhvr>
                                      <p:to>
                                        <p:strVal val="visible"/>
                                      </p:to>
                                    </p:set>
                                    <p:animEffect transition="in" filter="fade">
                                      <p:cBhvr additive="repl">
                                        <p:cTn id="33" dur="500"/>
                                        <p:tgtEl>
                                          <p:spTgt spid="47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fill="hold" nodeType="clickEffect">
                                  <p:stCondLst>
                                    <p:cond delay="0"/>
                                  </p:stCondLst>
                                  <p:childTnLst>
                                    <p:set>
                                      <p:cBhvr>
                                        <p:cTn id="37" dur="1" fill="hold">
                                          <p:stCondLst>
                                            <p:cond delay="0"/>
                                          </p:stCondLst>
                                        </p:cTn>
                                        <p:tgtEl>
                                          <p:spTgt spid="480"/>
                                        </p:tgtEl>
                                        <p:attrNameLst>
                                          <p:attrName>style.visibility</p:attrName>
                                        </p:attrNameLst>
                                      </p:cBhvr>
                                      <p:to>
                                        <p:strVal val="visible"/>
                                      </p:to>
                                    </p:set>
                                    <p:animEffect transition="in" filter="fade">
                                      <p:cBhvr additive="repl">
                                        <p:cTn id="38" dur="500"/>
                                        <p:tgtEl>
                                          <p:spTgt spid="480"/>
                                        </p:tgtEl>
                                      </p:cBhvr>
                                    </p:animEffect>
                                  </p:childTnLst>
                                </p:cTn>
                              </p:par>
                              <p:par>
                                <p:cTn id="39" presetID="22" presetClass="entr" presetSubtype="8" fill="hold" nodeType="withEffect">
                                  <p:stCondLst>
                                    <p:cond delay="0"/>
                                  </p:stCondLst>
                                  <p:childTnLst>
                                    <p:set>
                                      <p:cBhvr>
                                        <p:cTn id="40" dur="1" fill="hold">
                                          <p:stCondLst>
                                            <p:cond delay="0"/>
                                          </p:stCondLst>
                                        </p:cTn>
                                        <p:tgtEl>
                                          <p:spTgt spid="481"/>
                                        </p:tgtEl>
                                        <p:attrNameLst>
                                          <p:attrName>style.visibility</p:attrName>
                                        </p:attrNameLst>
                                      </p:cBhvr>
                                      <p:to>
                                        <p:strVal val="visible"/>
                                      </p:to>
                                    </p:set>
                                    <p:animEffect transition="in" filter="wipe(left)">
                                      <p:cBhvr additive="repl">
                                        <p:cTn id="41" dur="700"/>
                                        <p:tgtEl>
                                          <p:spTgt spid="481"/>
                                        </p:tgtEl>
                                      </p:cBhvr>
                                    </p:animEffect>
                                  </p:childTnLst>
                                </p:cTn>
                              </p:par>
                              <p:par>
                                <p:cTn id="42" presetID="10" presetClass="entr" fill="hold" nodeType="withEffect">
                                  <p:stCondLst>
                                    <p:cond delay="0"/>
                                  </p:stCondLst>
                                  <p:childTnLst>
                                    <p:set>
                                      <p:cBhvr>
                                        <p:cTn id="43" dur="1" fill="hold">
                                          <p:stCondLst>
                                            <p:cond delay="0"/>
                                          </p:stCondLst>
                                        </p:cTn>
                                        <p:tgtEl>
                                          <p:spTgt spid="482"/>
                                        </p:tgtEl>
                                        <p:attrNameLst>
                                          <p:attrName>style.visibility</p:attrName>
                                        </p:attrNameLst>
                                      </p:cBhvr>
                                      <p:to>
                                        <p:strVal val="visible"/>
                                      </p:to>
                                    </p:set>
                                    <p:animEffect transition="in" filter="fade">
                                      <p:cBhvr additive="repl">
                                        <p:cTn id="44" dur="500"/>
                                        <p:tgtEl>
                                          <p:spTgt spid="482"/>
                                        </p:tgtEl>
                                      </p:cBhvr>
                                    </p:animEffect>
                                  </p:childTnLst>
                                </p:cTn>
                              </p:par>
                              <p:par>
                                <p:cTn id="45" presetID="10" presetClass="entr" fill="hold" nodeType="withEffect">
                                  <p:stCondLst>
                                    <p:cond delay="0"/>
                                  </p:stCondLst>
                                  <p:childTnLst>
                                    <p:set>
                                      <p:cBhvr>
                                        <p:cTn id="46" dur="1" fill="hold">
                                          <p:stCondLst>
                                            <p:cond delay="0"/>
                                          </p:stCondLst>
                                        </p:cTn>
                                        <p:tgtEl>
                                          <p:spTgt spid="483"/>
                                        </p:tgtEl>
                                        <p:attrNameLst>
                                          <p:attrName>style.visibility</p:attrName>
                                        </p:attrNameLst>
                                      </p:cBhvr>
                                      <p:to>
                                        <p:strVal val="visible"/>
                                      </p:to>
                                    </p:set>
                                    <p:animEffect transition="in" filter="fade">
                                      <p:cBhvr additive="repl">
                                        <p:cTn id="47" dur="500"/>
                                        <p:tgtEl>
                                          <p:spTgt spid="483"/>
                                        </p:tgtEl>
                                      </p:cBhvr>
                                    </p:animEffect>
                                  </p:childTnLst>
                                </p:cTn>
                              </p:par>
                              <p:par>
                                <p:cTn id="48" presetID="10" presetClass="entr" fill="hold" nodeType="withEffect">
                                  <p:stCondLst>
                                    <p:cond delay="0"/>
                                  </p:stCondLst>
                                  <p:childTnLst>
                                    <p:set>
                                      <p:cBhvr>
                                        <p:cTn id="49" dur="1" fill="hold">
                                          <p:stCondLst>
                                            <p:cond delay="0"/>
                                          </p:stCondLst>
                                        </p:cTn>
                                        <p:tgtEl>
                                          <p:spTgt spid="484"/>
                                        </p:tgtEl>
                                        <p:attrNameLst>
                                          <p:attrName>style.visibility</p:attrName>
                                        </p:attrNameLst>
                                      </p:cBhvr>
                                      <p:to>
                                        <p:strVal val="visible"/>
                                      </p:to>
                                    </p:set>
                                    <p:animEffect transition="in" filter="fade">
                                      <p:cBhvr additive="repl">
                                        <p:cTn id="50" dur="500"/>
                                        <p:tgtEl>
                                          <p:spTgt spid="48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fill="hold" nodeType="clickEffect">
                                  <p:stCondLst>
                                    <p:cond delay="0"/>
                                  </p:stCondLst>
                                  <p:childTnLst>
                                    <p:set>
                                      <p:cBhvr>
                                        <p:cTn id="54" dur="1" fill="hold">
                                          <p:stCondLst>
                                            <p:cond delay="0"/>
                                          </p:stCondLst>
                                        </p:cTn>
                                        <p:tgtEl>
                                          <p:spTgt spid="485"/>
                                        </p:tgtEl>
                                        <p:attrNameLst>
                                          <p:attrName>style.visibility</p:attrName>
                                        </p:attrNameLst>
                                      </p:cBhvr>
                                      <p:to>
                                        <p:strVal val="visible"/>
                                      </p:to>
                                    </p:set>
                                    <p:animEffect transition="in" filter="fade">
                                      <p:cBhvr additive="repl">
                                        <p:cTn id="55" dur="500"/>
                                        <p:tgtEl>
                                          <p:spTgt spid="485"/>
                                        </p:tgtEl>
                                      </p:cBhvr>
                                    </p:animEffect>
                                  </p:childTnLst>
                                </p:cTn>
                              </p:par>
                              <p:par>
                                <p:cTn id="56" presetID="22" presetClass="entr" presetSubtype="8" fill="hold" nodeType="withEffect">
                                  <p:stCondLst>
                                    <p:cond delay="0"/>
                                  </p:stCondLst>
                                  <p:childTnLst>
                                    <p:set>
                                      <p:cBhvr>
                                        <p:cTn id="57" dur="1" fill="hold">
                                          <p:stCondLst>
                                            <p:cond delay="0"/>
                                          </p:stCondLst>
                                        </p:cTn>
                                        <p:tgtEl>
                                          <p:spTgt spid="486"/>
                                        </p:tgtEl>
                                        <p:attrNameLst>
                                          <p:attrName>style.visibility</p:attrName>
                                        </p:attrNameLst>
                                      </p:cBhvr>
                                      <p:to>
                                        <p:strVal val="visible"/>
                                      </p:to>
                                    </p:set>
                                    <p:animEffect transition="in" filter="wipe(left)">
                                      <p:cBhvr additive="repl">
                                        <p:cTn id="58" dur="700"/>
                                        <p:tgtEl>
                                          <p:spTgt spid="486"/>
                                        </p:tgtEl>
                                      </p:cBhvr>
                                    </p:animEffect>
                                  </p:childTnLst>
                                </p:cTn>
                              </p:par>
                              <p:par>
                                <p:cTn id="59" presetID="10" presetClass="entr" fill="hold" nodeType="withEffect">
                                  <p:stCondLst>
                                    <p:cond delay="0"/>
                                  </p:stCondLst>
                                  <p:childTnLst>
                                    <p:set>
                                      <p:cBhvr>
                                        <p:cTn id="60" dur="1" fill="hold">
                                          <p:stCondLst>
                                            <p:cond delay="0"/>
                                          </p:stCondLst>
                                        </p:cTn>
                                        <p:tgtEl>
                                          <p:spTgt spid="487"/>
                                        </p:tgtEl>
                                        <p:attrNameLst>
                                          <p:attrName>style.visibility</p:attrName>
                                        </p:attrNameLst>
                                      </p:cBhvr>
                                      <p:to>
                                        <p:strVal val="visible"/>
                                      </p:to>
                                    </p:set>
                                    <p:animEffect transition="in" filter="fade">
                                      <p:cBhvr additive="repl">
                                        <p:cTn id="61" dur="500"/>
                                        <p:tgtEl>
                                          <p:spTgt spid="487"/>
                                        </p:tgtEl>
                                      </p:cBhvr>
                                    </p:animEffect>
                                  </p:childTnLst>
                                </p:cTn>
                              </p:par>
                              <p:par>
                                <p:cTn id="62" presetID="10" presetClass="entr" fill="hold" nodeType="withEffect">
                                  <p:stCondLst>
                                    <p:cond delay="0"/>
                                  </p:stCondLst>
                                  <p:childTnLst>
                                    <p:set>
                                      <p:cBhvr>
                                        <p:cTn id="63" dur="1" fill="hold">
                                          <p:stCondLst>
                                            <p:cond delay="0"/>
                                          </p:stCondLst>
                                        </p:cTn>
                                        <p:tgtEl>
                                          <p:spTgt spid="488"/>
                                        </p:tgtEl>
                                        <p:attrNameLst>
                                          <p:attrName>style.visibility</p:attrName>
                                        </p:attrNameLst>
                                      </p:cBhvr>
                                      <p:to>
                                        <p:strVal val="visible"/>
                                      </p:to>
                                    </p:set>
                                    <p:animEffect transition="in" filter="fade">
                                      <p:cBhvr additive="repl">
                                        <p:cTn id="64" dur="500"/>
                                        <p:tgtEl>
                                          <p:spTgt spid="488"/>
                                        </p:tgtEl>
                                      </p:cBhvr>
                                    </p:animEffect>
                                  </p:childTnLst>
                                </p:cTn>
                              </p:par>
                              <p:par>
                                <p:cTn id="65" presetID="10" presetClass="entr" fill="hold" nodeType="withEffect">
                                  <p:stCondLst>
                                    <p:cond delay="0"/>
                                  </p:stCondLst>
                                  <p:childTnLst>
                                    <p:set>
                                      <p:cBhvr>
                                        <p:cTn id="66" dur="1" fill="hold">
                                          <p:stCondLst>
                                            <p:cond delay="0"/>
                                          </p:stCondLst>
                                        </p:cTn>
                                        <p:tgtEl>
                                          <p:spTgt spid="489"/>
                                        </p:tgtEl>
                                        <p:attrNameLst>
                                          <p:attrName>style.visibility</p:attrName>
                                        </p:attrNameLst>
                                      </p:cBhvr>
                                      <p:to>
                                        <p:strVal val="visible"/>
                                      </p:to>
                                    </p:set>
                                    <p:animEffect transition="in" filter="fade">
                                      <p:cBhvr additive="repl">
                                        <p:cTn id="67" dur="500"/>
                                        <p:tgtEl>
                                          <p:spTgt spid="48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fill="hold" nodeType="clickEffect">
                                  <p:stCondLst>
                                    <p:cond delay="0"/>
                                  </p:stCondLst>
                                  <p:childTnLst>
                                    <p:set>
                                      <p:cBhvr>
                                        <p:cTn id="71" dur="1" fill="hold">
                                          <p:stCondLst>
                                            <p:cond delay="0"/>
                                          </p:stCondLst>
                                        </p:cTn>
                                        <p:tgtEl>
                                          <p:spTgt spid="490"/>
                                        </p:tgtEl>
                                        <p:attrNameLst>
                                          <p:attrName>style.visibility</p:attrName>
                                        </p:attrNameLst>
                                      </p:cBhvr>
                                      <p:to>
                                        <p:strVal val="visible"/>
                                      </p:to>
                                    </p:set>
                                    <p:animEffect transition="in" filter="fade">
                                      <p:cBhvr additive="repl">
                                        <p:cTn id="72" dur="500"/>
                                        <p:tgtEl>
                                          <p:spTgt spid="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 name="PlaceHolder 1"/>
          <p:cNvSpPr>
            <a:spLocks noGrp="1"/>
          </p:cNvSpPr>
          <p:nvPr>
            <p:ph type="title"/>
          </p:nvPr>
        </p:nvSpPr>
        <p:spPr>
          <a:xfrm>
            <a:off x="374760" y="502920"/>
            <a:ext cx="10514880" cy="1026360"/>
          </a:xfrm>
          <a:prstGeom prst="rect">
            <a:avLst/>
          </a:prstGeom>
          <a:noFill/>
          <a:ln w="0">
            <a:noFill/>
          </a:ln>
        </p:spPr>
        <p:txBody>
          <a:bodyPr lIns="0" tIns="45720" rIns="91440" bIns="45720" anchor="t">
            <a:noAutofit/>
          </a:bodyPr>
          <a:lstStyle/>
          <a:p>
            <a:pPr indent="0" defTabSz="914400">
              <a:lnSpc>
                <a:spcPct val="90000"/>
              </a:lnSpc>
              <a:buNone/>
              <a:tabLst>
                <a:tab pos="0" algn="l"/>
              </a:tabLst>
            </a:pPr>
            <a:r>
              <a:rPr lang="en-US" sz="2400" b="0" strike="noStrike" spc="66">
                <a:solidFill>
                  <a:schemeClr val="dk1"/>
                </a:solidFill>
                <a:latin typeface="Avenir Next LT Pro"/>
                <a:ea typeface="Avenir Next"/>
              </a:rPr>
              <a:t>El mismo esfuerzo, el doble de resultado</a:t>
            </a:r>
            <a:endParaRPr lang="es-AR" sz="2400" b="0" strike="noStrike" spc="-1">
              <a:solidFill>
                <a:srgbClr val="000000"/>
              </a:solidFill>
              <a:latin typeface="Arial"/>
            </a:endParaRPr>
          </a:p>
        </p:txBody>
      </p:sp>
      <p:sp>
        <p:nvSpPr>
          <p:cNvPr id="493" name="PlaceHolder 2"/>
          <p:cNvSpPr>
            <a:spLocks noGrp="1"/>
          </p:cNvSpPr>
          <p:nvPr>
            <p:ph/>
          </p:nvPr>
        </p:nvSpPr>
        <p:spPr>
          <a:xfrm>
            <a:off x="394920" y="286920"/>
            <a:ext cx="3901680" cy="215280"/>
          </a:xfrm>
          <a:prstGeom prst="rect">
            <a:avLst/>
          </a:prstGeom>
          <a:noFill/>
          <a:ln w="0">
            <a:noFill/>
          </a:ln>
        </p:spPr>
        <p:txBody>
          <a:bodyPr lIns="0" tIns="45720" rIns="91440" bIns="45720" anchor="t">
            <a:noAutofit/>
          </a:bodyPr>
          <a:lstStyle/>
          <a:p>
            <a:pPr indent="0" defTabSz="914400">
              <a:lnSpc>
                <a:spcPct val="90000"/>
              </a:lnSpc>
              <a:spcBef>
                <a:spcPts val="1001"/>
              </a:spcBef>
              <a:buNone/>
              <a:tabLst>
                <a:tab pos="0" algn="l"/>
              </a:tabLst>
            </a:pPr>
            <a:r>
              <a:rPr lang="en-US" sz="900" b="0" strike="noStrike" cap="all" spc="296">
                <a:solidFill>
                  <a:schemeClr val="accent1"/>
                </a:solidFill>
                <a:latin typeface="Avenir Next LT Pro"/>
                <a:ea typeface="Avenir Next"/>
              </a:rPr>
              <a:t>02 · Descripción de la solución</a:t>
            </a:r>
            <a:endParaRPr lang="es-AR" sz="900" b="0" strike="noStrike" spc="-1">
              <a:solidFill>
                <a:srgbClr val="000000"/>
              </a:solidFill>
              <a:latin typeface="Arial"/>
            </a:endParaRPr>
          </a:p>
        </p:txBody>
      </p:sp>
      <p:sp>
        <p:nvSpPr>
          <p:cNvPr id="494" name="PlaceHolder 3"/>
          <p:cNvSpPr>
            <a:spLocks noGrp="1"/>
          </p:cNvSpPr>
          <p:nvPr>
            <p:ph type="sldNum" idx="62"/>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7CBA3BDF-C74D-4BE7-8294-F9180C22750D}" type="slidenum">
              <a:rPr lang="en-US" sz="800" b="0" strike="noStrike" spc="-1">
                <a:solidFill>
                  <a:schemeClr val="dk1"/>
                </a:solidFill>
                <a:latin typeface="Avenir Next LT Pro"/>
                <a:ea typeface="Avenir Next"/>
              </a:rPr>
              <a:t>10</a:t>
            </a:fld>
            <a:endParaRPr lang="es-AR" sz="800" b="0" strike="noStrike" spc="-1">
              <a:solidFill>
                <a:srgbClr val="000000"/>
              </a:solidFill>
              <a:latin typeface="Times New Roman"/>
            </a:endParaRPr>
          </a:p>
        </p:txBody>
      </p:sp>
      <p:sp>
        <p:nvSpPr>
          <p:cNvPr id="495" name="pregunta_grafico"/>
          <p:cNvSpPr/>
          <p:nvPr/>
        </p:nvSpPr>
        <p:spPr>
          <a:xfrm>
            <a:off x="374760" y="1417320"/>
            <a:ext cx="6400080" cy="21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400" b="0" strike="noStrike" spc="-1">
                <a:solidFill>
                  <a:srgbClr val="7F7F7F"/>
                </a:solidFill>
                <a:latin typeface="Avenir Next LT Pro"/>
              </a:rPr>
              <a:t>De cada 10 contactos, cuántos llegan a un cliente que estaba dejando Ford</a:t>
            </a:r>
            <a:endParaRPr lang="es-AR" sz="1400" b="0" strike="noStrike" spc="-1">
              <a:solidFill>
                <a:srgbClr val="000000"/>
              </a:solidFill>
              <a:latin typeface="Arial"/>
            </a:endParaRPr>
          </a:p>
        </p:txBody>
      </p:sp>
      <p:cxnSp>
        <p:nvCxnSpPr>
          <p:cNvPr id="496" name="eje"/>
          <p:cNvCxnSpPr/>
          <p:nvPr/>
        </p:nvCxnSpPr>
        <p:spPr>
          <a:xfrm>
            <a:off x="548640" y="5532120"/>
            <a:ext cx="5487120" cy="720"/>
          </a:xfrm>
          <a:prstGeom prst="straightConnector1">
            <a:avLst/>
          </a:prstGeom>
          <a:ln w="0">
            <a:solidFill>
              <a:srgbClr val="B9BCBD"/>
            </a:solidFill>
          </a:ln>
        </p:spPr>
      </p:cxnSp>
      <p:sp>
        <p:nvSpPr>
          <p:cNvPr id="497" name="barra1"/>
          <p:cNvSpPr/>
          <p:nvPr/>
        </p:nvSpPr>
        <p:spPr>
          <a:xfrm>
            <a:off x="822960" y="4129920"/>
            <a:ext cx="1919520" cy="1401480"/>
          </a:xfrm>
          <a:prstGeom prst="rect">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498" name="barra1_valor"/>
          <p:cNvSpPr/>
          <p:nvPr/>
        </p:nvSpPr>
        <p:spPr>
          <a:xfrm>
            <a:off x="548640" y="3352680"/>
            <a:ext cx="2468160" cy="54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3600" b="0" strike="noStrike" spc="-1">
                <a:solidFill>
                  <a:srgbClr val="00095B"/>
                </a:solidFill>
                <a:latin typeface="Avenir Next LT Pro"/>
              </a:rPr>
              <a:t>4 de 10</a:t>
            </a:r>
            <a:endParaRPr lang="es-AR" sz="3600" b="0" strike="noStrike" spc="-1">
              <a:solidFill>
                <a:srgbClr val="000000"/>
              </a:solidFill>
              <a:latin typeface="Arial"/>
            </a:endParaRPr>
          </a:p>
        </p:txBody>
      </p:sp>
      <p:sp>
        <p:nvSpPr>
          <p:cNvPr id="499" name="barra1_pie"/>
          <p:cNvSpPr/>
          <p:nvPr/>
        </p:nvSpPr>
        <p:spPr>
          <a:xfrm>
            <a:off x="548640" y="5623560"/>
            <a:ext cx="2468160" cy="396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300" b="0" strike="noStrike" spc="-1">
                <a:solidFill>
                  <a:srgbClr val="00095B"/>
                </a:solidFill>
                <a:latin typeface="Avenir Next LT Pro"/>
              </a:rPr>
              <a:t>Hoy</a:t>
            </a:r>
            <a:endParaRPr lang="es-AR" sz="1300" b="0" strike="noStrike" spc="-1">
              <a:solidFill>
                <a:srgbClr val="000000"/>
              </a:solidFill>
              <a:latin typeface="Arial"/>
            </a:endParaRPr>
          </a:p>
          <a:p>
            <a:pPr algn="ctr" defTabSz="914400">
              <a:lnSpc>
                <a:spcPct val="100000"/>
              </a:lnSpc>
            </a:pPr>
            <a:r>
              <a:rPr lang="en-US" sz="1300" b="0" strike="noStrike" spc="-1">
                <a:solidFill>
                  <a:srgbClr val="00095B"/>
                </a:solidFill>
                <a:latin typeface="Avenir Next LT Pro"/>
              </a:rPr>
              <a:t>(a todos igual)</a:t>
            </a:r>
            <a:endParaRPr lang="es-AR" sz="1300" b="0" strike="noStrike" spc="-1">
              <a:solidFill>
                <a:srgbClr val="000000"/>
              </a:solidFill>
              <a:latin typeface="Arial"/>
            </a:endParaRPr>
          </a:p>
        </p:txBody>
      </p:sp>
      <p:sp>
        <p:nvSpPr>
          <p:cNvPr id="500" name="barra2"/>
          <p:cNvSpPr/>
          <p:nvPr/>
        </p:nvSpPr>
        <p:spPr>
          <a:xfrm>
            <a:off x="3566160" y="2980800"/>
            <a:ext cx="1919520" cy="2550600"/>
          </a:xfrm>
          <a:prstGeom prst="rect">
            <a:avLst/>
          </a:prstGeom>
          <a:solidFill>
            <a:srgbClr val="1700F3"/>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501" name="barra2_valor"/>
          <p:cNvSpPr/>
          <p:nvPr/>
        </p:nvSpPr>
        <p:spPr>
          <a:xfrm>
            <a:off x="3291840" y="2203560"/>
            <a:ext cx="2468160" cy="54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3600" b="0" strike="noStrike" spc="-1">
                <a:solidFill>
                  <a:srgbClr val="1700F3"/>
                </a:solidFill>
                <a:latin typeface="Avenir Next LT Pro"/>
              </a:rPr>
              <a:t>8 de 10</a:t>
            </a:r>
            <a:endParaRPr lang="es-AR" sz="3600" b="0" strike="noStrike" spc="-1">
              <a:solidFill>
                <a:srgbClr val="000000"/>
              </a:solidFill>
              <a:latin typeface="Arial"/>
            </a:endParaRPr>
          </a:p>
        </p:txBody>
      </p:sp>
      <p:sp>
        <p:nvSpPr>
          <p:cNvPr id="502" name="barra2_pie"/>
          <p:cNvSpPr/>
          <p:nvPr/>
        </p:nvSpPr>
        <p:spPr>
          <a:xfrm>
            <a:off x="3291840" y="5623560"/>
            <a:ext cx="2468160" cy="396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300" b="0" strike="noStrike" spc="-1">
                <a:solidFill>
                  <a:srgbClr val="00095B"/>
                </a:solidFill>
                <a:latin typeface="Avenir Next LT Pro"/>
              </a:rPr>
              <a:t>Con nuestra solución</a:t>
            </a:r>
            <a:endParaRPr lang="es-AR" sz="1300" b="0" strike="noStrike" spc="-1">
              <a:solidFill>
                <a:srgbClr val="000000"/>
              </a:solidFill>
              <a:latin typeface="Arial"/>
            </a:endParaRPr>
          </a:p>
          <a:p>
            <a:pPr algn="ctr" defTabSz="914400">
              <a:lnSpc>
                <a:spcPct val="100000"/>
              </a:lnSpc>
            </a:pPr>
            <a:r>
              <a:rPr lang="en-US" sz="1300" b="0" strike="noStrike" spc="-1">
                <a:solidFill>
                  <a:srgbClr val="00095B"/>
                </a:solidFill>
                <a:latin typeface="Avenir Next LT Pro"/>
              </a:rPr>
              <a:t>(el primer 20 %)</a:t>
            </a:r>
            <a:endParaRPr lang="es-AR" sz="1300" b="0" strike="noStrike" spc="-1">
              <a:solidFill>
                <a:srgbClr val="000000"/>
              </a:solidFill>
              <a:latin typeface="Arial"/>
            </a:endParaRPr>
          </a:p>
        </p:txBody>
      </p:sp>
      <p:sp>
        <p:nvSpPr>
          <p:cNvPr id="503" name="divisor"/>
          <p:cNvSpPr/>
          <p:nvPr/>
        </p:nvSpPr>
        <p:spPr>
          <a:xfrm>
            <a:off x="6949440" y="1417320"/>
            <a:ext cx="26640" cy="4205520"/>
          </a:xfrm>
          <a:prstGeom prst="rect">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504" name="dato_top"/>
          <p:cNvSpPr/>
          <p:nvPr/>
        </p:nvSpPr>
        <p:spPr>
          <a:xfrm>
            <a:off x="7315200" y="1600200"/>
            <a:ext cx="4479840" cy="60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4000" b="0" strike="noStrike" spc="-1">
                <a:solidFill>
                  <a:srgbClr val="1700F3"/>
                </a:solidFill>
                <a:latin typeface="Avenir Next LT Pro"/>
              </a:rPr>
              <a:t>9 de cada 10</a:t>
            </a:r>
            <a:endParaRPr lang="es-AR" sz="4000" b="0" strike="noStrike" spc="-1">
              <a:solidFill>
                <a:srgbClr val="000000"/>
              </a:solidFill>
              <a:latin typeface="Arial"/>
            </a:endParaRPr>
          </a:p>
        </p:txBody>
      </p:sp>
      <p:sp>
        <p:nvSpPr>
          <p:cNvPr id="505" name="dato_top_txt"/>
          <p:cNvSpPr/>
          <p:nvPr/>
        </p:nvSpPr>
        <p:spPr>
          <a:xfrm>
            <a:off x="7315200" y="2468880"/>
            <a:ext cx="438840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s-AR" sz="1600" b="0" strike="noStrike" spc="-1">
                <a:solidFill>
                  <a:srgbClr val="00095B"/>
                </a:solidFill>
                <a:latin typeface="Avenir Next LT Pro"/>
              </a:rPr>
              <a:t>D</a:t>
            </a:r>
            <a:r>
              <a:rPr lang="en-US" sz="1600" b="0" strike="noStrike" spc="-1">
                <a:solidFill>
                  <a:srgbClr val="00095B"/>
                </a:solidFill>
                <a:latin typeface="Avenir Next LT Pro"/>
              </a:rPr>
              <a:t>e los clientes que nuestra solución pone primeros estaban dejando Ford.</a:t>
            </a:r>
            <a:endParaRPr lang="es-AR" sz="1600" b="0" strike="noStrike" spc="-1">
              <a:solidFill>
                <a:srgbClr val="000000"/>
              </a:solidFill>
              <a:latin typeface="Arial"/>
            </a:endParaRPr>
          </a:p>
        </p:txBody>
      </p:sp>
      <p:sp>
        <p:nvSpPr>
          <p:cNvPr id="506" name="dato_cap"/>
          <p:cNvSpPr/>
          <p:nvPr/>
        </p:nvSpPr>
        <p:spPr>
          <a:xfrm>
            <a:off x="7315200" y="3520440"/>
            <a:ext cx="4479840" cy="60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4000" b="0" strike="noStrike" spc="-1">
                <a:solidFill>
                  <a:srgbClr val="1700F3"/>
                </a:solidFill>
                <a:latin typeface="Avenir Next LT Pro"/>
              </a:rPr>
              <a:t>2 de cada 3</a:t>
            </a:r>
            <a:endParaRPr lang="es-AR" sz="4000" b="0" strike="noStrike" spc="-1">
              <a:solidFill>
                <a:srgbClr val="000000"/>
              </a:solidFill>
              <a:latin typeface="Arial"/>
            </a:endParaRPr>
          </a:p>
        </p:txBody>
      </p:sp>
      <p:sp>
        <p:nvSpPr>
          <p:cNvPr id="507" name="dato_cap_txt"/>
          <p:cNvSpPr/>
          <p:nvPr/>
        </p:nvSpPr>
        <p:spPr>
          <a:xfrm>
            <a:off x="7315200" y="4389120"/>
            <a:ext cx="438840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s-AR" sz="1600" b="0" strike="noStrike" spc="-1">
                <a:solidFill>
                  <a:srgbClr val="00095B"/>
                </a:solidFill>
                <a:latin typeface="Avenir Next LT Pro"/>
              </a:rPr>
              <a:t>C</a:t>
            </a:r>
            <a:r>
              <a:rPr lang="en-US" sz="1600" b="0" strike="noStrike" spc="-1">
                <a:solidFill>
                  <a:srgbClr val="00095B"/>
                </a:solidFill>
                <a:latin typeface="Avenir Next LT Pro"/>
              </a:rPr>
              <a:t>lientes que están por dejar Ford reciben un contacto a tiempo, con 3.000 contactos por mes entre todos los concesionarios.</a:t>
            </a:r>
            <a:endParaRPr lang="es-AR" sz="1600" b="0" strike="noStrike" spc="-1">
              <a:solidFill>
                <a:srgbClr val="000000"/>
              </a:solidFill>
              <a:latin typeface="Arial"/>
            </a:endParaRPr>
          </a:p>
        </p:txBody>
      </p:sp>
      <p:sp>
        <p:nvSpPr>
          <p:cNvPr id="508" name="fuente"/>
          <p:cNvSpPr/>
          <p:nvPr/>
        </p:nvSpPr>
        <p:spPr>
          <a:xfrm>
            <a:off x="374760" y="6144840"/>
            <a:ext cx="11337840" cy="13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900" b="0" strike="noStrike" spc="-1">
                <a:solidFill>
                  <a:srgbClr val="7F7F7F"/>
                </a:solidFill>
                <a:latin typeface="Avenir Next LT Pro"/>
              </a:rPr>
              <a:t>Probado en ventanas de enero a marzo de 2026, meses que el modelo nunca vio (19.709 casos). Hoy 42,6 %; primer 20 % 77,5 %; primer 10 % 88 %; 3.000 contactos/mes: 65 % de los que se van.</a:t>
            </a:r>
            <a:endParaRPr lang="es-AR" sz="900" b="0" strike="noStrike" spc="-1">
              <a:solidFill>
                <a:srgbClr val="000000"/>
              </a:solidFill>
              <a:latin typeface="Arial"/>
            </a:endParaRPr>
          </a:p>
        </p:txBody>
      </p:sp>
      <p:sp>
        <p:nvSpPr>
          <p:cNvPr id="509"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Franco Tomás Malfetano</a:t>
            </a:r>
            <a:endParaRPr lang="es-AR" sz="10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97"/>
                                        </p:tgtEl>
                                        <p:attrNameLst>
                                          <p:attrName>style.visibility</p:attrName>
                                        </p:attrNameLst>
                                      </p:cBhvr>
                                      <p:to>
                                        <p:strVal val="visible"/>
                                      </p:to>
                                    </p:set>
                                    <p:animEffect transition="in" filter="wipe(down)">
                                      <p:cBhvr additive="repl">
                                        <p:cTn id="7" dur="700"/>
                                        <p:tgtEl>
                                          <p:spTgt spid="497"/>
                                        </p:tgtEl>
                                      </p:cBhvr>
                                    </p:animEffect>
                                  </p:childTnLst>
                                </p:cTn>
                              </p:par>
                              <p:par>
                                <p:cTn id="8" presetID="10" presetClass="entr" fill="hold" nodeType="withEffect">
                                  <p:stCondLst>
                                    <p:cond delay="0"/>
                                  </p:stCondLst>
                                  <p:childTnLst>
                                    <p:set>
                                      <p:cBhvr>
                                        <p:cTn id="9" dur="1" fill="hold">
                                          <p:stCondLst>
                                            <p:cond delay="0"/>
                                          </p:stCondLst>
                                        </p:cTn>
                                        <p:tgtEl>
                                          <p:spTgt spid="498"/>
                                        </p:tgtEl>
                                        <p:attrNameLst>
                                          <p:attrName>style.visibility</p:attrName>
                                        </p:attrNameLst>
                                      </p:cBhvr>
                                      <p:to>
                                        <p:strVal val="visible"/>
                                      </p:to>
                                    </p:set>
                                    <p:animEffect transition="in" filter="fade">
                                      <p:cBhvr additive="repl">
                                        <p:cTn id="10" dur="500"/>
                                        <p:tgtEl>
                                          <p:spTgt spid="498"/>
                                        </p:tgtEl>
                                      </p:cBhvr>
                                    </p:animEffect>
                                  </p:childTnLst>
                                </p:cTn>
                              </p:par>
                              <p:par>
                                <p:cTn id="11" presetID="10" presetClass="entr" fill="hold" nodeType="withEffect">
                                  <p:stCondLst>
                                    <p:cond delay="0"/>
                                  </p:stCondLst>
                                  <p:childTnLst>
                                    <p:set>
                                      <p:cBhvr>
                                        <p:cTn id="12" dur="1" fill="hold">
                                          <p:stCondLst>
                                            <p:cond delay="0"/>
                                          </p:stCondLst>
                                        </p:cTn>
                                        <p:tgtEl>
                                          <p:spTgt spid="499"/>
                                        </p:tgtEl>
                                        <p:attrNameLst>
                                          <p:attrName>style.visibility</p:attrName>
                                        </p:attrNameLst>
                                      </p:cBhvr>
                                      <p:to>
                                        <p:strVal val="visible"/>
                                      </p:to>
                                    </p:set>
                                    <p:animEffect transition="in" filter="fade">
                                      <p:cBhvr additive="repl">
                                        <p:cTn id="13" dur="500"/>
                                        <p:tgtEl>
                                          <p:spTgt spid="499"/>
                                        </p:tgtEl>
                                      </p:cBhvr>
                                    </p:animEffect>
                                  </p:childTnLst>
                                </p:cTn>
                              </p:par>
                              <p:par>
                                <p:cTn id="14" presetID="10" presetClass="entr" fill="hold" nodeType="withEffect">
                                  <p:stCondLst>
                                    <p:cond delay="0"/>
                                  </p:stCondLst>
                                  <p:childTnLst>
                                    <p:set>
                                      <p:cBhvr>
                                        <p:cTn id="15" dur="1" fill="hold">
                                          <p:stCondLst>
                                            <p:cond delay="0"/>
                                          </p:stCondLst>
                                        </p:cTn>
                                        <p:tgtEl>
                                          <p:spTgt spid="508"/>
                                        </p:tgtEl>
                                        <p:attrNameLst>
                                          <p:attrName>style.visibility</p:attrName>
                                        </p:attrNameLst>
                                      </p:cBhvr>
                                      <p:to>
                                        <p:strVal val="visible"/>
                                      </p:to>
                                    </p:set>
                                    <p:animEffect transition="in" filter="fade">
                                      <p:cBhvr additive="repl">
                                        <p:cTn id="16" dur="500"/>
                                        <p:tgtEl>
                                          <p:spTgt spid="50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500"/>
                                        </p:tgtEl>
                                        <p:attrNameLst>
                                          <p:attrName>style.visibility</p:attrName>
                                        </p:attrNameLst>
                                      </p:cBhvr>
                                      <p:to>
                                        <p:strVal val="visible"/>
                                      </p:to>
                                    </p:set>
                                    <p:animEffect transition="in" filter="wipe(down)">
                                      <p:cBhvr additive="repl">
                                        <p:cTn id="21" dur="700"/>
                                        <p:tgtEl>
                                          <p:spTgt spid="500"/>
                                        </p:tgtEl>
                                      </p:cBhvr>
                                    </p:animEffect>
                                  </p:childTnLst>
                                </p:cTn>
                              </p:par>
                              <p:par>
                                <p:cTn id="22" presetID="10" presetClass="entr" fill="hold" nodeType="withEffect">
                                  <p:stCondLst>
                                    <p:cond delay="0"/>
                                  </p:stCondLst>
                                  <p:childTnLst>
                                    <p:set>
                                      <p:cBhvr>
                                        <p:cTn id="23" dur="1" fill="hold">
                                          <p:stCondLst>
                                            <p:cond delay="0"/>
                                          </p:stCondLst>
                                        </p:cTn>
                                        <p:tgtEl>
                                          <p:spTgt spid="501"/>
                                        </p:tgtEl>
                                        <p:attrNameLst>
                                          <p:attrName>style.visibility</p:attrName>
                                        </p:attrNameLst>
                                      </p:cBhvr>
                                      <p:to>
                                        <p:strVal val="visible"/>
                                      </p:to>
                                    </p:set>
                                    <p:animEffect transition="in" filter="fade">
                                      <p:cBhvr additive="repl">
                                        <p:cTn id="24" dur="500"/>
                                        <p:tgtEl>
                                          <p:spTgt spid="501"/>
                                        </p:tgtEl>
                                      </p:cBhvr>
                                    </p:animEffect>
                                  </p:childTnLst>
                                </p:cTn>
                              </p:par>
                              <p:par>
                                <p:cTn id="25" presetID="10" presetClass="entr" fill="hold" nodeType="withEffect">
                                  <p:stCondLst>
                                    <p:cond delay="0"/>
                                  </p:stCondLst>
                                  <p:childTnLst>
                                    <p:set>
                                      <p:cBhvr>
                                        <p:cTn id="26" dur="1" fill="hold">
                                          <p:stCondLst>
                                            <p:cond delay="0"/>
                                          </p:stCondLst>
                                        </p:cTn>
                                        <p:tgtEl>
                                          <p:spTgt spid="502"/>
                                        </p:tgtEl>
                                        <p:attrNameLst>
                                          <p:attrName>style.visibility</p:attrName>
                                        </p:attrNameLst>
                                      </p:cBhvr>
                                      <p:to>
                                        <p:strVal val="visible"/>
                                      </p:to>
                                    </p:set>
                                    <p:animEffect transition="in" filter="fade">
                                      <p:cBhvr additive="repl">
                                        <p:cTn id="27" dur="500"/>
                                        <p:tgtEl>
                                          <p:spTgt spid="50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fill="hold" nodeType="clickEffect">
                                  <p:stCondLst>
                                    <p:cond delay="0"/>
                                  </p:stCondLst>
                                  <p:childTnLst>
                                    <p:set>
                                      <p:cBhvr>
                                        <p:cTn id="31" dur="1" fill="hold">
                                          <p:stCondLst>
                                            <p:cond delay="0"/>
                                          </p:stCondLst>
                                        </p:cTn>
                                        <p:tgtEl>
                                          <p:spTgt spid="504"/>
                                        </p:tgtEl>
                                        <p:attrNameLst>
                                          <p:attrName>style.visibility</p:attrName>
                                        </p:attrNameLst>
                                      </p:cBhvr>
                                      <p:to>
                                        <p:strVal val="visible"/>
                                      </p:to>
                                    </p:set>
                                    <p:animEffect transition="in" filter="fade">
                                      <p:cBhvr additive="repl">
                                        <p:cTn id="32" dur="500"/>
                                        <p:tgtEl>
                                          <p:spTgt spid="504"/>
                                        </p:tgtEl>
                                      </p:cBhvr>
                                    </p:animEffect>
                                  </p:childTnLst>
                                </p:cTn>
                              </p:par>
                              <p:par>
                                <p:cTn id="33" presetID="10" presetClass="entr" fill="hold" nodeType="withEffect">
                                  <p:stCondLst>
                                    <p:cond delay="0"/>
                                  </p:stCondLst>
                                  <p:childTnLst>
                                    <p:set>
                                      <p:cBhvr>
                                        <p:cTn id="34" dur="1" fill="hold">
                                          <p:stCondLst>
                                            <p:cond delay="0"/>
                                          </p:stCondLst>
                                        </p:cTn>
                                        <p:tgtEl>
                                          <p:spTgt spid="505"/>
                                        </p:tgtEl>
                                        <p:attrNameLst>
                                          <p:attrName>style.visibility</p:attrName>
                                        </p:attrNameLst>
                                      </p:cBhvr>
                                      <p:to>
                                        <p:strVal val="visible"/>
                                      </p:to>
                                    </p:set>
                                    <p:animEffect transition="in" filter="fade">
                                      <p:cBhvr additive="repl">
                                        <p:cTn id="35" dur="500"/>
                                        <p:tgtEl>
                                          <p:spTgt spid="50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fill="hold" nodeType="clickEffect">
                                  <p:stCondLst>
                                    <p:cond delay="0"/>
                                  </p:stCondLst>
                                  <p:childTnLst>
                                    <p:set>
                                      <p:cBhvr>
                                        <p:cTn id="39" dur="1" fill="hold">
                                          <p:stCondLst>
                                            <p:cond delay="0"/>
                                          </p:stCondLst>
                                        </p:cTn>
                                        <p:tgtEl>
                                          <p:spTgt spid="506"/>
                                        </p:tgtEl>
                                        <p:attrNameLst>
                                          <p:attrName>style.visibility</p:attrName>
                                        </p:attrNameLst>
                                      </p:cBhvr>
                                      <p:to>
                                        <p:strVal val="visible"/>
                                      </p:to>
                                    </p:set>
                                    <p:animEffect transition="in" filter="fade">
                                      <p:cBhvr additive="repl">
                                        <p:cTn id="40" dur="500"/>
                                        <p:tgtEl>
                                          <p:spTgt spid="506"/>
                                        </p:tgtEl>
                                      </p:cBhvr>
                                    </p:animEffect>
                                  </p:childTnLst>
                                </p:cTn>
                              </p:par>
                              <p:par>
                                <p:cTn id="41" presetID="10" presetClass="entr" fill="hold" nodeType="withEffect">
                                  <p:stCondLst>
                                    <p:cond delay="0"/>
                                  </p:stCondLst>
                                  <p:childTnLst>
                                    <p:set>
                                      <p:cBhvr>
                                        <p:cTn id="42" dur="1" fill="hold">
                                          <p:stCondLst>
                                            <p:cond delay="0"/>
                                          </p:stCondLst>
                                        </p:cTn>
                                        <p:tgtEl>
                                          <p:spTgt spid="507"/>
                                        </p:tgtEl>
                                        <p:attrNameLst>
                                          <p:attrName>style.visibility</p:attrName>
                                        </p:attrNameLst>
                                      </p:cBhvr>
                                      <p:to>
                                        <p:strVal val="visible"/>
                                      </p:to>
                                    </p:set>
                                    <p:animEffect transition="in" filter="fade">
                                      <p:cBhvr additive="repl">
                                        <p:cTn id="43" dur="500"/>
                                        <p:tgtEl>
                                          <p:spTgt spid="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 name="PlaceHolder 1"/>
          <p:cNvSpPr>
            <a:spLocks noGrp="1"/>
          </p:cNvSpPr>
          <p:nvPr>
            <p:ph type="title"/>
          </p:nvPr>
        </p:nvSpPr>
        <p:spPr>
          <a:xfrm>
            <a:off x="374760" y="502920"/>
            <a:ext cx="10514880" cy="1026360"/>
          </a:xfrm>
          <a:prstGeom prst="rect">
            <a:avLst/>
          </a:prstGeom>
          <a:noFill/>
          <a:ln w="0">
            <a:noFill/>
          </a:ln>
        </p:spPr>
        <p:txBody>
          <a:bodyPr lIns="0" tIns="45720" rIns="91440" bIns="45720" anchor="t">
            <a:noAutofit/>
          </a:bodyPr>
          <a:lstStyle/>
          <a:p>
            <a:pPr indent="0" defTabSz="914400">
              <a:lnSpc>
                <a:spcPct val="90000"/>
              </a:lnSpc>
              <a:buNone/>
              <a:tabLst>
                <a:tab pos="0" algn="l"/>
              </a:tabLst>
            </a:pPr>
            <a:r>
              <a:rPr lang="en-US" sz="2400" b="0" strike="noStrike" spc="66">
                <a:solidFill>
                  <a:schemeClr val="dk1"/>
                </a:solidFill>
                <a:latin typeface="Avenir Next LT Pro"/>
                <a:ea typeface="Avenir Next"/>
              </a:rPr>
              <a:t>La evidencia: probado en meses que nunca vio</a:t>
            </a:r>
            <a:endParaRPr lang="es-AR" sz="2400" b="0" strike="noStrike" spc="-1">
              <a:solidFill>
                <a:srgbClr val="000000"/>
              </a:solidFill>
              <a:latin typeface="Arial"/>
            </a:endParaRPr>
          </a:p>
        </p:txBody>
      </p:sp>
      <p:sp>
        <p:nvSpPr>
          <p:cNvPr id="511" name="PlaceHolder 2"/>
          <p:cNvSpPr>
            <a:spLocks noGrp="1"/>
          </p:cNvSpPr>
          <p:nvPr>
            <p:ph/>
          </p:nvPr>
        </p:nvSpPr>
        <p:spPr>
          <a:xfrm>
            <a:off x="394920" y="286920"/>
            <a:ext cx="3901680" cy="215280"/>
          </a:xfrm>
          <a:prstGeom prst="rect">
            <a:avLst/>
          </a:prstGeom>
          <a:noFill/>
          <a:ln w="0">
            <a:noFill/>
          </a:ln>
        </p:spPr>
        <p:txBody>
          <a:bodyPr lIns="0" tIns="45720" rIns="91440" bIns="45720" anchor="t">
            <a:noAutofit/>
          </a:bodyPr>
          <a:lstStyle/>
          <a:p>
            <a:pPr indent="0" defTabSz="914400">
              <a:lnSpc>
                <a:spcPct val="90000"/>
              </a:lnSpc>
              <a:spcBef>
                <a:spcPts val="1001"/>
              </a:spcBef>
              <a:buNone/>
              <a:tabLst>
                <a:tab pos="0" algn="l"/>
              </a:tabLst>
            </a:pPr>
            <a:r>
              <a:rPr lang="en-US" sz="900" b="0" strike="noStrike" cap="all" spc="296">
                <a:solidFill>
                  <a:schemeClr val="accent1"/>
                </a:solidFill>
                <a:latin typeface="Avenir Next LT Pro"/>
                <a:ea typeface="Avenir Next"/>
              </a:rPr>
              <a:t>02 · Descripción de la solución</a:t>
            </a:r>
            <a:endParaRPr lang="es-AR" sz="900" b="0" strike="noStrike" spc="-1">
              <a:solidFill>
                <a:srgbClr val="000000"/>
              </a:solidFill>
              <a:latin typeface="Arial"/>
            </a:endParaRPr>
          </a:p>
        </p:txBody>
      </p:sp>
      <p:sp>
        <p:nvSpPr>
          <p:cNvPr id="512" name="PlaceHolder 3"/>
          <p:cNvSpPr>
            <a:spLocks noGrp="1"/>
          </p:cNvSpPr>
          <p:nvPr>
            <p:ph type="sldNum" idx="63"/>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05FC4CF2-CB3A-4E4D-A774-D84D68D54478}" type="slidenum">
              <a:rPr lang="en-US" sz="800" b="0" strike="noStrike" spc="-1">
                <a:solidFill>
                  <a:schemeClr val="dk1"/>
                </a:solidFill>
                <a:latin typeface="Avenir Next LT Pro"/>
                <a:ea typeface="Avenir Next"/>
              </a:rPr>
              <a:t>11</a:t>
            </a:fld>
            <a:endParaRPr lang="es-AR" sz="800" b="0" strike="noStrike" spc="-1">
              <a:solidFill>
                <a:srgbClr val="000000"/>
              </a:solidFill>
              <a:latin typeface="Times New Roman"/>
            </a:endParaRPr>
          </a:p>
        </p:txBody>
      </p:sp>
      <p:sp>
        <p:nvSpPr>
          <p:cNvPr id="513" name="ganancia_titulo"/>
          <p:cNvSpPr/>
          <p:nvPr/>
        </p:nvSpPr>
        <p:spPr>
          <a:xfrm>
            <a:off x="374760" y="1371600"/>
            <a:ext cx="54856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500" b="1" strike="noStrike" spc="-1">
                <a:solidFill>
                  <a:srgbClr val="00095B"/>
                </a:solidFill>
                <a:latin typeface="Avenir Next LT Pro"/>
              </a:rPr>
              <a:t>¿A cuántos de los que se van llegamos, según cuántos contactamos?</a:t>
            </a:r>
            <a:endParaRPr lang="es-AR" sz="1500" b="0" strike="noStrike" spc="-1">
              <a:solidFill>
                <a:srgbClr val="000000"/>
              </a:solidFill>
              <a:latin typeface="Arial"/>
            </a:endParaRPr>
          </a:p>
        </p:txBody>
      </p:sp>
      <p:pic>
        <p:nvPicPr>
          <p:cNvPr id="514" name="ganancia" descr="ganancia.png"/>
          <p:cNvPicPr/>
          <p:nvPr/>
        </p:nvPicPr>
        <p:blipFill>
          <a:blip r:embed="rId3"/>
          <a:stretch/>
        </p:blipFill>
        <p:spPr>
          <a:xfrm>
            <a:off x="374760" y="1828800"/>
            <a:ext cx="5634720" cy="3839760"/>
          </a:xfrm>
          <a:prstGeom prst="rect">
            <a:avLst/>
          </a:prstGeom>
          <a:ln w="0">
            <a:noFill/>
          </a:ln>
        </p:spPr>
      </p:pic>
      <p:sp>
        <p:nvSpPr>
          <p:cNvPr id="515" name="calibracion_titulo"/>
          <p:cNvSpPr/>
          <p:nvPr/>
        </p:nvSpPr>
        <p:spPr>
          <a:xfrm>
            <a:off x="6400800" y="1371600"/>
            <a:ext cx="5394240" cy="22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500" b="1" strike="noStrike" spc="-1">
                <a:solidFill>
                  <a:srgbClr val="00095B"/>
                </a:solidFill>
                <a:latin typeface="Avenir Next LT Pro"/>
              </a:rPr>
              <a:t>Cuando dice 70 %, ¿se van 7 de cada 10?</a:t>
            </a:r>
            <a:endParaRPr lang="es-AR" sz="1500" b="0" strike="noStrike" spc="-1">
              <a:solidFill>
                <a:srgbClr val="000000"/>
              </a:solidFill>
              <a:latin typeface="Arial"/>
            </a:endParaRPr>
          </a:p>
        </p:txBody>
      </p:sp>
      <p:pic>
        <p:nvPicPr>
          <p:cNvPr id="516" name="calibracion" descr="calibracion.png"/>
          <p:cNvPicPr/>
          <p:nvPr/>
        </p:nvPicPr>
        <p:blipFill>
          <a:blip r:embed="rId4"/>
          <a:stretch/>
        </p:blipFill>
        <p:spPr>
          <a:xfrm>
            <a:off x="7040880" y="1828800"/>
            <a:ext cx="3835800" cy="3839760"/>
          </a:xfrm>
          <a:prstGeom prst="rect">
            <a:avLst/>
          </a:prstGeom>
          <a:ln w="0">
            <a:noFill/>
          </a:ln>
        </p:spPr>
      </p:pic>
      <p:sp>
        <p:nvSpPr>
          <p:cNvPr id="517" name="pie"/>
          <p:cNvSpPr/>
          <p:nvPr/>
        </p:nvSpPr>
        <p:spPr>
          <a:xfrm>
            <a:off x="374760" y="5897880"/>
            <a:ext cx="11337840" cy="167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100" b="0" strike="noStrike" spc="-1">
                <a:solidFill>
                  <a:srgbClr val="7F7F7F"/>
                </a:solidFill>
                <a:latin typeface="Avenir Next LT Pro"/>
              </a:rPr>
              <a:t>Entrenado con datos hasta septiembre de 2025 y evaluado en enero a marzo de 2026 (19.709 casos). Línea gris: contactar sin orden, como hoy.</a:t>
            </a:r>
            <a:endParaRPr lang="es-AR" sz="1100" b="0" strike="noStrike" spc="-1">
              <a:solidFill>
                <a:srgbClr val="000000"/>
              </a:solidFill>
              <a:latin typeface="Arial"/>
            </a:endParaRPr>
          </a:p>
        </p:txBody>
      </p:sp>
      <p:sp>
        <p:nvSpPr>
          <p:cNvPr id="518"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Teodoro Samaan Piroli</a:t>
            </a:r>
            <a:endParaRPr lang="es-AR" sz="10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513"/>
                                        </p:tgtEl>
                                        <p:attrNameLst>
                                          <p:attrName>style.visibility</p:attrName>
                                        </p:attrNameLst>
                                      </p:cBhvr>
                                      <p:to>
                                        <p:strVal val="visible"/>
                                      </p:to>
                                    </p:set>
                                    <p:animEffect transition="in" filter="fade">
                                      <p:cBhvr additive="repl">
                                        <p:cTn id="7" dur="500"/>
                                        <p:tgtEl>
                                          <p:spTgt spid="513"/>
                                        </p:tgtEl>
                                      </p:cBhvr>
                                    </p:animEffect>
                                  </p:childTnLst>
                                </p:cTn>
                              </p:par>
                              <p:par>
                                <p:cTn id="8" presetID="10" presetClass="entr" fill="hold" nodeType="withEffect">
                                  <p:stCondLst>
                                    <p:cond delay="0"/>
                                  </p:stCondLst>
                                  <p:childTnLst>
                                    <p:set>
                                      <p:cBhvr>
                                        <p:cTn id="9" dur="1" fill="hold">
                                          <p:stCondLst>
                                            <p:cond delay="0"/>
                                          </p:stCondLst>
                                        </p:cTn>
                                        <p:tgtEl>
                                          <p:spTgt spid="514"/>
                                        </p:tgtEl>
                                        <p:attrNameLst>
                                          <p:attrName>style.visibility</p:attrName>
                                        </p:attrNameLst>
                                      </p:cBhvr>
                                      <p:to>
                                        <p:strVal val="visible"/>
                                      </p:to>
                                    </p:set>
                                    <p:animEffect transition="in" filter="fade">
                                      <p:cBhvr additive="repl">
                                        <p:cTn id="10" dur="500"/>
                                        <p:tgtEl>
                                          <p:spTgt spid="514"/>
                                        </p:tgtEl>
                                      </p:cBhvr>
                                    </p:animEffect>
                                  </p:childTnLst>
                                </p:cTn>
                              </p:par>
                              <p:par>
                                <p:cTn id="11" presetID="10" presetClass="entr" fill="hold" nodeType="withEffect">
                                  <p:stCondLst>
                                    <p:cond delay="0"/>
                                  </p:stCondLst>
                                  <p:childTnLst>
                                    <p:set>
                                      <p:cBhvr>
                                        <p:cTn id="12" dur="1" fill="hold">
                                          <p:stCondLst>
                                            <p:cond delay="0"/>
                                          </p:stCondLst>
                                        </p:cTn>
                                        <p:tgtEl>
                                          <p:spTgt spid="517"/>
                                        </p:tgtEl>
                                        <p:attrNameLst>
                                          <p:attrName>style.visibility</p:attrName>
                                        </p:attrNameLst>
                                      </p:cBhvr>
                                      <p:to>
                                        <p:strVal val="visible"/>
                                      </p:to>
                                    </p:set>
                                    <p:animEffect transition="in" filter="fade">
                                      <p:cBhvr additive="repl">
                                        <p:cTn id="13" dur="500"/>
                                        <p:tgtEl>
                                          <p:spTgt spid="5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fill="hold" nodeType="clickEffect">
                                  <p:stCondLst>
                                    <p:cond delay="0"/>
                                  </p:stCondLst>
                                  <p:childTnLst>
                                    <p:set>
                                      <p:cBhvr>
                                        <p:cTn id="17" dur="1" fill="hold">
                                          <p:stCondLst>
                                            <p:cond delay="0"/>
                                          </p:stCondLst>
                                        </p:cTn>
                                        <p:tgtEl>
                                          <p:spTgt spid="515"/>
                                        </p:tgtEl>
                                        <p:attrNameLst>
                                          <p:attrName>style.visibility</p:attrName>
                                        </p:attrNameLst>
                                      </p:cBhvr>
                                      <p:to>
                                        <p:strVal val="visible"/>
                                      </p:to>
                                    </p:set>
                                    <p:animEffect transition="in" filter="fade">
                                      <p:cBhvr additive="repl">
                                        <p:cTn id="18" dur="500"/>
                                        <p:tgtEl>
                                          <p:spTgt spid="515"/>
                                        </p:tgtEl>
                                      </p:cBhvr>
                                    </p:animEffect>
                                  </p:childTnLst>
                                </p:cTn>
                              </p:par>
                              <p:par>
                                <p:cTn id="19" presetID="10" presetClass="entr" fill="hold" nodeType="withEffect">
                                  <p:stCondLst>
                                    <p:cond delay="0"/>
                                  </p:stCondLst>
                                  <p:childTnLst>
                                    <p:set>
                                      <p:cBhvr>
                                        <p:cTn id="20" dur="1" fill="hold">
                                          <p:stCondLst>
                                            <p:cond delay="0"/>
                                          </p:stCondLst>
                                        </p:cTn>
                                        <p:tgtEl>
                                          <p:spTgt spid="516"/>
                                        </p:tgtEl>
                                        <p:attrNameLst>
                                          <p:attrName>style.visibility</p:attrName>
                                        </p:attrNameLst>
                                      </p:cBhvr>
                                      <p:to>
                                        <p:strVal val="visible"/>
                                      </p:to>
                                    </p:set>
                                    <p:animEffect transition="in" filter="fade">
                                      <p:cBhvr additive="repl">
                                        <p:cTn id="21" dur="500"/>
                                        <p:tgtEl>
                                          <p:spTgt spid="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 name="PlaceHolder 1"/>
          <p:cNvSpPr>
            <a:spLocks noGrp="1"/>
          </p:cNvSpPr>
          <p:nvPr>
            <p:ph type="title"/>
          </p:nvPr>
        </p:nvSpPr>
        <p:spPr>
          <a:xfrm>
            <a:off x="374760" y="502920"/>
            <a:ext cx="10514880" cy="1026360"/>
          </a:xfrm>
          <a:prstGeom prst="rect">
            <a:avLst/>
          </a:prstGeom>
          <a:noFill/>
          <a:ln w="0">
            <a:noFill/>
          </a:ln>
        </p:spPr>
        <p:txBody>
          <a:bodyPr lIns="0" tIns="45720" rIns="91440" bIns="45720" anchor="t">
            <a:noAutofit/>
          </a:bodyPr>
          <a:lstStyle/>
          <a:p>
            <a:pPr indent="0" defTabSz="914400">
              <a:lnSpc>
                <a:spcPct val="90000"/>
              </a:lnSpc>
              <a:buNone/>
              <a:tabLst>
                <a:tab pos="0" algn="l"/>
              </a:tabLst>
            </a:pPr>
            <a:r>
              <a:rPr lang="en-US" sz="2400" b="0" strike="noStrike" spc="66">
                <a:solidFill>
                  <a:schemeClr val="dk1"/>
                </a:solidFill>
                <a:latin typeface="Avenir Next LT Pro"/>
                <a:ea typeface="Avenir Next"/>
              </a:rPr>
              <a:t>Un resultado que se puede sostener</a:t>
            </a:r>
            <a:endParaRPr lang="es-AR" sz="2400" b="0" strike="noStrike" spc="-1">
              <a:solidFill>
                <a:srgbClr val="000000"/>
              </a:solidFill>
              <a:latin typeface="Arial"/>
            </a:endParaRPr>
          </a:p>
        </p:txBody>
      </p:sp>
      <p:sp>
        <p:nvSpPr>
          <p:cNvPr id="520" name="PlaceHolder 2"/>
          <p:cNvSpPr>
            <a:spLocks noGrp="1"/>
          </p:cNvSpPr>
          <p:nvPr>
            <p:ph/>
          </p:nvPr>
        </p:nvSpPr>
        <p:spPr>
          <a:xfrm>
            <a:off x="394920" y="286920"/>
            <a:ext cx="3901680" cy="215280"/>
          </a:xfrm>
          <a:prstGeom prst="rect">
            <a:avLst/>
          </a:prstGeom>
          <a:noFill/>
          <a:ln w="0">
            <a:noFill/>
          </a:ln>
        </p:spPr>
        <p:txBody>
          <a:bodyPr lIns="0" tIns="45720" rIns="91440" bIns="45720" anchor="t">
            <a:noAutofit/>
          </a:bodyPr>
          <a:lstStyle/>
          <a:p>
            <a:pPr indent="0" defTabSz="914400">
              <a:lnSpc>
                <a:spcPct val="90000"/>
              </a:lnSpc>
              <a:spcBef>
                <a:spcPts val="1001"/>
              </a:spcBef>
              <a:buNone/>
              <a:tabLst>
                <a:tab pos="0" algn="l"/>
              </a:tabLst>
            </a:pPr>
            <a:r>
              <a:rPr lang="en-US" sz="900" b="0" strike="noStrike" cap="all" spc="296">
                <a:solidFill>
                  <a:schemeClr val="accent1"/>
                </a:solidFill>
                <a:latin typeface="Avenir Next LT Pro"/>
                <a:ea typeface="Avenir Next"/>
              </a:rPr>
              <a:t>02 · Descripción de la solución</a:t>
            </a:r>
            <a:endParaRPr lang="es-AR" sz="900" b="0" strike="noStrike" spc="-1">
              <a:solidFill>
                <a:srgbClr val="000000"/>
              </a:solidFill>
              <a:latin typeface="Arial"/>
            </a:endParaRPr>
          </a:p>
        </p:txBody>
      </p:sp>
      <p:sp>
        <p:nvSpPr>
          <p:cNvPr id="521" name="PlaceHolder 3"/>
          <p:cNvSpPr>
            <a:spLocks noGrp="1"/>
          </p:cNvSpPr>
          <p:nvPr>
            <p:ph type="sldNum" idx="64"/>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D70A37AD-888B-4B35-BB40-6D195B16C563}" type="slidenum">
              <a:rPr lang="en-US" sz="800" b="0" strike="noStrike" spc="-1">
                <a:solidFill>
                  <a:schemeClr val="dk1"/>
                </a:solidFill>
                <a:latin typeface="Avenir Next LT Pro"/>
                <a:ea typeface="Avenir Next"/>
              </a:rPr>
              <a:t>12</a:t>
            </a:fld>
            <a:endParaRPr lang="es-AR" sz="800" b="0" strike="noStrike" spc="-1">
              <a:solidFill>
                <a:srgbClr val="000000"/>
              </a:solidFill>
              <a:latin typeface="Times New Roman"/>
            </a:endParaRPr>
          </a:p>
        </p:txBody>
      </p:sp>
      <p:sp>
        <p:nvSpPr>
          <p:cNvPr id="522" name="escala"/>
          <p:cNvSpPr/>
          <p:nvPr/>
        </p:nvSpPr>
        <p:spPr>
          <a:xfrm>
            <a:off x="374760" y="1371600"/>
            <a:ext cx="6217200" cy="19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300" b="0" strike="noStrike" spc="-1">
                <a:solidFill>
                  <a:srgbClr val="7F7F7F"/>
                </a:solidFill>
                <a:latin typeface="Avenir Next LT Pro"/>
              </a:rPr>
              <a:t>Calidad del orden (0,5 = al azar · 1 = perfecto)</a:t>
            </a:r>
            <a:endParaRPr lang="es-AR" sz="1300" b="0" strike="noStrike" spc="-1">
              <a:solidFill>
                <a:srgbClr val="000000"/>
              </a:solidFill>
              <a:latin typeface="Arial"/>
            </a:endParaRPr>
          </a:p>
        </p:txBody>
      </p:sp>
      <p:sp>
        <p:nvSpPr>
          <p:cNvPr id="523" name="barra1"/>
          <p:cNvSpPr/>
          <p:nvPr/>
        </p:nvSpPr>
        <p:spPr>
          <a:xfrm>
            <a:off x="1097280" y="2706120"/>
            <a:ext cx="2010960" cy="2779560"/>
          </a:xfrm>
          <a:prstGeom prst="rect">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524" name="v1"/>
          <p:cNvSpPr/>
          <p:nvPr/>
        </p:nvSpPr>
        <p:spPr>
          <a:xfrm>
            <a:off x="822960" y="1974600"/>
            <a:ext cx="2559600" cy="48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3200" b="0" strike="noStrike" spc="-1">
                <a:solidFill>
                  <a:srgbClr val="00095B"/>
                </a:solidFill>
                <a:latin typeface="Avenir Next LT Pro"/>
              </a:rPr>
              <a:t>0,81</a:t>
            </a:r>
            <a:endParaRPr lang="es-AR" sz="3200" b="0" strike="noStrike" spc="-1">
              <a:solidFill>
                <a:srgbClr val="000000"/>
              </a:solidFill>
              <a:latin typeface="Arial"/>
            </a:endParaRPr>
          </a:p>
        </p:txBody>
      </p:sp>
      <p:sp>
        <p:nvSpPr>
          <p:cNvPr id="525" name="p1"/>
          <p:cNvSpPr/>
          <p:nvPr/>
        </p:nvSpPr>
        <p:spPr>
          <a:xfrm>
            <a:off x="640080" y="5577840"/>
            <a:ext cx="292536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200" b="0" strike="noStrike" spc="-1">
                <a:solidFill>
                  <a:srgbClr val="00095B"/>
                </a:solidFill>
                <a:latin typeface="Avenir Next LT Pro"/>
              </a:rPr>
              <a:t>Con dos datos que</a:t>
            </a:r>
            <a:endParaRPr lang="es-AR" sz="1200" b="0" strike="noStrike" spc="-1">
              <a:solidFill>
                <a:srgbClr val="000000"/>
              </a:solidFill>
              <a:latin typeface="Arial"/>
            </a:endParaRPr>
          </a:p>
          <a:p>
            <a:pPr algn="ctr" defTabSz="914400">
              <a:lnSpc>
                <a:spcPct val="100000"/>
              </a:lnSpc>
            </a:pPr>
            <a:r>
              <a:rPr lang="en-US" sz="1200" b="0" strike="noStrike" spc="-1">
                <a:solidFill>
                  <a:srgbClr val="00095B"/>
                </a:solidFill>
                <a:latin typeface="Avenir Next LT Pro"/>
              </a:rPr>
              <a:t>“miraban el futuro”</a:t>
            </a:r>
            <a:endParaRPr lang="es-AR" sz="1200" b="0" strike="noStrike" spc="-1">
              <a:solidFill>
                <a:srgbClr val="000000"/>
              </a:solidFill>
              <a:latin typeface="Arial"/>
            </a:endParaRPr>
          </a:p>
        </p:txBody>
      </p:sp>
      <p:sp>
        <p:nvSpPr>
          <p:cNvPr id="526" name="barra2"/>
          <p:cNvSpPr/>
          <p:nvPr/>
        </p:nvSpPr>
        <p:spPr>
          <a:xfrm>
            <a:off x="4023360" y="3354480"/>
            <a:ext cx="2010960" cy="2131200"/>
          </a:xfrm>
          <a:prstGeom prst="rect">
            <a:avLst/>
          </a:prstGeom>
          <a:solidFill>
            <a:srgbClr val="1700F3"/>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527" name="v2"/>
          <p:cNvSpPr/>
          <p:nvPr/>
        </p:nvSpPr>
        <p:spPr>
          <a:xfrm>
            <a:off x="3749040" y="2622960"/>
            <a:ext cx="2559600" cy="48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3200" b="0" strike="noStrike" spc="-1">
                <a:solidFill>
                  <a:srgbClr val="1700F3"/>
                </a:solidFill>
                <a:latin typeface="Avenir Next LT Pro"/>
              </a:rPr>
              <a:t>0,74</a:t>
            </a:r>
            <a:endParaRPr lang="es-AR" sz="3200" b="0" strike="noStrike" spc="-1">
              <a:solidFill>
                <a:srgbClr val="000000"/>
              </a:solidFill>
              <a:latin typeface="Arial"/>
            </a:endParaRPr>
          </a:p>
        </p:txBody>
      </p:sp>
      <p:sp>
        <p:nvSpPr>
          <p:cNvPr id="528" name="p2"/>
          <p:cNvSpPr/>
          <p:nvPr/>
        </p:nvSpPr>
        <p:spPr>
          <a:xfrm>
            <a:off x="3566160" y="5577840"/>
            <a:ext cx="292536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200" b="0" strike="noStrike" spc="-1">
                <a:solidFill>
                  <a:srgbClr val="00095B"/>
                </a:solidFill>
                <a:latin typeface="Avenir Next LT Pro"/>
              </a:rPr>
              <a:t>Sin ellos: lo que se sostiene</a:t>
            </a:r>
            <a:endParaRPr lang="es-AR" sz="1200" b="0" strike="noStrike" spc="-1">
              <a:solidFill>
                <a:srgbClr val="000000"/>
              </a:solidFill>
              <a:latin typeface="Arial"/>
            </a:endParaRPr>
          </a:p>
          <a:p>
            <a:pPr algn="ctr" defTabSz="914400">
              <a:lnSpc>
                <a:spcPct val="100000"/>
              </a:lnSpc>
            </a:pPr>
            <a:r>
              <a:rPr lang="en-US" sz="1200" b="0" strike="noStrike" spc="-1">
                <a:solidFill>
                  <a:srgbClr val="00095B"/>
                </a:solidFill>
                <a:latin typeface="Avenir Next LT Pro"/>
              </a:rPr>
              <a:t>al momento de decidir</a:t>
            </a:r>
            <a:endParaRPr lang="es-AR" sz="1200" b="0" strike="noStrike" spc="-1">
              <a:solidFill>
                <a:srgbClr val="000000"/>
              </a:solidFill>
              <a:latin typeface="Arial"/>
            </a:endParaRPr>
          </a:p>
        </p:txBody>
      </p:sp>
      <p:sp>
        <p:nvSpPr>
          <p:cNvPr id="529" name="explicacion"/>
          <p:cNvSpPr/>
          <p:nvPr/>
        </p:nvSpPr>
        <p:spPr>
          <a:xfrm>
            <a:off x="6949440" y="1828800"/>
            <a:ext cx="4754160" cy="225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600" b="0" strike="noStrike" spc="-1">
                <a:solidFill>
                  <a:srgbClr val="00095B"/>
                </a:solidFill>
                <a:latin typeface="Avenir Next LT Pro"/>
              </a:rPr>
              <a:t>Dos columnas del dataset son valores del día en que se extrajeron los datos, no de cada fecha: son fotos de hoy mezcladas con el pasado.</a:t>
            </a:r>
            <a:endParaRPr lang="es-AR" sz="1600" b="0" strike="noStrike" spc="-1">
              <a:solidFill>
                <a:srgbClr val="000000"/>
              </a:solidFill>
              <a:latin typeface="Arial"/>
            </a:endParaRPr>
          </a:p>
          <a:p>
            <a:pPr defTabSz="914400">
              <a:lnSpc>
                <a:spcPct val="100000"/>
              </a:lnSpc>
              <a:spcBef>
                <a:spcPts val="1199"/>
              </a:spcBef>
            </a:pPr>
            <a:r>
              <a:rPr lang="en-US" sz="1600" b="0" strike="noStrike" spc="-1">
                <a:solidFill>
                  <a:srgbClr val="00095B"/>
                </a:solidFill>
                <a:latin typeface="Avenir Next LT Pro"/>
              </a:rPr>
              <a:t>Con ellas el modelo parecía mejor, pero esa información no existe cuando hay que decidir a quién contactar.</a:t>
            </a:r>
            <a:endParaRPr lang="es-AR" sz="1600" b="0" strike="noStrike" spc="-1">
              <a:solidFill>
                <a:srgbClr val="000000"/>
              </a:solidFill>
              <a:latin typeface="Arial"/>
            </a:endParaRPr>
          </a:p>
          <a:p>
            <a:pPr defTabSz="914400">
              <a:lnSpc>
                <a:spcPct val="100000"/>
              </a:lnSpc>
              <a:spcBef>
                <a:spcPts val="1199"/>
              </a:spcBef>
            </a:pPr>
            <a:r>
              <a:rPr lang="en-US" sz="1600" b="1" strike="noStrike" spc="-1">
                <a:solidFill>
                  <a:srgbClr val="00095B"/>
                </a:solidFill>
                <a:latin typeface="Avenir Next LT Pro"/>
              </a:rPr>
              <a:t>Las sacamos. 0,74 es lo que se puede prometer y cumplir.</a:t>
            </a:r>
            <a:endParaRPr lang="es-AR" sz="1600" b="0" strike="noStrike" spc="-1">
              <a:solidFill>
                <a:srgbClr val="000000"/>
              </a:solidFill>
              <a:latin typeface="Arial"/>
            </a:endParaRPr>
          </a:p>
        </p:txBody>
      </p:sp>
      <p:sp>
        <p:nvSpPr>
          <p:cNvPr id="530"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Teodoro Samaan Piroli</a:t>
            </a:r>
            <a:endParaRPr lang="es-AR" sz="10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23"/>
                                        </p:tgtEl>
                                        <p:attrNameLst>
                                          <p:attrName>style.visibility</p:attrName>
                                        </p:attrNameLst>
                                      </p:cBhvr>
                                      <p:to>
                                        <p:strVal val="visible"/>
                                      </p:to>
                                    </p:set>
                                    <p:animEffect transition="in" filter="wipe(down)">
                                      <p:cBhvr additive="repl">
                                        <p:cTn id="7" dur="700"/>
                                        <p:tgtEl>
                                          <p:spTgt spid="523"/>
                                        </p:tgtEl>
                                      </p:cBhvr>
                                    </p:animEffect>
                                  </p:childTnLst>
                                </p:cTn>
                              </p:par>
                              <p:par>
                                <p:cTn id="8" presetID="10" presetClass="entr" fill="hold" nodeType="withEffect">
                                  <p:stCondLst>
                                    <p:cond delay="0"/>
                                  </p:stCondLst>
                                  <p:childTnLst>
                                    <p:set>
                                      <p:cBhvr>
                                        <p:cTn id="9" dur="1" fill="hold">
                                          <p:stCondLst>
                                            <p:cond delay="0"/>
                                          </p:stCondLst>
                                        </p:cTn>
                                        <p:tgtEl>
                                          <p:spTgt spid="524"/>
                                        </p:tgtEl>
                                        <p:attrNameLst>
                                          <p:attrName>style.visibility</p:attrName>
                                        </p:attrNameLst>
                                      </p:cBhvr>
                                      <p:to>
                                        <p:strVal val="visible"/>
                                      </p:to>
                                    </p:set>
                                    <p:animEffect transition="in" filter="fade">
                                      <p:cBhvr additive="repl">
                                        <p:cTn id="10" dur="500"/>
                                        <p:tgtEl>
                                          <p:spTgt spid="524"/>
                                        </p:tgtEl>
                                      </p:cBhvr>
                                    </p:animEffect>
                                  </p:childTnLst>
                                </p:cTn>
                              </p:par>
                              <p:par>
                                <p:cTn id="11" presetID="10" presetClass="entr" fill="hold" nodeType="withEffect">
                                  <p:stCondLst>
                                    <p:cond delay="0"/>
                                  </p:stCondLst>
                                  <p:childTnLst>
                                    <p:set>
                                      <p:cBhvr>
                                        <p:cTn id="12" dur="1" fill="hold">
                                          <p:stCondLst>
                                            <p:cond delay="0"/>
                                          </p:stCondLst>
                                        </p:cTn>
                                        <p:tgtEl>
                                          <p:spTgt spid="525"/>
                                        </p:tgtEl>
                                        <p:attrNameLst>
                                          <p:attrName>style.visibility</p:attrName>
                                        </p:attrNameLst>
                                      </p:cBhvr>
                                      <p:to>
                                        <p:strVal val="visible"/>
                                      </p:to>
                                    </p:set>
                                    <p:animEffect transition="in" filter="fade">
                                      <p:cBhvr additive="repl">
                                        <p:cTn id="13" dur="500"/>
                                        <p:tgtEl>
                                          <p:spTgt spid="52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526"/>
                                        </p:tgtEl>
                                        <p:attrNameLst>
                                          <p:attrName>style.visibility</p:attrName>
                                        </p:attrNameLst>
                                      </p:cBhvr>
                                      <p:to>
                                        <p:strVal val="visible"/>
                                      </p:to>
                                    </p:set>
                                    <p:animEffect transition="in" filter="wipe(down)">
                                      <p:cBhvr additive="repl">
                                        <p:cTn id="18" dur="700"/>
                                        <p:tgtEl>
                                          <p:spTgt spid="526"/>
                                        </p:tgtEl>
                                      </p:cBhvr>
                                    </p:animEffect>
                                  </p:childTnLst>
                                </p:cTn>
                              </p:par>
                              <p:par>
                                <p:cTn id="19" presetID="10" presetClass="entr" fill="hold" nodeType="withEffect">
                                  <p:stCondLst>
                                    <p:cond delay="0"/>
                                  </p:stCondLst>
                                  <p:childTnLst>
                                    <p:set>
                                      <p:cBhvr>
                                        <p:cTn id="20" dur="1" fill="hold">
                                          <p:stCondLst>
                                            <p:cond delay="0"/>
                                          </p:stCondLst>
                                        </p:cTn>
                                        <p:tgtEl>
                                          <p:spTgt spid="527"/>
                                        </p:tgtEl>
                                        <p:attrNameLst>
                                          <p:attrName>style.visibility</p:attrName>
                                        </p:attrNameLst>
                                      </p:cBhvr>
                                      <p:to>
                                        <p:strVal val="visible"/>
                                      </p:to>
                                    </p:set>
                                    <p:animEffect transition="in" filter="fade">
                                      <p:cBhvr additive="repl">
                                        <p:cTn id="21" dur="500"/>
                                        <p:tgtEl>
                                          <p:spTgt spid="527"/>
                                        </p:tgtEl>
                                      </p:cBhvr>
                                    </p:animEffect>
                                  </p:childTnLst>
                                </p:cTn>
                              </p:par>
                              <p:par>
                                <p:cTn id="22" presetID="10" presetClass="entr" fill="hold" nodeType="withEffect">
                                  <p:stCondLst>
                                    <p:cond delay="0"/>
                                  </p:stCondLst>
                                  <p:childTnLst>
                                    <p:set>
                                      <p:cBhvr>
                                        <p:cTn id="23" dur="1" fill="hold">
                                          <p:stCondLst>
                                            <p:cond delay="0"/>
                                          </p:stCondLst>
                                        </p:cTn>
                                        <p:tgtEl>
                                          <p:spTgt spid="528"/>
                                        </p:tgtEl>
                                        <p:attrNameLst>
                                          <p:attrName>style.visibility</p:attrName>
                                        </p:attrNameLst>
                                      </p:cBhvr>
                                      <p:to>
                                        <p:strVal val="visible"/>
                                      </p:to>
                                    </p:set>
                                    <p:animEffect transition="in" filter="fade">
                                      <p:cBhvr additive="repl">
                                        <p:cTn id="24" dur="500"/>
                                        <p:tgtEl>
                                          <p:spTgt spid="52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fill="hold" nodeType="clickEffect">
                                  <p:stCondLst>
                                    <p:cond delay="0"/>
                                  </p:stCondLst>
                                  <p:childTnLst>
                                    <p:set>
                                      <p:cBhvr>
                                        <p:cTn id="28" dur="1" fill="hold">
                                          <p:stCondLst>
                                            <p:cond delay="0"/>
                                          </p:stCondLst>
                                        </p:cTn>
                                        <p:tgtEl>
                                          <p:spTgt spid="529"/>
                                        </p:tgtEl>
                                        <p:attrNameLst>
                                          <p:attrName>style.visibility</p:attrName>
                                        </p:attrNameLst>
                                      </p:cBhvr>
                                      <p:to>
                                        <p:strVal val="visible"/>
                                      </p:to>
                                    </p:set>
                                    <p:animEffect transition="in" filter="fade">
                                      <p:cBhvr additive="repl">
                                        <p:cTn id="29" dur="500"/>
                                        <p:tgtEl>
                                          <p:spTgt spid="5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 name="PlaceHolder 2"/>
          <p:cNvSpPr>
            <a:spLocks noGrp="1"/>
          </p:cNvSpPr>
          <p:nvPr>
            <p:ph/>
          </p:nvPr>
        </p:nvSpPr>
        <p:spPr>
          <a:xfrm>
            <a:off x="394920" y="286920"/>
            <a:ext cx="3901680" cy="215280"/>
          </a:xfrm>
          <a:prstGeom prst="rect">
            <a:avLst/>
          </a:prstGeom>
          <a:noFill/>
          <a:ln w="0">
            <a:noFill/>
          </a:ln>
        </p:spPr>
        <p:txBody>
          <a:bodyPr lIns="0" tIns="45720" rIns="91440" bIns="45720" anchor="t">
            <a:noAutofit/>
          </a:bodyPr>
          <a:lstStyle/>
          <a:p>
            <a:pPr indent="0" defTabSz="914400">
              <a:lnSpc>
                <a:spcPct val="90000"/>
              </a:lnSpc>
              <a:spcBef>
                <a:spcPts val="1001"/>
              </a:spcBef>
              <a:buNone/>
              <a:tabLst>
                <a:tab pos="0" algn="l"/>
              </a:tabLst>
            </a:pPr>
            <a:r>
              <a:rPr lang="en-US" sz="900" b="0" strike="noStrike" cap="all" spc="296">
                <a:solidFill>
                  <a:schemeClr val="accent1"/>
                </a:solidFill>
                <a:latin typeface="Avenir Next LT Pro"/>
                <a:ea typeface="Avenir Next"/>
              </a:rPr>
              <a:t>02 · Descripción de la solución</a:t>
            </a:r>
            <a:endParaRPr lang="es-AR" sz="900" b="0" strike="noStrike" spc="-1">
              <a:solidFill>
                <a:srgbClr val="000000"/>
              </a:solidFill>
              <a:latin typeface="Arial"/>
            </a:endParaRPr>
          </a:p>
        </p:txBody>
      </p:sp>
      <p:sp>
        <p:nvSpPr>
          <p:cNvPr id="531" name="PlaceHolder 1"/>
          <p:cNvSpPr>
            <a:spLocks noGrp="1"/>
          </p:cNvSpPr>
          <p:nvPr>
            <p:ph type="title"/>
          </p:nvPr>
        </p:nvSpPr>
        <p:spPr>
          <a:xfrm>
            <a:off x="374760" y="502920"/>
            <a:ext cx="10514880" cy="1026360"/>
          </a:xfrm>
          <a:prstGeom prst="rect">
            <a:avLst/>
          </a:prstGeom>
          <a:noFill/>
          <a:ln w="0">
            <a:noFill/>
          </a:ln>
        </p:spPr>
        <p:txBody>
          <a:bodyPr lIns="0" tIns="45720" rIns="91440" bIns="45720" anchor="t">
            <a:noAutofit/>
          </a:bodyPr>
          <a:lstStyle/>
          <a:p>
            <a:pPr indent="0" defTabSz="914400">
              <a:lnSpc>
                <a:spcPct val="90000"/>
              </a:lnSpc>
              <a:buNone/>
              <a:tabLst>
                <a:tab pos="0" algn="l"/>
              </a:tabLst>
            </a:pPr>
            <a:r>
              <a:rPr lang="en-US" sz="2400" b="0" strike="noStrike" spc="66">
                <a:solidFill>
                  <a:schemeClr val="dk1"/>
                </a:solidFill>
                <a:latin typeface="Avenir Next LT Pro"/>
                <a:ea typeface="Avenir Next"/>
              </a:rPr>
              <a:t>SHAP: qué explica el riesgo de abandono</a:t>
            </a:r>
            <a:endParaRPr lang="es-AR" sz="2400" b="0" strike="noStrike" spc="-1">
              <a:solidFill>
                <a:srgbClr val="000000"/>
              </a:solidFill>
              <a:latin typeface="Arial"/>
            </a:endParaRPr>
          </a:p>
        </p:txBody>
      </p:sp>
      <p:sp>
        <p:nvSpPr>
          <p:cNvPr id="3" name="subtitle">
            <a:extLst>
              <a:ext uri="{FF2B5EF4-FFF2-40B4-BE49-F238E27FC236}">
                <a16:creationId xmlns:a16="http://schemas.microsoft.com/office/drawing/2014/main" id="{8189832C-0433-4C0A-8C8B-A31CD69CD269}"/>
              </a:ext>
            </a:extLst>
          </p:cNvPr>
          <p:cNvSpPr>
            <a:spLocks noGrp="1"/>
          </p:cNvSpPr>
          <p:nvPr/>
        </p:nvSpPr>
        <p:spPr>
          <a:xfrm>
            <a:off x="374714" y="1333500"/>
            <a:ext cx="11334750" cy="323850"/>
          </a:xfrm>
          <a:prstGeom prst="rect">
            <a:avLst/>
          </a:prstGeom>
          <a:noFill/>
          <a:ln w="0">
            <a:noFill/>
          </a:ln>
        </p:spPr>
        <p:txBody>
          <a:bodyPr lIns="0" tIns="0" rIns="0" bIns="0">
            <a:noAutofit/>
          </a:bodyPr>
          <a:lstStyle/>
          <a:p>
            <a:pPr>
              <a:defRPr sz="1600" b="0">
                <a:solidFill>
                  <a:srgbClr val="7F7F7F"/>
                </a:solidFill>
                <a:latin typeface="Avenir Next LT Pro"/>
                <a:ea typeface="Avenir Next LT Pro"/>
                <a:cs typeface="Avenir Next LT Pro"/>
              </a:defRPr>
            </a:pPr>
            <a:r>
              <a:rPr sz="1600" b="0">
                <a:solidFill>
                  <a:srgbClr val="7F7F7F"/>
                </a:solidFill>
                <a:latin typeface="Avenir Next LT Pro"/>
                <a:ea typeface="Avenir Next LT Pro"/>
                <a:cs typeface="Avenir Next LT Pro"/>
              </a:rPr>
              <a:t>Cada aporte explica una parte de la predicción del modelo.</a:t>
            </a:r>
          </a:p>
        </p:txBody>
      </p:sp>
      <p:sp>
        <p:nvSpPr>
          <p:cNvPr id="4" name="global-title">
            <a:extLst>
              <a:ext uri="{FF2B5EF4-FFF2-40B4-BE49-F238E27FC236}">
                <a16:creationId xmlns:a16="http://schemas.microsoft.com/office/drawing/2014/main" id="{42A525BF-BF9C-4FA9-AC80-B781CFAA39AA}"/>
              </a:ext>
            </a:extLst>
          </p:cNvPr>
          <p:cNvSpPr>
            <a:spLocks noGrp="1"/>
          </p:cNvSpPr>
          <p:nvPr/>
        </p:nvSpPr>
        <p:spPr>
          <a:xfrm>
            <a:off x="374714" y="1943100"/>
            <a:ext cx="6953250" cy="400050"/>
          </a:xfrm>
          <a:prstGeom prst="rect">
            <a:avLst/>
          </a:prstGeom>
          <a:noFill/>
          <a:ln w="0">
            <a:noFill/>
          </a:ln>
        </p:spPr>
        <p:txBody>
          <a:bodyPr lIns="0" tIns="0" rIns="0" bIns="0">
            <a:noAutofit/>
          </a:bodyPr>
          <a:lstStyle/>
          <a:p>
            <a:pPr>
              <a:defRPr sz="1900" b="1">
                <a:solidFill>
                  <a:srgbClr val="00095B"/>
                </a:solidFill>
                <a:latin typeface="Avenir Next LT Pro"/>
                <a:ea typeface="Avenir Next LT Pro"/>
                <a:cs typeface="Avenir Next LT Pro"/>
              </a:defRPr>
            </a:pPr>
            <a:r>
              <a:rPr sz="1900" b="1">
                <a:solidFill>
                  <a:srgbClr val="00095B"/>
                </a:solidFill>
                <a:latin typeface="Avenir Next LT Pro"/>
                <a:ea typeface="Avenir Next LT Pro"/>
                <a:cs typeface="Avenir Next LT Pro"/>
              </a:rPr>
              <a:t>Factores con mayor peso global</a:t>
            </a:r>
          </a:p>
        </p:txBody>
      </p:sp>
      <p:sp>
        <p:nvSpPr>
          <p:cNvPr id="5" name="local-title">
            <a:extLst>
              <a:ext uri="{FF2B5EF4-FFF2-40B4-BE49-F238E27FC236}">
                <a16:creationId xmlns:a16="http://schemas.microsoft.com/office/drawing/2014/main" id="{E8996007-5A84-42A6-B75D-BD30BA3C6CCF}"/>
              </a:ext>
            </a:extLst>
          </p:cNvPr>
          <p:cNvSpPr>
            <a:spLocks noGrp="1"/>
          </p:cNvSpPr>
          <p:nvPr/>
        </p:nvSpPr>
        <p:spPr>
          <a:xfrm>
            <a:off x="7734300" y="1943100"/>
            <a:ext cx="4000500" cy="400050"/>
          </a:xfrm>
          <a:prstGeom prst="rect">
            <a:avLst/>
          </a:prstGeom>
          <a:noFill/>
          <a:ln w="0">
            <a:noFill/>
          </a:ln>
        </p:spPr>
        <p:txBody>
          <a:bodyPr lIns="0" tIns="0" rIns="0" bIns="0">
            <a:noAutofit/>
          </a:bodyPr>
          <a:lstStyle/>
          <a:p>
            <a:pPr>
              <a:defRPr sz="1900" b="1">
                <a:solidFill>
                  <a:srgbClr val="00095B"/>
                </a:solidFill>
                <a:latin typeface="Avenir Next LT Pro"/>
                <a:ea typeface="Avenir Next LT Pro"/>
                <a:cs typeface="Avenir Next LT Pro"/>
              </a:defRPr>
            </a:pPr>
            <a:r>
              <a:rPr sz="1900" b="1">
                <a:solidFill>
                  <a:srgbClr val="00095B"/>
                </a:solidFill>
                <a:latin typeface="Avenir Next LT Pro"/>
                <a:ea typeface="Avenir Next LT Pro"/>
                <a:cs typeface="Avenir Next LT Pro"/>
              </a:rPr>
              <a:t>En cada vehículo</a:t>
            </a:r>
          </a:p>
        </p:txBody>
      </p:sp>
      <p:sp>
        <p:nvSpPr>
          <p:cNvPr id="6" name="local-signs">
            <a:extLst>
              <a:ext uri="{FF2B5EF4-FFF2-40B4-BE49-F238E27FC236}">
                <a16:creationId xmlns:a16="http://schemas.microsoft.com/office/drawing/2014/main" id="{DA2C7E8D-8F44-4B80-8E24-C965ADDF2669}"/>
              </a:ext>
            </a:extLst>
          </p:cNvPr>
          <p:cNvSpPr>
            <a:spLocks noGrp="1"/>
          </p:cNvSpPr>
          <p:nvPr/>
        </p:nvSpPr>
        <p:spPr>
          <a:xfrm>
            <a:off x="7734300" y="2638425"/>
            <a:ext cx="4000500" cy="1143000"/>
          </a:xfrm>
          <a:prstGeom prst="rect">
            <a:avLst/>
          </a:prstGeom>
          <a:noFill/>
          <a:ln w="0">
            <a:noFill/>
          </a:ln>
        </p:spPr>
        <p:txBody>
          <a:bodyPr lIns="0" tIns="0" rIns="0" bIns="0">
            <a:noAutofit/>
          </a:bodyPr>
          <a:lstStyle/>
          <a:p>
            <a:pPr>
              <a:defRPr sz="1700" b="0">
                <a:solidFill>
                  <a:srgbClr val="00095B"/>
                </a:solidFill>
                <a:latin typeface="Avenir Next LT Pro"/>
                <a:ea typeface="Avenir Next LT Pro"/>
                <a:cs typeface="Avenir Next LT Pro"/>
              </a:defRPr>
            </a:pPr>
            <a:r>
              <a:rPr sz="1700" b="0">
                <a:solidFill>
                  <a:srgbClr val="00095B"/>
                </a:solidFill>
                <a:latin typeface="Avenir Next LT Pro"/>
                <a:ea typeface="Avenir Next LT Pro"/>
                <a:cs typeface="Avenir Next LT Pro"/>
              </a:rPr>
              <a:t>Un aporte positivo aumenta</a:t>
            </a:r>
          </a:p>
          <a:p>
            <a:pPr>
              <a:defRPr sz="1700" b="0">
                <a:solidFill>
                  <a:srgbClr val="00095B"/>
                </a:solidFill>
                <a:latin typeface="Avenir Next LT Pro"/>
                <a:ea typeface="Avenir Next LT Pro"/>
                <a:cs typeface="Avenir Next LT Pro"/>
              </a:defRPr>
            </a:pPr>
            <a:r>
              <a:rPr sz="1700" b="0">
                <a:solidFill>
                  <a:srgbClr val="00095B"/>
                </a:solidFill>
                <a:latin typeface="Avenir Next LT Pro"/>
                <a:ea typeface="Avenir Next LT Pro"/>
                <a:cs typeface="Avenir Next LT Pro"/>
              </a:rPr>
              <a:t>el score de abandono.</a:t>
            </a:r>
          </a:p>
          <a:p>
            <a:pPr>
              <a:defRPr sz="1700" b="0">
                <a:solidFill>
                  <a:srgbClr val="00095B"/>
                </a:solidFill>
                <a:latin typeface="Avenir Next LT Pro"/>
                <a:ea typeface="Avenir Next LT Pro"/>
                <a:cs typeface="Avenir Next LT Pro"/>
              </a:defRPr>
            </a:pPr>
            <a:r>
              <a:rPr sz="1700" b="0">
                <a:solidFill>
                  <a:srgbClr val="00095B"/>
                </a:solidFill>
                <a:latin typeface="Avenir Next LT Pro"/>
                <a:ea typeface="Avenir Next LT Pro"/>
                <a:cs typeface="Avenir Next LT Pro"/>
              </a:rPr>
              <a:t>Un aporte negativo lo reduce.</a:t>
            </a:r>
          </a:p>
        </p:txBody>
      </p:sp>
      <p:sp>
        <p:nvSpPr>
          <p:cNvPr id="7" name="local-reasons">
            <a:extLst>
              <a:ext uri="{FF2B5EF4-FFF2-40B4-BE49-F238E27FC236}">
                <a16:creationId xmlns:a16="http://schemas.microsoft.com/office/drawing/2014/main" id="{70EE314A-1227-438B-AD49-30944080B4A0}"/>
              </a:ext>
            </a:extLst>
          </p:cNvPr>
          <p:cNvSpPr>
            <a:spLocks noGrp="1"/>
          </p:cNvSpPr>
          <p:nvPr/>
        </p:nvSpPr>
        <p:spPr>
          <a:xfrm>
            <a:off x="7734300" y="4152900"/>
            <a:ext cx="4000500" cy="952500"/>
          </a:xfrm>
          <a:prstGeom prst="rect">
            <a:avLst/>
          </a:prstGeom>
          <a:noFill/>
          <a:ln w="0">
            <a:noFill/>
          </a:ln>
        </p:spPr>
        <p:txBody>
          <a:bodyPr lIns="0" tIns="0" rIns="0" bIns="0">
            <a:noAutofit/>
          </a:bodyPr>
          <a:lstStyle/>
          <a:p>
            <a:pPr>
              <a:defRPr sz="1700" b="0">
                <a:solidFill>
                  <a:srgbClr val="00095B"/>
                </a:solidFill>
                <a:latin typeface="Avenir Next LT Pro"/>
                <a:ea typeface="Avenir Next LT Pro"/>
                <a:cs typeface="Avenir Next LT Pro"/>
              </a:defRPr>
            </a:pPr>
            <a:r>
              <a:rPr sz="1700" b="0" dirty="0">
                <a:solidFill>
                  <a:srgbClr val="00095B"/>
                </a:solidFill>
                <a:latin typeface="Avenir Next LT Pro"/>
                <a:ea typeface="Avenir Next LT Pro"/>
                <a:cs typeface="Avenir Next LT Pro"/>
              </a:rPr>
              <a:t>La </a:t>
            </a:r>
            <a:r>
              <a:rPr sz="1700" b="0" dirty="0" err="1">
                <a:solidFill>
                  <a:srgbClr val="00095B"/>
                </a:solidFill>
                <a:latin typeface="Avenir Next LT Pro"/>
                <a:ea typeface="Avenir Next LT Pro"/>
                <a:cs typeface="Avenir Next LT Pro"/>
              </a:rPr>
              <a:t>lista</a:t>
            </a:r>
            <a:r>
              <a:rPr sz="1700" b="0" dirty="0">
                <a:solidFill>
                  <a:srgbClr val="00095B"/>
                </a:solidFill>
                <a:latin typeface="Avenir Next LT Pro"/>
                <a:ea typeface="Avenir Next LT Pro"/>
                <a:cs typeface="Avenir Next LT Pro"/>
              </a:rPr>
              <a:t> </a:t>
            </a:r>
            <a:r>
              <a:rPr sz="1700" b="0" dirty="0" err="1">
                <a:solidFill>
                  <a:srgbClr val="00095B"/>
                </a:solidFill>
                <a:latin typeface="Avenir Next LT Pro"/>
                <a:ea typeface="Avenir Next LT Pro"/>
                <a:cs typeface="Avenir Next LT Pro"/>
              </a:rPr>
              <a:t>muestra</a:t>
            </a:r>
            <a:r>
              <a:rPr sz="1700" b="0" dirty="0">
                <a:solidFill>
                  <a:srgbClr val="00095B"/>
                </a:solidFill>
                <a:latin typeface="Avenir Next LT Pro"/>
                <a:ea typeface="Avenir Next LT Pro"/>
                <a:cs typeface="Avenir Next LT Pro"/>
              </a:rPr>
              <a:t> </a:t>
            </a:r>
            <a:r>
              <a:rPr sz="1700" b="0" dirty="0" err="1">
                <a:solidFill>
                  <a:srgbClr val="00095B"/>
                </a:solidFill>
                <a:latin typeface="Avenir Next LT Pro"/>
                <a:ea typeface="Avenir Next LT Pro"/>
                <a:cs typeface="Avenir Next LT Pro"/>
              </a:rPr>
              <a:t>los</a:t>
            </a:r>
            <a:r>
              <a:rPr sz="1700" b="0" dirty="0">
                <a:solidFill>
                  <a:srgbClr val="00095B"/>
                </a:solidFill>
                <a:latin typeface="Avenir Next LT Pro"/>
                <a:ea typeface="Avenir Next LT Pro"/>
                <a:cs typeface="Avenir Next LT Pro"/>
              </a:rPr>
              <a:t> 3 </a:t>
            </a:r>
            <a:r>
              <a:rPr sz="1700" b="0" dirty="0" err="1">
                <a:solidFill>
                  <a:srgbClr val="00095B"/>
                </a:solidFill>
                <a:latin typeface="Avenir Next LT Pro"/>
                <a:ea typeface="Avenir Next LT Pro"/>
                <a:cs typeface="Avenir Next LT Pro"/>
              </a:rPr>
              <a:t>motivos</a:t>
            </a:r>
            <a:endParaRPr sz="1700" b="0" dirty="0">
              <a:solidFill>
                <a:srgbClr val="00095B"/>
              </a:solidFill>
              <a:latin typeface="Avenir Next LT Pro"/>
              <a:ea typeface="Avenir Next LT Pro"/>
              <a:cs typeface="Avenir Next LT Pro"/>
            </a:endParaRPr>
          </a:p>
          <a:p>
            <a:pPr>
              <a:defRPr sz="1700" b="0">
                <a:solidFill>
                  <a:srgbClr val="00095B"/>
                </a:solidFill>
                <a:latin typeface="Avenir Next LT Pro"/>
                <a:ea typeface="Avenir Next LT Pro"/>
                <a:cs typeface="Avenir Next LT Pro"/>
              </a:defRPr>
            </a:pPr>
            <a:r>
              <a:rPr sz="1700" b="0" dirty="0">
                <a:solidFill>
                  <a:srgbClr val="00095B"/>
                </a:solidFill>
                <a:latin typeface="Avenir Next LT Pro"/>
                <a:ea typeface="Avenir Next LT Pro"/>
                <a:cs typeface="Avenir Next LT Pro"/>
              </a:rPr>
              <a:t>con mayor </a:t>
            </a:r>
            <a:r>
              <a:rPr sz="1700" b="0" dirty="0" err="1">
                <a:solidFill>
                  <a:srgbClr val="00095B"/>
                </a:solidFill>
                <a:latin typeface="Avenir Next LT Pro"/>
                <a:ea typeface="Avenir Next LT Pro"/>
                <a:cs typeface="Avenir Next LT Pro"/>
              </a:rPr>
              <a:t>aporte</a:t>
            </a:r>
            <a:r>
              <a:rPr sz="1700" b="0" dirty="0">
                <a:solidFill>
                  <a:srgbClr val="00095B"/>
                </a:solidFill>
                <a:latin typeface="Avenir Next LT Pro"/>
                <a:ea typeface="Avenir Next LT Pro"/>
                <a:cs typeface="Avenir Next LT Pro"/>
              </a:rPr>
              <a:t> </a:t>
            </a:r>
            <a:r>
              <a:rPr sz="1700" b="0" dirty="0" err="1">
                <a:solidFill>
                  <a:srgbClr val="00095B"/>
                </a:solidFill>
                <a:latin typeface="Avenir Next LT Pro"/>
                <a:ea typeface="Avenir Next LT Pro"/>
                <a:cs typeface="Avenir Next LT Pro"/>
              </a:rPr>
              <a:t>en</a:t>
            </a:r>
            <a:r>
              <a:rPr sz="1700" b="0" dirty="0">
                <a:solidFill>
                  <a:srgbClr val="00095B"/>
                </a:solidFill>
                <a:latin typeface="Avenir Next LT Pro"/>
                <a:ea typeface="Avenir Next LT Pro"/>
                <a:cs typeface="Avenir Next LT Pro"/>
              </a:rPr>
              <a:t> </a:t>
            </a:r>
            <a:r>
              <a:rPr sz="1700" b="0" dirty="0" err="1">
                <a:solidFill>
                  <a:srgbClr val="00095B"/>
                </a:solidFill>
                <a:latin typeface="Avenir Next LT Pro"/>
                <a:ea typeface="Avenir Next LT Pro"/>
                <a:cs typeface="Avenir Next LT Pro"/>
              </a:rPr>
              <a:t>magnitud</a:t>
            </a:r>
            <a:endParaRPr sz="1700" b="0" dirty="0">
              <a:solidFill>
                <a:srgbClr val="00095B"/>
              </a:solidFill>
              <a:latin typeface="Avenir Next LT Pro"/>
              <a:ea typeface="Avenir Next LT Pro"/>
              <a:cs typeface="Avenir Next LT Pro"/>
            </a:endParaRPr>
          </a:p>
          <a:p>
            <a:pPr>
              <a:defRPr sz="1700" b="0">
                <a:solidFill>
                  <a:srgbClr val="00095B"/>
                </a:solidFill>
                <a:latin typeface="Avenir Next LT Pro"/>
                <a:ea typeface="Avenir Next LT Pro"/>
                <a:cs typeface="Avenir Next LT Pro"/>
              </a:defRPr>
            </a:pPr>
            <a:r>
              <a:rPr sz="1700" b="0" dirty="0">
                <a:solidFill>
                  <a:srgbClr val="00095B"/>
                </a:solidFill>
                <a:latin typeface="Avenir Next LT Pro"/>
                <a:ea typeface="Avenir Next LT Pro"/>
                <a:cs typeface="Avenir Next LT Pro"/>
              </a:rPr>
              <a:t>para ese </a:t>
            </a:r>
            <a:r>
              <a:rPr sz="1700" b="0" dirty="0" err="1">
                <a:solidFill>
                  <a:srgbClr val="00095B"/>
                </a:solidFill>
                <a:latin typeface="Avenir Next LT Pro"/>
                <a:ea typeface="Avenir Next LT Pro"/>
                <a:cs typeface="Avenir Next LT Pro"/>
              </a:rPr>
              <a:t>caso</a:t>
            </a:r>
            <a:r>
              <a:rPr sz="1700" b="0" dirty="0">
                <a:solidFill>
                  <a:srgbClr val="00095B"/>
                </a:solidFill>
                <a:latin typeface="Avenir Next LT Pro"/>
                <a:ea typeface="Avenir Next LT Pro"/>
                <a:cs typeface="Avenir Next LT Pro"/>
              </a:rPr>
              <a:t>.</a:t>
            </a:r>
          </a:p>
        </p:txBody>
      </p:sp>
      <p:sp>
        <p:nvSpPr>
          <p:cNvPr id="554"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Teodoro Samaan Piroli</a:t>
            </a:r>
            <a:endParaRPr lang="es-AR" sz="1000" b="0" strike="noStrike" spc="-1">
              <a:solidFill>
                <a:srgbClr val="000000"/>
              </a:solidFill>
              <a:latin typeface="Arial"/>
            </a:endParaRPr>
          </a:p>
        </p:txBody>
      </p:sp>
      <p:sp>
        <p:nvSpPr>
          <p:cNvPr id="533" name="PlaceHolder 3"/>
          <p:cNvSpPr>
            <a:spLocks noGrp="1"/>
          </p:cNvSpPr>
          <p:nvPr>
            <p:ph type="sldNum" idx="65"/>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CA770CE3-AD44-4D98-BC94-08A965DAAC2D}" type="slidenum">
              <a:rPr lang="en-US" sz="800" b="0" strike="noStrike" spc="-1">
                <a:solidFill>
                  <a:schemeClr val="dk1"/>
                </a:solidFill>
                <a:latin typeface="Avenir Next LT Pro"/>
                <a:ea typeface="Avenir Next"/>
              </a:rPr>
              <a:t>13</a:t>
            </a:fld>
            <a:endParaRPr lang="es-AR" sz="800" b="0" strike="noStrike" spc="-1">
              <a:solidFill>
                <a:srgbClr val="000000"/>
              </a:solidFill>
              <a:latin typeface="Times New Roman"/>
            </a:endParaRPr>
          </a:p>
        </p:txBody>
      </p:sp>
      <p:graphicFrame>
        <p:nvGraphicFramePr>
          <p:cNvPr id="23" name="Chart"/>
          <p:cNvGraphicFramePr/>
          <p:nvPr/>
        </p:nvGraphicFramePr>
        <p:xfrm>
          <a:off x="374714" y="2514600"/>
          <a:ext cx="6858000" cy="2876550"/>
        </p:xfrm>
        <a:graphic>
          <a:graphicData uri="http://schemas.openxmlformats.org/drawingml/2006/chart">
            <c:chart xmlns:c="http://schemas.openxmlformats.org/drawingml/2006/chart" xmlns:r="http://schemas.openxmlformats.org/officeDocument/2006/relationships" r:id="rId3"/>
          </a:graphicData>
        </a:graphic>
      </p:graphicFrame>
      <p:sp>
        <p:nvSpPr>
          <p:cNvPr id="12" name="chart-caption">
            <a:extLst>
              <a:ext uri="{FF2B5EF4-FFF2-40B4-BE49-F238E27FC236}">
                <a16:creationId xmlns:a16="http://schemas.microsoft.com/office/drawing/2014/main" id="{EFE67B6B-F2D9-4D28-B7B7-D6451A8789F0}"/>
              </a:ext>
            </a:extLst>
          </p:cNvPr>
          <p:cNvSpPr>
            <a:spLocks noGrp="1"/>
          </p:cNvSpPr>
          <p:nvPr/>
        </p:nvSpPr>
        <p:spPr>
          <a:xfrm>
            <a:off x="374714" y="5698935"/>
            <a:ext cx="6858000" cy="266700"/>
          </a:xfrm>
          <a:prstGeom prst="rect">
            <a:avLst/>
          </a:prstGeom>
          <a:noFill/>
          <a:ln w="0">
            <a:noFill/>
          </a:ln>
        </p:spPr>
        <p:txBody>
          <a:bodyPr lIns="0" tIns="0" rIns="0" bIns="0">
            <a:noAutofit/>
          </a:bodyPr>
          <a:lstStyle/>
          <a:p>
            <a:pPr>
              <a:defRPr sz="1200" b="0">
                <a:solidFill>
                  <a:srgbClr val="7F7F7F"/>
                </a:solidFill>
                <a:latin typeface="Avenir Next LT Pro"/>
                <a:ea typeface="Avenir Next LT Pro"/>
                <a:cs typeface="Avenir Next LT Pro"/>
              </a:defRPr>
            </a:pPr>
            <a:r>
              <a:rPr sz="1200" b="0" dirty="0" err="1">
                <a:solidFill>
                  <a:srgbClr val="7F7F7F"/>
                </a:solidFill>
                <a:latin typeface="Avenir Next LT Pro"/>
                <a:ea typeface="Avenir Next LT Pro"/>
                <a:cs typeface="Avenir Next LT Pro"/>
              </a:rPr>
              <a:t>Promedio</a:t>
            </a:r>
            <a:r>
              <a:rPr sz="1200" b="0" dirty="0">
                <a:solidFill>
                  <a:srgbClr val="7F7F7F"/>
                </a:solidFill>
                <a:latin typeface="Avenir Next LT Pro"/>
                <a:ea typeface="Avenir Next LT Pro"/>
                <a:cs typeface="Avenir Next LT Pro"/>
              </a:rPr>
              <a:t> de |SHAP| </a:t>
            </a:r>
            <a:r>
              <a:rPr sz="1200" b="0" dirty="0" err="1">
                <a:solidFill>
                  <a:srgbClr val="7F7F7F"/>
                </a:solidFill>
                <a:latin typeface="Avenir Next LT Pro"/>
                <a:ea typeface="Avenir Next LT Pro"/>
                <a:cs typeface="Avenir Next LT Pro"/>
              </a:rPr>
              <a:t>en</a:t>
            </a:r>
            <a:r>
              <a:rPr sz="1200" b="0" dirty="0">
                <a:solidFill>
                  <a:srgbClr val="7F7F7F"/>
                </a:solidFill>
                <a:latin typeface="Avenir Next LT Pro"/>
                <a:ea typeface="Avenir Next LT Pro"/>
                <a:cs typeface="Avenir Next LT Pro"/>
              </a:rPr>
              <a:t> </a:t>
            </a:r>
            <a:r>
              <a:rPr sz="1200" b="0" dirty="0" err="1">
                <a:solidFill>
                  <a:srgbClr val="7F7F7F"/>
                </a:solidFill>
                <a:latin typeface="Avenir Next LT Pro"/>
                <a:ea typeface="Avenir Next LT Pro"/>
                <a:cs typeface="Avenir Next LT Pro"/>
              </a:rPr>
              <a:t>una</a:t>
            </a:r>
            <a:r>
              <a:rPr sz="1200" b="0" dirty="0">
                <a:solidFill>
                  <a:srgbClr val="7F7F7F"/>
                </a:solidFill>
                <a:latin typeface="Avenir Next LT Pro"/>
                <a:ea typeface="Avenir Next LT Pro"/>
                <a:cs typeface="Avenir Next LT Pro"/>
              </a:rPr>
              <a:t> </a:t>
            </a:r>
            <a:r>
              <a:rPr sz="1200" b="0" dirty="0" err="1">
                <a:solidFill>
                  <a:srgbClr val="7F7F7F"/>
                </a:solidFill>
                <a:latin typeface="Avenir Next LT Pro"/>
                <a:ea typeface="Avenir Next LT Pro"/>
                <a:cs typeface="Avenir Next LT Pro"/>
              </a:rPr>
              <a:t>muestra</a:t>
            </a:r>
            <a:r>
              <a:rPr sz="1200" b="0" dirty="0">
                <a:solidFill>
                  <a:srgbClr val="7F7F7F"/>
                </a:solidFill>
                <a:latin typeface="Avenir Next LT Pro"/>
                <a:ea typeface="Avenir Next LT Pro"/>
                <a:cs typeface="Avenir Next LT Pro"/>
              </a:rPr>
              <a:t> de 8.000 </a:t>
            </a:r>
            <a:r>
              <a:rPr sz="1200" b="0" dirty="0" err="1">
                <a:solidFill>
                  <a:srgbClr val="7F7F7F"/>
                </a:solidFill>
                <a:latin typeface="Avenir Next LT Pro"/>
                <a:ea typeface="Avenir Next LT Pro"/>
                <a:cs typeface="Avenir Next LT Pro"/>
              </a:rPr>
              <a:t>ventanas</a:t>
            </a:r>
            <a:endParaRPr sz="1200" b="0" dirty="0">
              <a:solidFill>
                <a:srgbClr val="7F7F7F"/>
              </a:solidFill>
              <a:latin typeface="Avenir Next LT Pro"/>
              <a:ea typeface="Avenir Next LT Pro"/>
              <a:cs typeface="Avenir Next LT Pro"/>
            </a:endParaRPr>
          </a:p>
        </p:txBody>
      </p:sp>
    </p:spTree>
    <p:extLst>
      <p:ext uri="{BB962C8B-B14F-4D97-AF65-F5344CB8AC3E}">
        <p14:creationId xmlns:p14="http://schemas.microsoft.com/office/powerpoint/2010/main" val="946305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 name="PlaceHolder 1"/>
          <p:cNvSpPr>
            <a:spLocks noGrp="1"/>
          </p:cNvSpPr>
          <p:nvPr>
            <p:ph type="title"/>
          </p:nvPr>
        </p:nvSpPr>
        <p:spPr>
          <a:xfrm>
            <a:off x="374760" y="502920"/>
            <a:ext cx="10514880" cy="1026360"/>
          </a:xfrm>
          <a:prstGeom prst="rect">
            <a:avLst/>
          </a:prstGeom>
          <a:noFill/>
          <a:ln w="0">
            <a:noFill/>
          </a:ln>
        </p:spPr>
        <p:txBody>
          <a:bodyPr lIns="0" tIns="45720" rIns="91440" bIns="45720" anchor="t">
            <a:noAutofit/>
          </a:bodyPr>
          <a:lstStyle/>
          <a:p>
            <a:pPr indent="0" defTabSz="914400">
              <a:lnSpc>
                <a:spcPct val="90000"/>
              </a:lnSpc>
              <a:buNone/>
              <a:tabLst>
                <a:tab pos="0" algn="l"/>
              </a:tabLst>
            </a:pPr>
            <a:r>
              <a:rPr lang="en-US" sz="2400" b="0" strike="noStrike" spc="66">
                <a:solidFill>
                  <a:schemeClr val="dk1"/>
                </a:solidFill>
                <a:latin typeface="Avenir Next LT Pro"/>
                <a:ea typeface="Avenir Next"/>
              </a:rPr>
              <a:t>Detrás de cada caso, una historia</a:t>
            </a:r>
            <a:endParaRPr lang="es-AR" sz="2400" b="0" strike="noStrike" spc="-1">
              <a:solidFill>
                <a:srgbClr val="000000"/>
              </a:solidFill>
              <a:latin typeface="Arial"/>
            </a:endParaRPr>
          </a:p>
        </p:txBody>
      </p:sp>
      <p:sp>
        <p:nvSpPr>
          <p:cNvPr id="532" name="PlaceHolder 2"/>
          <p:cNvSpPr>
            <a:spLocks noGrp="1"/>
          </p:cNvSpPr>
          <p:nvPr>
            <p:ph/>
          </p:nvPr>
        </p:nvSpPr>
        <p:spPr>
          <a:xfrm>
            <a:off x="394920" y="286920"/>
            <a:ext cx="3901680" cy="215280"/>
          </a:xfrm>
          <a:prstGeom prst="rect">
            <a:avLst/>
          </a:prstGeom>
          <a:noFill/>
          <a:ln w="0">
            <a:noFill/>
          </a:ln>
        </p:spPr>
        <p:txBody>
          <a:bodyPr lIns="0" tIns="45720" rIns="91440" bIns="45720" anchor="t">
            <a:noAutofit/>
          </a:bodyPr>
          <a:lstStyle/>
          <a:p>
            <a:pPr indent="0" defTabSz="914400">
              <a:lnSpc>
                <a:spcPct val="90000"/>
              </a:lnSpc>
              <a:spcBef>
                <a:spcPts val="1001"/>
              </a:spcBef>
              <a:buNone/>
              <a:tabLst>
                <a:tab pos="0" algn="l"/>
              </a:tabLst>
            </a:pPr>
            <a:r>
              <a:rPr lang="en-US" sz="900" b="0" strike="noStrike" cap="all" spc="296">
                <a:solidFill>
                  <a:schemeClr val="accent1"/>
                </a:solidFill>
                <a:latin typeface="Avenir Next LT Pro"/>
                <a:ea typeface="Avenir Next"/>
              </a:rPr>
              <a:t>02 · Descripción de la solución</a:t>
            </a:r>
            <a:endParaRPr lang="es-AR" sz="900" b="0" strike="noStrike" spc="-1">
              <a:solidFill>
                <a:srgbClr val="000000"/>
              </a:solidFill>
              <a:latin typeface="Arial"/>
            </a:endParaRPr>
          </a:p>
        </p:txBody>
      </p:sp>
      <p:sp>
        <p:nvSpPr>
          <p:cNvPr id="533" name="PlaceHolder 3"/>
          <p:cNvSpPr>
            <a:spLocks noGrp="1"/>
          </p:cNvSpPr>
          <p:nvPr>
            <p:ph type="sldNum" idx="65"/>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CA770CE3-AD44-4D98-BC94-08A965DAAC2D}" type="slidenum">
              <a:rPr lang="en-US" sz="800" b="0" strike="noStrike" spc="-1">
                <a:solidFill>
                  <a:schemeClr val="dk1"/>
                </a:solidFill>
                <a:latin typeface="Avenir Next LT Pro"/>
                <a:ea typeface="Avenir Next"/>
              </a:rPr>
              <a:t>14</a:t>
            </a:fld>
            <a:endParaRPr lang="es-AR" sz="800" b="0" strike="noStrike" spc="-1">
              <a:solidFill>
                <a:srgbClr val="000000"/>
              </a:solidFill>
              <a:latin typeface="Times New Roman"/>
            </a:endParaRPr>
          </a:p>
        </p:txBody>
      </p:sp>
      <p:sp>
        <p:nvSpPr>
          <p:cNvPr id="534" name="b1_fondo"/>
          <p:cNvSpPr/>
          <p:nvPr/>
        </p:nvSpPr>
        <p:spPr>
          <a:xfrm>
            <a:off x="374760" y="1463040"/>
            <a:ext cx="3565440" cy="3748320"/>
          </a:xfrm>
          <a:prstGeom prst="rect">
            <a:avLst/>
          </a:prstGeom>
          <a:solidFill>
            <a:srgbClr val="F3F3F3"/>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535" name="b1_label"/>
          <p:cNvSpPr/>
          <p:nvPr/>
        </p:nvSpPr>
        <p:spPr>
          <a:xfrm>
            <a:off x="649080" y="1737360"/>
            <a:ext cx="301680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00" b="0" strike="noStrike" spc="197">
                <a:solidFill>
                  <a:srgbClr val="1700F3"/>
                </a:solidFill>
                <a:latin typeface="Avenir Next LT Pro"/>
              </a:rPr>
              <a:t>ESTE ES EL CLIENTE</a:t>
            </a:r>
            <a:endParaRPr lang="es-AR" sz="1000" b="0" strike="noStrike" spc="-1">
              <a:solidFill>
                <a:srgbClr val="000000"/>
              </a:solidFill>
              <a:latin typeface="Arial"/>
            </a:endParaRPr>
          </a:p>
        </p:txBody>
      </p:sp>
      <p:sp>
        <p:nvSpPr>
          <p:cNvPr id="536" name="b1_auto"/>
          <p:cNvSpPr/>
          <p:nvPr/>
        </p:nvSpPr>
        <p:spPr>
          <a:xfrm>
            <a:off x="649080" y="2148840"/>
            <a:ext cx="3016800" cy="48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3200" b="0" strike="noStrike" spc="-1">
                <a:solidFill>
                  <a:srgbClr val="00095B"/>
                </a:solidFill>
                <a:latin typeface="Avenir Next LT Pro"/>
              </a:rPr>
              <a:t>Ranger 2019</a:t>
            </a:r>
            <a:endParaRPr lang="es-AR" sz="3200" b="0" strike="noStrike" spc="-1">
              <a:solidFill>
                <a:srgbClr val="000000"/>
              </a:solidFill>
              <a:latin typeface="Arial"/>
            </a:endParaRPr>
          </a:p>
        </p:txBody>
      </p:sp>
      <p:sp>
        <p:nvSpPr>
          <p:cNvPr id="537" name="b1_datos"/>
          <p:cNvSpPr/>
          <p:nvPr/>
        </p:nvSpPr>
        <p:spPr>
          <a:xfrm>
            <a:off x="649080" y="2971800"/>
            <a:ext cx="3016800" cy="1346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500" b="0" strike="noStrike" spc="-1">
                <a:solidFill>
                  <a:srgbClr val="00095B"/>
                </a:solidFill>
                <a:latin typeface="Avenir Next LT Pro"/>
              </a:rPr>
              <a:t>7 años de uso</a:t>
            </a:r>
            <a:endParaRPr lang="es-AR" sz="1500" b="0" strike="noStrike" spc="-1">
              <a:solidFill>
                <a:srgbClr val="000000"/>
              </a:solidFill>
              <a:latin typeface="Arial"/>
            </a:endParaRPr>
          </a:p>
          <a:p>
            <a:pPr defTabSz="914400">
              <a:lnSpc>
                <a:spcPct val="100000"/>
              </a:lnSpc>
              <a:spcBef>
                <a:spcPts val="799"/>
              </a:spcBef>
            </a:pPr>
            <a:r>
              <a:rPr lang="en-US" sz="1500" b="0" strike="noStrike" spc="-1">
                <a:solidFill>
                  <a:srgbClr val="00095B"/>
                </a:solidFill>
                <a:latin typeface="Avenir Next LT Pro"/>
              </a:rPr>
              <a:t>~27.000 km por año: la usa para trabajar</a:t>
            </a:r>
            <a:endParaRPr lang="es-AR" sz="1500" b="0" strike="noStrike" spc="-1">
              <a:solidFill>
                <a:srgbClr val="000000"/>
              </a:solidFill>
              <a:latin typeface="Arial"/>
            </a:endParaRPr>
          </a:p>
          <a:p>
            <a:pPr defTabSz="914400">
              <a:lnSpc>
                <a:spcPct val="100000"/>
              </a:lnSpc>
              <a:spcBef>
                <a:spcPts val="799"/>
              </a:spcBef>
            </a:pPr>
            <a:r>
              <a:rPr lang="en-US" sz="1500" b="0" strike="noStrike" spc="-1">
                <a:solidFill>
                  <a:srgbClr val="00095B"/>
                </a:solidFill>
                <a:latin typeface="Avenir Next LT Pro"/>
              </a:rPr>
              <a:t>2 services en un concesionario oficial</a:t>
            </a:r>
            <a:endParaRPr lang="es-AR" sz="1500" b="0" strike="noStrike" spc="-1">
              <a:solidFill>
                <a:srgbClr val="000000"/>
              </a:solidFill>
              <a:latin typeface="Arial"/>
            </a:endParaRPr>
          </a:p>
        </p:txBody>
      </p:sp>
      <p:sp>
        <p:nvSpPr>
          <p:cNvPr id="538" name="b2_fondo"/>
          <p:cNvSpPr/>
          <p:nvPr/>
        </p:nvSpPr>
        <p:spPr>
          <a:xfrm>
            <a:off x="4306680" y="1463040"/>
            <a:ext cx="3565440" cy="3748320"/>
          </a:xfrm>
          <a:prstGeom prst="rect">
            <a:avLst/>
          </a:prstGeom>
          <a:noFill/>
          <a:ln w="12700">
            <a:solidFill>
              <a:srgbClr val="B9BCBD"/>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539" name="b2_label"/>
          <p:cNvSpPr/>
          <p:nvPr/>
        </p:nvSpPr>
        <p:spPr>
          <a:xfrm>
            <a:off x="4581000" y="1737360"/>
            <a:ext cx="301680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00" b="0" strike="noStrike" spc="197">
                <a:solidFill>
                  <a:srgbClr val="1700F3"/>
                </a:solidFill>
                <a:latin typeface="Avenir Next LT Pro"/>
              </a:rPr>
              <a:t>LO QUE CUENTAN SUS DATOS</a:t>
            </a:r>
            <a:endParaRPr lang="es-AR" sz="1000" b="0" strike="noStrike" spc="-1">
              <a:solidFill>
                <a:srgbClr val="000000"/>
              </a:solidFill>
              <a:latin typeface="Arial"/>
            </a:endParaRPr>
          </a:p>
        </p:txBody>
      </p:sp>
      <p:sp>
        <p:nvSpPr>
          <p:cNvPr id="540" name="senal1_n"/>
          <p:cNvSpPr/>
          <p:nvPr/>
        </p:nvSpPr>
        <p:spPr>
          <a:xfrm>
            <a:off x="4581000" y="2212920"/>
            <a:ext cx="328320" cy="328320"/>
          </a:xfrm>
          <a:prstGeom prst="ellipse">
            <a:avLst/>
          </a:prstGeom>
          <a:solidFill>
            <a:srgbClr val="1700F3"/>
          </a:solidFill>
          <a:ln>
            <a:noFill/>
          </a:ln>
        </p:spPr>
        <p:style>
          <a:lnRef idx="1">
            <a:schemeClr val="accent1"/>
          </a:lnRef>
          <a:fillRef idx="3">
            <a:schemeClr val="accent1"/>
          </a:fillRef>
          <a:effectRef idx="2">
            <a:schemeClr val="accent1"/>
          </a:effectRef>
          <a:fontRef idx="minor"/>
        </p:style>
        <p:txBody>
          <a:bodyPr lIns="73080" tIns="27360" rIns="73080" bIns="27360" anchor="ctr">
            <a:noAutofit/>
          </a:bodyPr>
          <a:lstStyle/>
          <a:p>
            <a:pPr algn="ctr" defTabSz="914400">
              <a:lnSpc>
                <a:spcPct val="100000"/>
              </a:lnSpc>
            </a:pPr>
            <a:r>
              <a:rPr lang="en-US" sz="1100" b="1" strike="noStrike" spc="-1">
                <a:solidFill>
                  <a:srgbClr val="FFFFFF"/>
                </a:solidFill>
                <a:latin typeface="Avenir Next LT Pro"/>
              </a:rPr>
              <a:t>1</a:t>
            </a:r>
            <a:endParaRPr lang="es-AR" sz="1100" b="0" strike="noStrike" spc="-1">
              <a:solidFill>
                <a:srgbClr val="FFFFFF"/>
              </a:solidFill>
              <a:latin typeface="Arial"/>
            </a:endParaRPr>
          </a:p>
        </p:txBody>
      </p:sp>
      <p:sp>
        <p:nvSpPr>
          <p:cNvPr id="541" name="senal1"/>
          <p:cNvSpPr/>
          <p:nvPr/>
        </p:nvSpPr>
        <p:spPr>
          <a:xfrm>
            <a:off x="5038200" y="2194560"/>
            <a:ext cx="2605320" cy="396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300" b="0" strike="noStrike" spc="-1">
                <a:solidFill>
                  <a:srgbClr val="00095B"/>
                </a:solidFill>
                <a:latin typeface="Avenir Next LT Pro"/>
              </a:rPr>
              <a:t>7 años: la etapa en la que más clientes dejan Ford.</a:t>
            </a:r>
            <a:endParaRPr lang="es-AR" sz="1300" b="0" strike="noStrike" spc="-1">
              <a:solidFill>
                <a:srgbClr val="000000"/>
              </a:solidFill>
              <a:latin typeface="Arial"/>
            </a:endParaRPr>
          </a:p>
        </p:txBody>
      </p:sp>
      <p:sp>
        <p:nvSpPr>
          <p:cNvPr id="542" name="senal2_n"/>
          <p:cNvSpPr/>
          <p:nvPr/>
        </p:nvSpPr>
        <p:spPr>
          <a:xfrm>
            <a:off x="4581000" y="3264480"/>
            <a:ext cx="328320" cy="328320"/>
          </a:xfrm>
          <a:prstGeom prst="ellipse">
            <a:avLst/>
          </a:prstGeom>
          <a:solidFill>
            <a:srgbClr val="1700F3"/>
          </a:solidFill>
          <a:ln>
            <a:noFill/>
          </a:ln>
        </p:spPr>
        <p:style>
          <a:lnRef idx="1">
            <a:schemeClr val="accent1"/>
          </a:lnRef>
          <a:fillRef idx="3">
            <a:schemeClr val="accent1"/>
          </a:fillRef>
          <a:effectRef idx="2">
            <a:schemeClr val="accent1"/>
          </a:effectRef>
          <a:fontRef idx="minor"/>
        </p:style>
        <p:txBody>
          <a:bodyPr lIns="73080" tIns="27360" rIns="73080" bIns="27360" anchor="ctr">
            <a:noAutofit/>
          </a:bodyPr>
          <a:lstStyle/>
          <a:p>
            <a:pPr algn="ctr" defTabSz="914400">
              <a:lnSpc>
                <a:spcPct val="100000"/>
              </a:lnSpc>
            </a:pPr>
            <a:r>
              <a:rPr lang="en-US" sz="1100" b="1" strike="noStrike" spc="-1">
                <a:solidFill>
                  <a:srgbClr val="FFFFFF"/>
                </a:solidFill>
                <a:latin typeface="Avenir Next LT Pro"/>
              </a:rPr>
              <a:t>2</a:t>
            </a:r>
            <a:endParaRPr lang="es-AR" sz="1100" b="0" strike="noStrike" spc="-1">
              <a:solidFill>
                <a:srgbClr val="FFFFFF"/>
              </a:solidFill>
              <a:latin typeface="Arial"/>
            </a:endParaRPr>
          </a:p>
        </p:txBody>
      </p:sp>
      <p:sp>
        <p:nvSpPr>
          <p:cNvPr id="543" name="senal2"/>
          <p:cNvSpPr/>
          <p:nvPr/>
        </p:nvSpPr>
        <p:spPr>
          <a:xfrm>
            <a:off x="5038200" y="3246120"/>
            <a:ext cx="2605320" cy="595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300" b="0" strike="noStrike" spc="-1">
                <a:solidFill>
                  <a:srgbClr val="00095B"/>
                </a:solidFill>
                <a:latin typeface="Avenir Next LT Pro"/>
              </a:rPr>
              <a:t>Viene menos de una vez por año, aunque por su uso necesita service cada 4 o 5 meses.</a:t>
            </a:r>
            <a:endParaRPr lang="es-AR" sz="1300" b="0" strike="noStrike" spc="-1">
              <a:solidFill>
                <a:srgbClr val="000000"/>
              </a:solidFill>
              <a:latin typeface="Arial"/>
            </a:endParaRPr>
          </a:p>
        </p:txBody>
      </p:sp>
      <p:sp>
        <p:nvSpPr>
          <p:cNvPr id="544" name="senal3_n"/>
          <p:cNvSpPr/>
          <p:nvPr/>
        </p:nvSpPr>
        <p:spPr>
          <a:xfrm>
            <a:off x="4581000" y="4316040"/>
            <a:ext cx="328320" cy="328320"/>
          </a:xfrm>
          <a:prstGeom prst="ellipse">
            <a:avLst/>
          </a:prstGeom>
          <a:solidFill>
            <a:srgbClr val="1700F3"/>
          </a:solidFill>
          <a:ln>
            <a:noFill/>
          </a:ln>
        </p:spPr>
        <p:style>
          <a:lnRef idx="1">
            <a:schemeClr val="accent1"/>
          </a:lnRef>
          <a:fillRef idx="3">
            <a:schemeClr val="accent1"/>
          </a:fillRef>
          <a:effectRef idx="2">
            <a:schemeClr val="accent1"/>
          </a:effectRef>
          <a:fontRef idx="minor"/>
        </p:style>
        <p:txBody>
          <a:bodyPr lIns="73080" tIns="27360" rIns="73080" bIns="27360" anchor="ctr">
            <a:noAutofit/>
          </a:bodyPr>
          <a:lstStyle/>
          <a:p>
            <a:pPr algn="ctr" defTabSz="914400">
              <a:lnSpc>
                <a:spcPct val="100000"/>
              </a:lnSpc>
            </a:pPr>
            <a:r>
              <a:rPr lang="en-US" sz="1100" b="1" strike="noStrike" spc="-1">
                <a:solidFill>
                  <a:srgbClr val="FFFFFF"/>
                </a:solidFill>
                <a:latin typeface="Avenir Next LT Pro"/>
              </a:rPr>
              <a:t>3</a:t>
            </a:r>
            <a:endParaRPr lang="es-AR" sz="1100" b="0" strike="noStrike" spc="-1">
              <a:solidFill>
                <a:srgbClr val="FFFFFF"/>
              </a:solidFill>
              <a:latin typeface="Arial"/>
            </a:endParaRPr>
          </a:p>
        </p:txBody>
      </p:sp>
      <p:sp>
        <p:nvSpPr>
          <p:cNvPr id="545" name="senal3"/>
          <p:cNvSpPr/>
          <p:nvPr/>
        </p:nvSpPr>
        <p:spPr>
          <a:xfrm>
            <a:off x="5038200" y="4297680"/>
            <a:ext cx="2605320" cy="396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300" b="0" strike="noStrike" spc="-1">
                <a:solidFill>
                  <a:srgbClr val="00095B"/>
                </a:solidFill>
                <a:latin typeface="Avenir Next LT Pro"/>
              </a:rPr>
              <a:t>Entre sus dos últimos services pasaron 13 meses.</a:t>
            </a:r>
            <a:endParaRPr lang="es-AR" sz="1300" b="0" strike="noStrike" spc="-1">
              <a:solidFill>
                <a:srgbClr val="000000"/>
              </a:solidFill>
              <a:latin typeface="Arial"/>
            </a:endParaRPr>
          </a:p>
        </p:txBody>
      </p:sp>
      <p:sp>
        <p:nvSpPr>
          <p:cNvPr id="546" name="b3_fondo"/>
          <p:cNvSpPr/>
          <p:nvPr/>
        </p:nvSpPr>
        <p:spPr>
          <a:xfrm>
            <a:off x="8238600" y="1463040"/>
            <a:ext cx="3565440" cy="3748320"/>
          </a:xfrm>
          <a:prstGeom prst="rect">
            <a:avLst/>
          </a:prstGeom>
          <a:solidFill>
            <a:srgbClr val="0009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547" name="b3_label"/>
          <p:cNvSpPr/>
          <p:nvPr/>
        </p:nvSpPr>
        <p:spPr>
          <a:xfrm>
            <a:off x="8512920" y="1737360"/>
            <a:ext cx="301680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00" b="0" strike="noStrike" spc="197">
                <a:solidFill>
                  <a:srgbClr val="FFFFFF"/>
                </a:solidFill>
                <a:latin typeface="Avenir Next LT Pro"/>
              </a:rPr>
              <a:t>LO QUE PASA AHORA</a:t>
            </a:r>
            <a:endParaRPr lang="es-AR" sz="1000" b="0" strike="noStrike" spc="-1">
              <a:solidFill>
                <a:srgbClr val="000000"/>
              </a:solidFill>
              <a:latin typeface="Arial"/>
            </a:endParaRPr>
          </a:p>
        </p:txBody>
      </p:sp>
      <p:sp>
        <p:nvSpPr>
          <p:cNvPr id="548" name="b3_prob"/>
          <p:cNvSpPr/>
          <p:nvPr/>
        </p:nvSpPr>
        <p:spPr>
          <a:xfrm>
            <a:off x="8512920" y="2103120"/>
            <a:ext cx="3016800" cy="82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5400" b="0" strike="noStrike" spc="-1">
                <a:solidFill>
                  <a:srgbClr val="FFFFFF"/>
                </a:solidFill>
                <a:latin typeface="Avenir Next LT Pro"/>
              </a:rPr>
              <a:t>76 %</a:t>
            </a:r>
            <a:endParaRPr lang="es-AR" sz="5400" b="0" strike="noStrike" spc="-1">
              <a:solidFill>
                <a:srgbClr val="000000"/>
              </a:solidFill>
              <a:latin typeface="Arial"/>
            </a:endParaRPr>
          </a:p>
        </p:txBody>
      </p:sp>
      <p:sp>
        <p:nvSpPr>
          <p:cNvPr id="549" name="b3_prob_txt"/>
          <p:cNvSpPr/>
          <p:nvPr/>
        </p:nvSpPr>
        <p:spPr>
          <a:xfrm>
            <a:off x="8512920" y="3017520"/>
            <a:ext cx="3016800" cy="22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500" b="0" strike="noStrike" spc="-1">
                <a:solidFill>
                  <a:srgbClr val="FFFFFF"/>
                </a:solidFill>
                <a:latin typeface="Avenir Next LT Pro"/>
              </a:rPr>
              <a:t>de probabilidad de dejar Ford</a:t>
            </a:r>
            <a:endParaRPr lang="es-AR" sz="1500" b="0" strike="noStrike" spc="-1">
              <a:solidFill>
                <a:srgbClr val="000000"/>
              </a:solidFill>
              <a:latin typeface="Arial"/>
            </a:endParaRPr>
          </a:p>
        </p:txBody>
      </p:sp>
      <p:sp>
        <p:nvSpPr>
          <p:cNvPr id="550" name="b3_txt"/>
          <p:cNvSpPr/>
          <p:nvPr/>
        </p:nvSpPr>
        <p:spPr>
          <a:xfrm>
            <a:off x="8512920" y="3703320"/>
            <a:ext cx="3016800" cy="853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400" b="0" strike="noStrike" spc="-1">
                <a:solidFill>
                  <a:srgbClr val="FFFFFF"/>
                </a:solidFill>
                <a:latin typeface="Avenir Next LT Pro"/>
              </a:rPr>
              <a:t>Aparece arriba en la lista de su concesionario, con estos tres motivos. El asesor lo contacta sabiendo qué decirle.</a:t>
            </a:r>
            <a:endParaRPr lang="es-AR" sz="1400" b="0" strike="noStrike" spc="-1">
              <a:solidFill>
                <a:srgbClr val="000000"/>
              </a:solidFill>
              <a:latin typeface="Arial"/>
            </a:endParaRPr>
          </a:p>
        </p:txBody>
      </p:sp>
      <p:sp>
        <p:nvSpPr>
          <p:cNvPr id="551" name="flecha1"/>
          <p:cNvSpPr/>
          <p:nvPr/>
        </p:nvSpPr>
        <p:spPr>
          <a:xfrm>
            <a:off x="4032360" y="3182040"/>
            <a:ext cx="182160" cy="310320"/>
          </a:xfrm>
          <a:prstGeom prst="chevron">
            <a:avLst>
              <a:gd name="adj" fmla="val 50000"/>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552" name="flecha2"/>
          <p:cNvSpPr/>
          <p:nvPr/>
        </p:nvSpPr>
        <p:spPr>
          <a:xfrm>
            <a:off x="7964280" y="3182040"/>
            <a:ext cx="182160" cy="310320"/>
          </a:xfrm>
          <a:prstGeom prst="chevron">
            <a:avLst>
              <a:gd name="adj" fmla="val 50000"/>
            </a:avLst>
          </a:prstGeom>
          <a:solidFill>
            <a:srgbClr val="B9BC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553" name="frase"/>
          <p:cNvSpPr/>
          <p:nvPr/>
        </p:nvSpPr>
        <p:spPr>
          <a:xfrm>
            <a:off x="374760" y="5486400"/>
            <a:ext cx="11429280" cy="39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2600" b="0" strike="noStrike" spc="-1">
                <a:solidFill>
                  <a:srgbClr val="00095B"/>
                </a:solidFill>
                <a:latin typeface="Avenir Next LT Pro"/>
              </a:rPr>
              <a:t>El asesor no recibe un número: </a:t>
            </a:r>
            <a:r>
              <a:rPr lang="en-US" sz="2600" b="1" strike="noStrike" spc="-1">
                <a:solidFill>
                  <a:srgbClr val="1700F3"/>
                </a:solidFill>
                <a:latin typeface="Avenir Next LT Pro"/>
              </a:rPr>
              <a:t>recibe una conversación.</a:t>
            </a:r>
            <a:endParaRPr lang="es-AR" sz="2600" b="0" strike="noStrike" spc="-1">
              <a:solidFill>
                <a:srgbClr val="000000"/>
              </a:solidFill>
              <a:latin typeface="Arial"/>
            </a:endParaRPr>
          </a:p>
        </p:txBody>
      </p:sp>
      <p:sp>
        <p:nvSpPr>
          <p:cNvPr id="554"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Teodoro Samaan Piroli</a:t>
            </a:r>
            <a:endParaRPr lang="es-AR" sz="10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534"/>
                                        </p:tgtEl>
                                        <p:attrNameLst>
                                          <p:attrName>style.visibility</p:attrName>
                                        </p:attrNameLst>
                                      </p:cBhvr>
                                      <p:to>
                                        <p:strVal val="visible"/>
                                      </p:to>
                                    </p:set>
                                    <p:animEffect transition="in" filter="fade">
                                      <p:cBhvr additive="repl">
                                        <p:cTn id="7" dur="500"/>
                                        <p:tgtEl>
                                          <p:spTgt spid="534"/>
                                        </p:tgtEl>
                                      </p:cBhvr>
                                    </p:animEffect>
                                  </p:childTnLst>
                                </p:cTn>
                              </p:par>
                              <p:par>
                                <p:cTn id="8" presetID="10" presetClass="entr" fill="hold" nodeType="withEffect">
                                  <p:stCondLst>
                                    <p:cond delay="0"/>
                                  </p:stCondLst>
                                  <p:childTnLst>
                                    <p:set>
                                      <p:cBhvr>
                                        <p:cTn id="9" dur="1" fill="hold">
                                          <p:stCondLst>
                                            <p:cond delay="0"/>
                                          </p:stCondLst>
                                        </p:cTn>
                                        <p:tgtEl>
                                          <p:spTgt spid="535"/>
                                        </p:tgtEl>
                                        <p:attrNameLst>
                                          <p:attrName>style.visibility</p:attrName>
                                        </p:attrNameLst>
                                      </p:cBhvr>
                                      <p:to>
                                        <p:strVal val="visible"/>
                                      </p:to>
                                    </p:set>
                                    <p:animEffect transition="in" filter="fade">
                                      <p:cBhvr additive="repl">
                                        <p:cTn id="10" dur="500"/>
                                        <p:tgtEl>
                                          <p:spTgt spid="535"/>
                                        </p:tgtEl>
                                      </p:cBhvr>
                                    </p:animEffect>
                                  </p:childTnLst>
                                </p:cTn>
                              </p:par>
                              <p:par>
                                <p:cTn id="11" presetID="10" presetClass="entr" fill="hold" nodeType="withEffect">
                                  <p:stCondLst>
                                    <p:cond delay="0"/>
                                  </p:stCondLst>
                                  <p:childTnLst>
                                    <p:set>
                                      <p:cBhvr>
                                        <p:cTn id="12" dur="1" fill="hold">
                                          <p:stCondLst>
                                            <p:cond delay="0"/>
                                          </p:stCondLst>
                                        </p:cTn>
                                        <p:tgtEl>
                                          <p:spTgt spid="536"/>
                                        </p:tgtEl>
                                        <p:attrNameLst>
                                          <p:attrName>style.visibility</p:attrName>
                                        </p:attrNameLst>
                                      </p:cBhvr>
                                      <p:to>
                                        <p:strVal val="visible"/>
                                      </p:to>
                                    </p:set>
                                    <p:animEffect transition="in" filter="fade">
                                      <p:cBhvr additive="repl">
                                        <p:cTn id="13" dur="500"/>
                                        <p:tgtEl>
                                          <p:spTgt spid="536"/>
                                        </p:tgtEl>
                                      </p:cBhvr>
                                    </p:animEffect>
                                  </p:childTnLst>
                                </p:cTn>
                              </p:par>
                              <p:par>
                                <p:cTn id="14" presetID="10" presetClass="entr" fill="hold" nodeType="withEffect">
                                  <p:stCondLst>
                                    <p:cond delay="0"/>
                                  </p:stCondLst>
                                  <p:childTnLst>
                                    <p:set>
                                      <p:cBhvr>
                                        <p:cTn id="15" dur="1" fill="hold">
                                          <p:stCondLst>
                                            <p:cond delay="0"/>
                                          </p:stCondLst>
                                        </p:cTn>
                                        <p:tgtEl>
                                          <p:spTgt spid="537"/>
                                        </p:tgtEl>
                                        <p:attrNameLst>
                                          <p:attrName>style.visibility</p:attrName>
                                        </p:attrNameLst>
                                      </p:cBhvr>
                                      <p:to>
                                        <p:strVal val="visible"/>
                                      </p:to>
                                    </p:set>
                                    <p:animEffect transition="in" filter="fade">
                                      <p:cBhvr additive="repl">
                                        <p:cTn id="16" dur="500"/>
                                        <p:tgtEl>
                                          <p:spTgt spid="53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fill="hold" nodeType="clickEffect">
                                  <p:stCondLst>
                                    <p:cond delay="0"/>
                                  </p:stCondLst>
                                  <p:childTnLst>
                                    <p:set>
                                      <p:cBhvr>
                                        <p:cTn id="20" dur="1" fill="hold">
                                          <p:stCondLst>
                                            <p:cond delay="0"/>
                                          </p:stCondLst>
                                        </p:cTn>
                                        <p:tgtEl>
                                          <p:spTgt spid="538"/>
                                        </p:tgtEl>
                                        <p:attrNameLst>
                                          <p:attrName>style.visibility</p:attrName>
                                        </p:attrNameLst>
                                      </p:cBhvr>
                                      <p:to>
                                        <p:strVal val="visible"/>
                                      </p:to>
                                    </p:set>
                                    <p:animEffect transition="in" filter="fade">
                                      <p:cBhvr additive="repl">
                                        <p:cTn id="21" dur="500"/>
                                        <p:tgtEl>
                                          <p:spTgt spid="538"/>
                                        </p:tgtEl>
                                      </p:cBhvr>
                                    </p:animEffect>
                                  </p:childTnLst>
                                </p:cTn>
                              </p:par>
                              <p:par>
                                <p:cTn id="22" presetID="10" presetClass="entr" fill="hold" nodeType="withEffect">
                                  <p:stCondLst>
                                    <p:cond delay="0"/>
                                  </p:stCondLst>
                                  <p:childTnLst>
                                    <p:set>
                                      <p:cBhvr>
                                        <p:cTn id="23" dur="1" fill="hold">
                                          <p:stCondLst>
                                            <p:cond delay="0"/>
                                          </p:stCondLst>
                                        </p:cTn>
                                        <p:tgtEl>
                                          <p:spTgt spid="539"/>
                                        </p:tgtEl>
                                        <p:attrNameLst>
                                          <p:attrName>style.visibility</p:attrName>
                                        </p:attrNameLst>
                                      </p:cBhvr>
                                      <p:to>
                                        <p:strVal val="visible"/>
                                      </p:to>
                                    </p:set>
                                    <p:animEffect transition="in" filter="fade">
                                      <p:cBhvr additive="repl">
                                        <p:cTn id="24" dur="500"/>
                                        <p:tgtEl>
                                          <p:spTgt spid="539"/>
                                        </p:tgtEl>
                                      </p:cBhvr>
                                    </p:animEffect>
                                  </p:childTnLst>
                                </p:cTn>
                              </p:par>
                              <p:par>
                                <p:cTn id="25" presetID="10" presetClass="entr" fill="hold" nodeType="withEffect">
                                  <p:stCondLst>
                                    <p:cond delay="0"/>
                                  </p:stCondLst>
                                  <p:childTnLst>
                                    <p:set>
                                      <p:cBhvr>
                                        <p:cTn id="26" dur="1" fill="hold">
                                          <p:stCondLst>
                                            <p:cond delay="0"/>
                                          </p:stCondLst>
                                        </p:cTn>
                                        <p:tgtEl>
                                          <p:spTgt spid="540"/>
                                        </p:tgtEl>
                                        <p:attrNameLst>
                                          <p:attrName>style.visibility</p:attrName>
                                        </p:attrNameLst>
                                      </p:cBhvr>
                                      <p:to>
                                        <p:strVal val="visible"/>
                                      </p:to>
                                    </p:set>
                                    <p:animEffect transition="in" filter="fade">
                                      <p:cBhvr additive="repl">
                                        <p:cTn id="27" dur="500"/>
                                        <p:tgtEl>
                                          <p:spTgt spid="540"/>
                                        </p:tgtEl>
                                      </p:cBhvr>
                                    </p:animEffect>
                                  </p:childTnLst>
                                </p:cTn>
                              </p:par>
                              <p:par>
                                <p:cTn id="28" presetID="10" presetClass="entr" fill="hold" nodeType="withEffect">
                                  <p:stCondLst>
                                    <p:cond delay="0"/>
                                  </p:stCondLst>
                                  <p:childTnLst>
                                    <p:set>
                                      <p:cBhvr>
                                        <p:cTn id="29" dur="1" fill="hold">
                                          <p:stCondLst>
                                            <p:cond delay="0"/>
                                          </p:stCondLst>
                                        </p:cTn>
                                        <p:tgtEl>
                                          <p:spTgt spid="541"/>
                                        </p:tgtEl>
                                        <p:attrNameLst>
                                          <p:attrName>style.visibility</p:attrName>
                                        </p:attrNameLst>
                                      </p:cBhvr>
                                      <p:to>
                                        <p:strVal val="visible"/>
                                      </p:to>
                                    </p:set>
                                    <p:animEffect transition="in" filter="fade">
                                      <p:cBhvr additive="repl">
                                        <p:cTn id="30" dur="500"/>
                                        <p:tgtEl>
                                          <p:spTgt spid="541"/>
                                        </p:tgtEl>
                                      </p:cBhvr>
                                    </p:animEffect>
                                  </p:childTnLst>
                                </p:cTn>
                              </p:par>
                              <p:par>
                                <p:cTn id="31" presetID="10" presetClass="entr" fill="hold" nodeType="withEffect">
                                  <p:stCondLst>
                                    <p:cond delay="0"/>
                                  </p:stCondLst>
                                  <p:childTnLst>
                                    <p:set>
                                      <p:cBhvr>
                                        <p:cTn id="32" dur="1" fill="hold">
                                          <p:stCondLst>
                                            <p:cond delay="0"/>
                                          </p:stCondLst>
                                        </p:cTn>
                                        <p:tgtEl>
                                          <p:spTgt spid="551"/>
                                        </p:tgtEl>
                                        <p:attrNameLst>
                                          <p:attrName>style.visibility</p:attrName>
                                        </p:attrNameLst>
                                      </p:cBhvr>
                                      <p:to>
                                        <p:strVal val="visible"/>
                                      </p:to>
                                    </p:set>
                                    <p:animEffect transition="in" filter="fade">
                                      <p:cBhvr additive="repl">
                                        <p:cTn id="33" dur="500"/>
                                        <p:tgtEl>
                                          <p:spTgt spid="55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fill="hold" nodeType="clickEffect">
                                  <p:stCondLst>
                                    <p:cond delay="0"/>
                                  </p:stCondLst>
                                  <p:childTnLst>
                                    <p:set>
                                      <p:cBhvr>
                                        <p:cTn id="37" dur="1" fill="hold">
                                          <p:stCondLst>
                                            <p:cond delay="0"/>
                                          </p:stCondLst>
                                        </p:cTn>
                                        <p:tgtEl>
                                          <p:spTgt spid="542"/>
                                        </p:tgtEl>
                                        <p:attrNameLst>
                                          <p:attrName>style.visibility</p:attrName>
                                        </p:attrNameLst>
                                      </p:cBhvr>
                                      <p:to>
                                        <p:strVal val="visible"/>
                                      </p:to>
                                    </p:set>
                                    <p:animEffect transition="in" filter="fade">
                                      <p:cBhvr additive="repl">
                                        <p:cTn id="38" dur="500"/>
                                        <p:tgtEl>
                                          <p:spTgt spid="542"/>
                                        </p:tgtEl>
                                      </p:cBhvr>
                                    </p:animEffect>
                                  </p:childTnLst>
                                </p:cTn>
                              </p:par>
                              <p:par>
                                <p:cTn id="39" presetID="10" presetClass="entr" fill="hold" nodeType="withEffect">
                                  <p:stCondLst>
                                    <p:cond delay="0"/>
                                  </p:stCondLst>
                                  <p:childTnLst>
                                    <p:set>
                                      <p:cBhvr>
                                        <p:cTn id="40" dur="1" fill="hold">
                                          <p:stCondLst>
                                            <p:cond delay="0"/>
                                          </p:stCondLst>
                                        </p:cTn>
                                        <p:tgtEl>
                                          <p:spTgt spid="543"/>
                                        </p:tgtEl>
                                        <p:attrNameLst>
                                          <p:attrName>style.visibility</p:attrName>
                                        </p:attrNameLst>
                                      </p:cBhvr>
                                      <p:to>
                                        <p:strVal val="visible"/>
                                      </p:to>
                                    </p:set>
                                    <p:animEffect transition="in" filter="fade">
                                      <p:cBhvr additive="repl">
                                        <p:cTn id="41" dur="500"/>
                                        <p:tgtEl>
                                          <p:spTgt spid="54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fill="hold" nodeType="clickEffect">
                                  <p:stCondLst>
                                    <p:cond delay="0"/>
                                  </p:stCondLst>
                                  <p:childTnLst>
                                    <p:set>
                                      <p:cBhvr>
                                        <p:cTn id="45" dur="1" fill="hold">
                                          <p:stCondLst>
                                            <p:cond delay="0"/>
                                          </p:stCondLst>
                                        </p:cTn>
                                        <p:tgtEl>
                                          <p:spTgt spid="544"/>
                                        </p:tgtEl>
                                        <p:attrNameLst>
                                          <p:attrName>style.visibility</p:attrName>
                                        </p:attrNameLst>
                                      </p:cBhvr>
                                      <p:to>
                                        <p:strVal val="visible"/>
                                      </p:to>
                                    </p:set>
                                    <p:animEffect transition="in" filter="fade">
                                      <p:cBhvr additive="repl">
                                        <p:cTn id="46" dur="500"/>
                                        <p:tgtEl>
                                          <p:spTgt spid="544"/>
                                        </p:tgtEl>
                                      </p:cBhvr>
                                    </p:animEffect>
                                  </p:childTnLst>
                                </p:cTn>
                              </p:par>
                              <p:par>
                                <p:cTn id="47" presetID="10" presetClass="entr" fill="hold" nodeType="withEffect">
                                  <p:stCondLst>
                                    <p:cond delay="0"/>
                                  </p:stCondLst>
                                  <p:childTnLst>
                                    <p:set>
                                      <p:cBhvr>
                                        <p:cTn id="48" dur="1" fill="hold">
                                          <p:stCondLst>
                                            <p:cond delay="0"/>
                                          </p:stCondLst>
                                        </p:cTn>
                                        <p:tgtEl>
                                          <p:spTgt spid="545"/>
                                        </p:tgtEl>
                                        <p:attrNameLst>
                                          <p:attrName>style.visibility</p:attrName>
                                        </p:attrNameLst>
                                      </p:cBhvr>
                                      <p:to>
                                        <p:strVal val="visible"/>
                                      </p:to>
                                    </p:set>
                                    <p:animEffect transition="in" filter="fade">
                                      <p:cBhvr additive="repl">
                                        <p:cTn id="49" dur="500"/>
                                        <p:tgtEl>
                                          <p:spTgt spid="54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fill="hold" nodeType="clickEffect">
                                  <p:stCondLst>
                                    <p:cond delay="0"/>
                                  </p:stCondLst>
                                  <p:childTnLst>
                                    <p:set>
                                      <p:cBhvr>
                                        <p:cTn id="53" dur="1" fill="hold">
                                          <p:stCondLst>
                                            <p:cond delay="0"/>
                                          </p:stCondLst>
                                        </p:cTn>
                                        <p:tgtEl>
                                          <p:spTgt spid="546"/>
                                        </p:tgtEl>
                                        <p:attrNameLst>
                                          <p:attrName>style.visibility</p:attrName>
                                        </p:attrNameLst>
                                      </p:cBhvr>
                                      <p:to>
                                        <p:strVal val="visible"/>
                                      </p:to>
                                    </p:set>
                                    <p:animEffect transition="in" filter="fade">
                                      <p:cBhvr additive="repl">
                                        <p:cTn id="54" dur="500"/>
                                        <p:tgtEl>
                                          <p:spTgt spid="546"/>
                                        </p:tgtEl>
                                      </p:cBhvr>
                                    </p:animEffect>
                                  </p:childTnLst>
                                </p:cTn>
                              </p:par>
                              <p:par>
                                <p:cTn id="55" presetID="10" presetClass="entr" fill="hold" nodeType="withEffect">
                                  <p:stCondLst>
                                    <p:cond delay="0"/>
                                  </p:stCondLst>
                                  <p:childTnLst>
                                    <p:set>
                                      <p:cBhvr>
                                        <p:cTn id="56" dur="1" fill="hold">
                                          <p:stCondLst>
                                            <p:cond delay="0"/>
                                          </p:stCondLst>
                                        </p:cTn>
                                        <p:tgtEl>
                                          <p:spTgt spid="547"/>
                                        </p:tgtEl>
                                        <p:attrNameLst>
                                          <p:attrName>style.visibility</p:attrName>
                                        </p:attrNameLst>
                                      </p:cBhvr>
                                      <p:to>
                                        <p:strVal val="visible"/>
                                      </p:to>
                                    </p:set>
                                    <p:animEffect transition="in" filter="fade">
                                      <p:cBhvr additive="repl">
                                        <p:cTn id="57" dur="500"/>
                                        <p:tgtEl>
                                          <p:spTgt spid="547"/>
                                        </p:tgtEl>
                                      </p:cBhvr>
                                    </p:animEffect>
                                  </p:childTnLst>
                                </p:cTn>
                              </p:par>
                              <p:par>
                                <p:cTn id="58" presetID="10" presetClass="entr" fill="hold" nodeType="withEffect">
                                  <p:stCondLst>
                                    <p:cond delay="0"/>
                                  </p:stCondLst>
                                  <p:childTnLst>
                                    <p:set>
                                      <p:cBhvr>
                                        <p:cTn id="59" dur="1" fill="hold">
                                          <p:stCondLst>
                                            <p:cond delay="0"/>
                                          </p:stCondLst>
                                        </p:cTn>
                                        <p:tgtEl>
                                          <p:spTgt spid="548"/>
                                        </p:tgtEl>
                                        <p:attrNameLst>
                                          <p:attrName>style.visibility</p:attrName>
                                        </p:attrNameLst>
                                      </p:cBhvr>
                                      <p:to>
                                        <p:strVal val="visible"/>
                                      </p:to>
                                    </p:set>
                                    <p:animEffect transition="in" filter="fade">
                                      <p:cBhvr additive="repl">
                                        <p:cTn id="60" dur="500"/>
                                        <p:tgtEl>
                                          <p:spTgt spid="548"/>
                                        </p:tgtEl>
                                      </p:cBhvr>
                                    </p:animEffect>
                                  </p:childTnLst>
                                </p:cTn>
                              </p:par>
                              <p:par>
                                <p:cTn id="61" presetID="10" presetClass="entr" fill="hold" nodeType="withEffect">
                                  <p:stCondLst>
                                    <p:cond delay="0"/>
                                  </p:stCondLst>
                                  <p:childTnLst>
                                    <p:set>
                                      <p:cBhvr>
                                        <p:cTn id="62" dur="1" fill="hold">
                                          <p:stCondLst>
                                            <p:cond delay="0"/>
                                          </p:stCondLst>
                                        </p:cTn>
                                        <p:tgtEl>
                                          <p:spTgt spid="549"/>
                                        </p:tgtEl>
                                        <p:attrNameLst>
                                          <p:attrName>style.visibility</p:attrName>
                                        </p:attrNameLst>
                                      </p:cBhvr>
                                      <p:to>
                                        <p:strVal val="visible"/>
                                      </p:to>
                                    </p:set>
                                    <p:animEffect transition="in" filter="fade">
                                      <p:cBhvr additive="repl">
                                        <p:cTn id="63" dur="500"/>
                                        <p:tgtEl>
                                          <p:spTgt spid="549"/>
                                        </p:tgtEl>
                                      </p:cBhvr>
                                    </p:animEffect>
                                  </p:childTnLst>
                                </p:cTn>
                              </p:par>
                              <p:par>
                                <p:cTn id="64" presetID="10" presetClass="entr" fill="hold" nodeType="withEffect">
                                  <p:stCondLst>
                                    <p:cond delay="0"/>
                                  </p:stCondLst>
                                  <p:childTnLst>
                                    <p:set>
                                      <p:cBhvr>
                                        <p:cTn id="65" dur="1" fill="hold">
                                          <p:stCondLst>
                                            <p:cond delay="0"/>
                                          </p:stCondLst>
                                        </p:cTn>
                                        <p:tgtEl>
                                          <p:spTgt spid="550"/>
                                        </p:tgtEl>
                                        <p:attrNameLst>
                                          <p:attrName>style.visibility</p:attrName>
                                        </p:attrNameLst>
                                      </p:cBhvr>
                                      <p:to>
                                        <p:strVal val="visible"/>
                                      </p:to>
                                    </p:set>
                                    <p:animEffect transition="in" filter="fade">
                                      <p:cBhvr additive="repl">
                                        <p:cTn id="66" dur="500"/>
                                        <p:tgtEl>
                                          <p:spTgt spid="550"/>
                                        </p:tgtEl>
                                      </p:cBhvr>
                                    </p:animEffect>
                                  </p:childTnLst>
                                </p:cTn>
                              </p:par>
                              <p:par>
                                <p:cTn id="67" presetID="10" presetClass="entr" fill="hold" nodeType="withEffect">
                                  <p:stCondLst>
                                    <p:cond delay="0"/>
                                  </p:stCondLst>
                                  <p:childTnLst>
                                    <p:set>
                                      <p:cBhvr>
                                        <p:cTn id="68" dur="1" fill="hold">
                                          <p:stCondLst>
                                            <p:cond delay="0"/>
                                          </p:stCondLst>
                                        </p:cTn>
                                        <p:tgtEl>
                                          <p:spTgt spid="552"/>
                                        </p:tgtEl>
                                        <p:attrNameLst>
                                          <p:attrName>style.visibility</p:attrName>
                                        </p:attrNameLst>
                                      </p:cBhvr>
                                      <p:to>
                                        <p:strVal val="visible"/>
                                      </p:to>
                                    </p:set>
                                    <p:animEffect transition="in" filter="fade">
                                      <p:cBhvr additive="repl">
                                        <p:cTn id="69" dur="500"/>
                                        <p:tgtEl>
                                          <p:spTgt spid="552"/>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fill="hold" nodeType="clickEffect">
                                  <p:stCondLst>
                                    <p:cond delay="0"/>
                                  </p:stCondLst>
                                  <p:childTnLst>
                                    <p:set>
                                      <p:cBhvr>
                                        <p:cTn id="73" dur="1" fill="hold">
                                          <p:stCondLst>
                                            <p:cond delay="0"/>
                                          </p:stCondLst>
                                        </p:cTn>
                                        <p:tgtEl>
                                          <p:spTgt spid="553"/>
                                        </p:tgtEl>
                                        <p:attrNameLst>
                                          <p:attrName>style.visibility</p:attrName>
                                        </p:attrNameLst>
                                      </p:cBhvr>
                                      <p:to>
                                        <p:strVal val="visible"/>
                                      </p:to>
                                    </p:set>
                                    <p:animEffect transition="in" filter="fade">
                                      <p:cBhvr additive="repl">
                                        <p:cTn id="74" dur="500"/>
                                        <p:tgtEl>
                                          <p:spTgt spid="5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 name="PlaceHolder 1"/>
          <p:cNvSpPr>
            <a:spLocks noGrp="1"/>
          </p:cNvSpPr>
          <p:nvPr>
            <p:ph type="title"/>
          </p:nvPr>
        </p:nvSpPr>
        <p:spPr>
          <a:xfrm>
            <a:off x="374760" y="502920"/>
            <a:ext cx="10514880" cy="1026360"/>
          </a:xfrm>
          <a:prstGeom prst="rect">
            <a:avLst/>
          </a:prstGeom>
          <a:noFill/>
          <a:ln w="0">
            <a:noFill/>
          </a:ln>
        </p:spPr>
        <p:txBody>
          <a:bodyPr lIns="0" tIns="45720" rIns="91440" bIns="45720" anchor="t">
            <a:noAutofit/>
          </a:bodyPr>
          <a:lstStyle/>
          <a:p>
            <a:pPr indent="0" defTabSz="914400">
              <a:lnSpc>
                <a:spcPct val="90000"/>
              </a:lnSpc>
              <a:buNone/>
              <a:tabLst>
                <a:tab pos="0" algn="l"/>
              </a:tabLst>
            </a:pPr>
            <a:r>
              <a:rPr lang="en-US" sz="2400" b="0" strike="noStrike" spc="66">
                <a:solidFill>
                  <a:schemeClr val="dk1"/>
                </a:solidFill>
                <a:latin typeface="Avenir Next LT Pro"/>
                <a:ea typeface="Avenir Next"/>
              </a:rPr>
              <a:t>Dos etapas para priorizar el contacto</a:t>
            </a:r>
            <a:endParaRPr lang="es-AR" sz="2400" b="0" strike="noStrike" spc="-1">
              <a:solidFill>
                <a:srgbClr val="000000"/>
              </a:solidFill>
              <a:latin typeface="Arial"/>
            </a:endParaRPr>
          </a:p>
        </p:txBody>
      </p:sp>
      <p:sp>
        <p:nvSpPr>
          <p:cNvPr id="556" name="PlaceHolder 2"/>
          <p:cNvSpPr>
            <a:spLocks noGrp="1"/>
          </p:cNvSpPr>
          <p:nvPr>
            <p:ph/>
          </p:nvPr>
        </p:nvSpPr>
        <p:spPr>
          <a:xfrm>
            <a:off x="394920" y="286920"/>
            <a:ext cx="3901680" cy="215280"/>
          </a:xfrm>
          <a:prstGeom prst="rect">
            <a:avLst/>
          </a:prstGeom>
          <a:noFill/>
          <a:ln w="0">
            <a:noFill/>
          </a:ln>
        </p:spPr>
        <p:txBody>
          <a:bodyPr lIns="0" tIns="45720" rIns="91440" bIns="45720" anchor="t">
            <a:noAutofit/>
          </a:bodyPr>
          <a:lstStyle/>
          <a:p>
            <a:pPr indent="0" defTabSz="914400">
              <a:lnSpc>
                <a:spcPct val="90000"/>
              </a:lnSpc>
              <a:spcBef>
                <a:spcPts val="1001"/>
              </a:spcBef>
              <a:buNone/>
              <a:tabLst>
                <a:tab pos="0" algn="l"/>
              </a:tabLst>
            </a:pPr>
            <a:r>
              <a:rPr lang="en-US" sz="900" b="0" strike="noStrike" cap="all" spc="296">
                <a:solidFill>
                  <a:schemeClr val="accent1"/>
                </a:solidFill>
                <a:latin typeface="Avenir Next LT Pro"/>
                <a:ea typeface="Avenir Next"/>
              </a:rPr>
              <a:t>02 · Descripción de la solución</a:t>
            </a:r>
            <a:endParaRPr lang="es-AR" sz="900" b="0" strike="noStrike" spc="-1">
              <a:solidFill>
                <a:srgbClr val="000000"/>
              </a:solidFill>
              <a:latin typeface="Arial"/>
            </a:endParaRPr>
          </a:p>
        </p:txBody>
      </p:sp>
      <p:sp>
        <p:nvSpPr>
          <p:cNvPr id="557" name="PlaceHolder 3"/>
          <p:cNvSpPr>
            <a:spLocks noGrp="1"/>
          </p:cNvSpPr>
          <p:nvPr>
            <p:ph type="sldNum" idx="66"/>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0DBA7FEA-D77E-48AA-9E1D-1F1D8831C6A8}" type="slidenum">
              <a:rPr lang="en-US" sz="800" b="0" strike="noStrike" spc="-1">
                <a:solidFill>
                  <a:schemeClr val="dk1"/>
                </a:solidFill>
                <a:latin typeface="Avenir Next LT Pro"/>
                <a:ea typeface="Avenir Next"/>
              </a:rPr>
              <a:t>15</a:t>
            </a:fld>
            <a:endParaRPr lang="es-AR" sz="800" b="0" strike="noStrike" spc="-1">
              <a:solidFill>
                <a:srgbClr val="000000"/>
              </a:solidFill>
              <a:latin typeface="Times New Roman"/>
            </a:endParaRPr>
          </a:p>
        </p:txBody>
      </p:sp>
      <p:sp>
        <p:nvSpPr>
          <p:cNvPr id="558" name="bajada"/>
          <p:cNvSpPr/>
          <p:nvPr/>
        </p:nvSpPr>
        <p:spPr>
          <a:xfrm>
            <a:off x="374760" y="1325880"/>
            <a:ext cx="10972080" cy="243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600" b="0" strike="noStrike" spc="-1">
                <a:solidFill>
                  <a:srgbClr val="7F7F7F"/>
                </a:solidFill>
                <a:latin typeface="Avenir Next LT Pro"/>
              </a:rPr>
              <a:t>Alto (20 %) + medio (30 %) pasan por un segundo filtro con los datos existentes.</a:t>
            </a:r>
            <a:endParaRPr lang="es-AR" sz="1600" b="0" strike="noStrike" spc="-1">
              <a:solidFill>
                <a:srgbClr val="000000"/>
              </a:solidFill>
              <a:latin typeface="Arial"/>
            </a:endParaRPr>
          </a:p>
        </p:txBody>
      </p:sp>
      <p:sp>
        <p:nvSpPr>
          <p:cNvPr id="559" name="g1_head"/>
          <p:cNvSpPr/>
          <p:nvPr/>
        </p:nvSpPr>
        <p:spPr>
          <a:xfrm>
            <a:off x="374760" y="1874520"/>
            <a:ext cx="3611160" cy="959400"/>
          </a:xfrm>
          <a:prstGeom prst="rect">
            <a:avLst/>
          </a:prstGeom>
          <a:solidFill>
            <a:srgbClr val="00095B"/>
          </a:solidFill>
          <a:ln>
            <a:noFill/>
          </a:ln>
        </p:spPr>
        <p:style>
          <a:lnRef idx="1">
            <a:schemeClr val="accent1"/>
          </a:lnRef>
          <a:fillRef idx="3">
            <a:schemeClr val="accent1"/>
          </a:fillRef>
          <a:effectRef idx="2">
            <a:schemeClr val="accent1"/>
          </a:effectRef>
          <a:fontRef idx="minor"/>
        </p:style>
        <p:txBody>
          <a:bodyPr lIns="73080" tIns="27360" rIns="73080" bIns="27360" anchor="ctr">
            <a:noAutofit/>
          </a:bodyPr>
          <a:lstStyle/>
          <a:p>
            <a:pPr algn="ctr" defTabSz="914400">
              <a:lnSpc>
                <a:spcPct val="100000"/>
              </a:lnSpc>
            </a:pPr>
            <a:r>
              <a:rPr lang="en-US" sz="2200" b="1" strike="noStrike" spc="197">
                <a:solidFill>
                  <a:srgbClr val="FFFFFF"/>
                </a:solidFill>
                <a:latin typeface="Avenir Next LT Pro"/>
              </a:rPr>
              <a:t>PASO 1</a:t>
            </a:r>
            <a:endParaRPr lang="es-AR" sz="2200" b="0" strike="noStrike" spc="-1">
              <a:solidFill>
                <a:srgbClr val="FFFFFF"/>
              </a:solidFill>
              <a:latin typeface="Arial"/>
            </a:endParaRPr>
          </a:p>
          <a:p>
            <a:pPr algn="ctr" defTabSz="914400">
              <a:lnSpc>
                <a:spcPct val="100000"/>
              </a:lnSpc>
            </a:pPr>
            <a:r>
              <a:rPr lang="en-US" sz="1300" b="0" strike="noStrike" spc="-1">
                <a:solidFill>
                  <a:srgbClr val="FFFFFF"/>
                </a:solidFill>
                <a:latin typeface="Avenir Next LT Pro"/>
              </a:rPr>
              <a:t>Riesgo de abandono</a:t>
            </a:r>
            <a:endParaRPr lang="es-AR" sz="1300" b="0" strike="noStrike" spc="-1">
              <a:solidFill>
                <a:srgbClr val="FFFFFF"/>
              </a:solidFill>
              <a:latin typeface="Arial"/>
            </a:endParaRPr>
          </a:p>
        </p:txBody>
      </p:sp>
      <p:sp>
        <p:nvSpPr>
          <p:cNvPr id="560" name="g1_cuerpo"/>
          <p:cNvSpPr/>
          <p:nvPr/>
        </p:nvSpPr>
        <p:spPr>
          <a:xfrm>
            <a:off x="374760" y="2834640"/>
            <a:ext cx="3611160" cy="2605320"/>
          </a:xfrm>
          <a:prstGeom prst="rect">
            <a:avLst/>
          </a:prstGeom>
          <a:noFill/>
          <a:ln w="12700">
            <a:solidFill>
              <a:srgbClr val="B9BCBD"/>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561" name="g1_dato"/>
          <p:cNvSpPr/>
          <p:nvPr/>
        </p:nvSpPr>
        <p:spPr>
          <a:xfrm>
            <a:off x="557640" y="3095625"/>
            <a:ext cx="3245400" cy="66675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2000" b="0" strike="noStrike" spc="-1">
                <a:solidFill>
                  <a:srgbClr val="1700F3"/>
                </a:solidFill>
                <a:latin typeface="Avenir Next LT Pro"/>
              </a:rPr>
              <a:t>Alto 20 %, medio 30 %,</a:t>
            </a:r>
            <a:endParaRPr lang="es-AR" sz="2000" b="0" strike="noStrike" spc="-1">
              <a:solidFill>
                <a:srgbClr val="000000"/>
              </a:solidFill>
              <a:latin typeface="Arial"/>
            </a:endParaRPr>
          </a:p>
          <a:p>
            <a:pPr algn="ctr" defTabSz="914400">
              <a:lnSpc>
                <a:spcPct val="100000"/>
              </a:lnSpc>
            </a:pPr>
            <a:r>
              <a:rPr lang="en-US" sz="2000" b="0" strike="noStrike" spc="-1">
                <a:solidFill>
                  <a:srgbClr val="1700F3"/>
                </a:solidFill>
                <a:latin typeface="Avenir Next LT Pro"/>
              </a:rPr>
              <a:t>bajo 50 %</a:t>
            </a:r>
            <a:endParaRPr lang="es-AR" sz="2000" b="0" strike="noStrike" spc="-1">
              <a:solidFill>
                <a:srgbClr val="000000"/>
              </a:solidFill>
              <a:latin typeface="Arial"/>
            </a:endParaRPr>
          </a:p>
        </p:txBody>
      </p:sp>
      <p:sp>
        <p:nvSpPr>
          <p:cNvPr id="562" name="g1_desc"/>
          <p:cNvSpPr/>
          <p:nvPr/>
        </p:nvSpPr>
        <p:spPr>
          <a:xfrm>
            <a:off x="694800" y="3857625"/>
            <a:ext cx="2971080" cy="142875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500" b="0" strike="noStrike" spc="-1">
                <a:solidFill>
                  <a:srgbClr val="00095B"/>
                </a:solidFill>
                <a:latin typeface="Avenir Next LT Pro"/>
              </a:rPr>
              <a:t>El modelo estima probabilidad</a:t>
            </a:r>
            <a:endParaRPr lang="es-AR" sz="1500" b="0" strike="noStrike" spc="-1">
              <a:solidFill>
                <a:srgbClr val="000000"/>
              </a:solidFill>
              <a:latin typeface="Arial"/>
            </a:endParaRPr>
          </a:p>
          <a:p>
            <a:pPr algn="ctr" defTabSz="914400">
              <a:lnSpc>
                <a:spcPct val="100000"/>
              </a:lnSpc>
            </a:pPr>
            <a:r>
              <a:rPr lang="en-US" sz="1500" b="0" strike="noStrike" spc="-1">
                <a:solidFill>
                  <a:srgbClr val="00095B"/>
                </a:solidFill>
                <a:latin typeface="Avenir Next LT Pro"/>
              </a:rPr>
              <a:t>de abandono (0–1) y aporta</a:t>
            </a:r>
            <a:endParaRPr lang="es-AR" sz="1500" b="0" strike="noStrike" spc="-1">
              <a:solidFill>
                <a:srgbClr val="000000"/>
              </a:solidFill>
              <a:latin typeface="Arial"/>
            </a:endParaRPr>
          </a:p>
          <a:p>
            <a:pPr algn="ctr" defTabSz="914400">
              <a:lnSpc>
                <a:spcPct val="100000"/>
              </a:lnSpc>
            </a:pPr>
            <a:r>
              <a:rPr lang="en-US" sz="1500" b="0" strike="noStrike" spc="-1">
                <a:solidFill>
                  <a:srgbClr val="00095B"/>
                </a:solidFill>
                <a:latin typeface="Avenir Next LT Pro"/>
              </a:rPr>
              <a:t>tres motivos SHAP por vehículo.</a:t>
            </a:r>
            <a:endParaRPr lang="es-AR" sz="1500" b="0" strike="noStrike" spc="-1">
              <a:solidFill>
                <a:srgbClr val="000000"/>
              </a:solidFill>
              <a:latin typeface="Arial"/>
            </a:endParaRPr>
          </a:p>
        </p:txBody>
      </p:sp>
      <p:sp>
        <p:nvSpPr>
          <p:cNvPr id="563" name="g2_head"/>
          <p:cNvSpPr/>
          <p:nvPr/>
        </p:nvSpPr>
        <p:spPr>
          <a:xfrm>
            <a:off x="4288680" y="1874520"/>
            <a:ext cx="3611160" cy="959400"/>
          </a:xfrm>
          <a:prstGeom prst="rect">
            <a:avLst/>
          </a:prstGeom>
          <a:solidFill>
            <a:srgbClr val="1700F3"/>
          </a:solidFill>
          <a:ln>
            <a:noFill/>
          </a:ln>
        </p:spPr>
        <p:style>
          <a:lnRef idx="1">
            <a:schemeClr val="accent1"/>
          </a:lnRef>
          <a:fillRef idx="3">
            <a:schemeClr val="accent1"/>
          </a:fillRef>
          <a:effectRef idx="2">
            <a:schemeClr val="accent1"/>
          </a:effectRef>
          <a:fontRef idx="minor"/>
        </p:style>
        <p:txBody>
          <a:bodyPr lIns="73080" tIns="27360" rIns="73080" bIns="27360" anchor="ctr">
            <a:noAutofit/>
          </a:bodyPr>
          <a:lstStyle/>
          <a:p>
            <a:pPr algn="ctr" defTabSz="914400">
              <a:lnSpc>
                <a:spcPct val="100000"/>
              </a:lnSpc>
            </a:pPr>
            <a:r>
              <a:rPr lang="en-US" sz="2200" b="1" strike="noStrike" spc="197">
                <a:solidFill>
                  <a:srgbClr val="FFFFFF"/>
                </a:solidFill>
                <a:latin typeface="Avenir Next LT Pro"/>
              </a:rPr>
              <a:t>PASO 2</a:t>
            </a:r>
            <a:endParaRPr lang="es-AR" sz="2200" b="0" strike="noStrike" spc="-1">
              <a:solidFill>
                <a:srgbClr val="FFFFFF"/>
              </a:solidFill>
              <a:latin typeface="Arial"/>
            </a:endParaRPr>
          </a:p>
          <a:p>
            <a:pPr algn="ctr" defTabSz="914400">
              <a:lnSpc>
                <a:spcPct val="100000"/>
              </a:lnSpc>
            </a:pPr>
            <a:r>
              <a:rPr lang="en-US" sz="1300" b="0" strike="noStrike" spc="-1">
                <a:solidFill>
                  <a:srgbClr val="FFFFFF"/>
                </a:solidFill>
                <a:latin typeface="Avenir Next LT Pro"/>
              </a:rPr>
              <a:t>Prioridad operativa</a:t>
            </a:r>
            <a:endParaRPr lang="es-AR" sz="1300" b="0" strike="noStrike" spc="-1">
              <a:solidFill>
                <a:srgbClr val="FFFFFF"/>
              </a:solidFill>
              <a:latin typeface="Arial"/>
            </a:endParaRPr>
          </a:p>
        </p:txBody>
      </p:sp>
      <p:sp>
        <p:nvSpPr>
          <p:cNvPr id="564" name="g2_cuerpo"/>
          <p:cNvSpPr/>
          <p:nvPr/>
        </p:nvSpPr>
        <p:spPr>
          <a:xfrm>
            <a:off x="4288680" y="2834640"/>
            <a:ext cx="3611160" cy="2605320"/>
          </a:xfrm>
          <a:prstGeom prst="rect">
            <a:avLst/>
          </a:prstGeom>
          <a:noFill/>
          <a:ln w="12700">
            <a:solidFill>
              <a:srgbClr val="B9BCBD"/>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565" name="g2_dato"/>
          <p:cNvSpPr/>
          <p:nvPr/>
        </p:nvSpPr>
        <p:spPr>
          <a:xfrm>
            <a:off x="4471560" y="3154680"/>
            <a:ext cx="3245400" cy="304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2000" b="0" strike="noStrike" spc="-1">
                <a:solidFill>
                  <a:srgbClr val="1700F3"/>
                </a:solidFill>
                <a:latin typeface="Avenir Next LT Pro"/>
              </a:rPr>
              <a:t>Alto + medio: 50 %</a:t>
            </a:r>
            <a:endParaRPr lang="es-AR" sz="2000" b="0" strike="noStrike" spc="-1">
              <a:solidFill>
                <a:srgbClr val="000000"/>
              </a:solidFill>
              <a:latin typeface="Arial"/>
            </a:endParaRPr>
          </a:p>
        </p:txBody>
      </p:sp>
      <p:sp>
        <p:nvSpPr>
          <p:cNvPr id="566" name="g2_desc"/>
          <p:cNvSpPr/>
          <p:nvPr/>
        </p:nvSpPr>
        <p:spPr>
          <a:xfrm>
            <a:off x="4471606" y="3667125"/>
            <a:ext cx="3245358" cy="166687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500" b="0" strike="noStrike" spc="-1">
                <a:solidFill>
                  <a:srgbClr val="00095B"/>
                </a:solidFill>
                <a:latin typeface="Avenir Next LT Pro"/>
              </a:rPr>
              <a:t>Sin turno, con al menos 14 días</a:t>
            </a:r>
            <a:endParaRPr lang="es-AR" sz="1500" b="0" strike="noStrike" spc="-1">
              <a:solidFill>
                <a:srgbClr val="000000"/>
              </a:solidFill>
              <a:latin typeface="Arial"/>
            </a:endParaRPr>
          </a:p>
          <a:p>
            <a:pPr algn="ctr" defTabSz="914400">
              <a:lnSpc>
                <a:spcPct val="100000"/>
              </a:lnSpc>
            </a:pPr>
            <a:r>
              <a:rPr lang="en-US" sz="1500" b="0" strike="noStrike" spc="-1">
                <a:solidFill>
                  <a:srgbClr val="00095B"/>
                </a:solidFill>
                <a:latin typeface="Avenir Next LT Pro"/>
              </a:rPr>
              <a:t>de margen y vínculo previo.</a:t>
            </a:r>
            <a:endParaRPr lang="es-AR" sz="1500" b="0" strike="noStrike" spc="-1">
              <a:solidFill>
                <a:srgbClr val="000000"/>
              </a:solidFill>
              <a:latin typeface="Arial"/>
            </a:endParaRPr>
          </a:p>
          <a:p>
            <a:pPr algn="ctr" defTabSz="914400">
              <a:lnSpc>
                <a:spcPct val="100000"/>
              </a:lnSpc>
            </a:pPr>
            <a:r>
              <a:rPr lang="en-US" sz="1500" b="0" strike="noStrike" spc="-1">
                <a:solidFill>
                  <a:srgbClr val="00095B"/>
                </a:solidFill>
                <a:latin typeface="Avenir Next LT Pro"/>
              </a:rPr>
              <a:t>Sin evidencia, deriva a revisión.</a:t>
            </a:r>
            <a:endParaRPr lang="es-AR" sz="1500" b="0" strike="noStrike" spc="-1">
              <a:solidFill>
                <a:srgbClr val="000000"/>
              </a:solidFill>
              <a:latin typeface="Arial"/>
            </a:endParaRPr>
          </a:p>
          <a:p>
            <a:pPr algn="ctr" defTabSz="914400">
              <a:lnSpc>
                <a:spcPct val="100000"/>
              </a:lnSpc>
            </a:pPr>
            <a:r>
              <a:rPr lang="en-US" sz="1500" b="0" strike="noStrike" spc="-1">
                <a:solidFill>
                  <a:srgbClr val="00095B"/>
                </a:solidFill>
                <a:latin typeface="Avenir Next LT Pro"/>
              </a:rPr>
              <a:t>Ordena por señales SHAP,</a:t>
            </a:r>
            <a:endParaRPr lang="es-AR" sz="1500" b="0" strike="noStrike" spc="-1">
              <a:solidFill>
                <a:srgbClr val="000000"/>
              </a:solidFill>
              <a:latin typeface="Arial"/>
            </a:endParaRPr>
          </a:p>
          <a:p>
            <a:pPr algn="ctr" defTabSz="914400">
              <a:lnSpc>
                <a:spcPct val="100000"/>
              </a:lnSpc>
            </a:pPr>
            <a:r>
              <a:rPr lang="en-US" sz="1500" b="0" strike="noStrike" spc="-1">
                <a:solidFill>
                  <a:srgbClr val="00095B"/>
                </a:solidFill>
                <a:latin typeface="Avenir Next LT Pro"/>
              </a:rPr>
              <a:t>vínculo reciente y riesgo.</a:t>
            </a:r>
            <a:endParaRPr lang="es-AR" sz="1500" b="0" strike="noStrike" spc="-1">
              <a:solidFill>
                <a:srgbClr val="000000"/>
              </a:solidFill>
              <a:latin typeface="Arial"/>
            </a:endParaRPr>
          </a:p>
        </p:txBody>
      </p:sp>
      <p:sp>
        <p:nvSpPr>
          <p:cNvPr id="567" name="g3_head"/>
          <p:cNvSpPr/>
          <p:nvPr/>
        </p:nvSpPr>
        <p:spPr>
          <a:xfrm>
            <a:off x="8202240" y="1874520"/>
            <a:ext cx="3611160" cy="959400"/>
          </a:xfrm>
          <a:prstGeom prst="rect">
            <a:avLst/>
          </a:prstGeom>
          <a:solidFill>
            <a:srgbClr val="F3F3F3"/>
          </a:solidFill>
          <a:ln w="12700">
            <a:solidFill>
              <a:srgbClr val="B9BCBD"/>
            </a:solidFill>
          </a:ln>
        </p:spPr>
        <p:style>
          <a:lnRef idx="1">
            <a:schemeClr val="accent1"/>
          </a:lnRef>
          <a:fillRef idx="3">
            <a:schemeClr val="accent1"/>
          </a:fillRef>
          <a:effectRef idx="2">
            <a:schemeClr val="accent1"/>
          </a:effectRef>
          <a:fontRef idx="minor"/>
        </p:style>
        <p:txBody>
          <a:bodyPr lIns="73080" tIns="27360" rIns="73080" bIns="27360" anchor="ctr">
            <a:noAutofit/>
          </a:bodyPr>
          <a:lstStyle/>
          <a:p>
            <a:pPr algn="ctr" defTabSz="914400">
              <a:lnSpc>
                <a:spcPct val="100000"/>
              </a:lnSpc>
            </a:pPr>
            <a:r>
              <a:rPr lang="en-US" sz="2200" b="1" strike="noStrike" spc="197">
                <a:solidFill>
                  <a:srgbClr val="00095B"/>
                </a:solidFill>
                <a:latin typeface="Avenir Next LT Pro"/>
              </a:rPr>
              <a:t>SALIDA</a:t>
            </a:r>
            <a:endParaRPr lang="es-AR" sz="2200" b="0" strike="noStrike" spc="-1">
              <a:solidFill>
                <a:srgbClr val="000000"/>
              </a:solidFill>
              <a:latin typeface="Arial"/>
            </a:endParaRPr>
          </a:p>
          <a:p>
            <a:pPr algn="ctr" defTabSz="914400">
              <a:lnSpc>
                <a:spcPct val="100000"/>
              </a:lnSpc>
            </a:pPr>
            <a:r>
              <a:rPr lang="en-US" sz="1300" b="0" strike="noStrike" spc="-1">
                <a:solidFill>
                  <a:srgbClr val="00095B"/>
                </a:solidFill>
                <a:latin typeface="Avenir Next LT Pro"/>
              </a:rPr>
              <a:t>Un contacto por cliente</a:t>
            </a:r>
            <a:endParaRPr lang="es-AR" sz="1300" b="0" strike="noStrike" spc="-1">
              <a:solidFill>
                <a:srgbClr val="000000"/>
              </a:solidFill>
              <a:latin typeface="Arial"/>
            </a:endParaRPr>
          </a:p>
        </p:txBody>
      </p:sp>
      <p:sp>
        <p:nvSpPr>
          <p:cNvPr id="568" name="g3_cuerpo"/>
          <p:cNvSpPr/>
          <p:nvPr/>
        </p:nvSpPr>
        <p:spPr>
          <a:xfrm>
            <a:off x="8202240" y="2834640"/>
            <a:ext cx="3611160" cy="2605320"/>
          </a:xfrm>
          <a:prstGeom prst="rect">
            <a:avLst/>
          </a:prstGeom>
          <a:noFill/>
          <a:ln w="12700">
            <a:solidFill>
              <a:srgbClr val="B9BCBD"/>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569" name="g3_dato"/>
          <p:cNvSpPr/>
          <p:nvPr/>
        </p:nvSpPr>
        <p:spPr>
          <a:xfrm>
            <a:off x="8385120" y="3154680"/>
            <a:ext cx="3245400" cy="304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2000" b="0" strike="noStrike" spc="-1">
                <a:solidFill>
                  <a:srgbClr val="00095B"/>
                </a:solidFill>
                <a:latin typeface="Avenir Next LT Pro"/>
              </a:rPr>
              <a:t>Lista priorizada</a:t>
            </a:r>
            <a:endParaRPr lang="es-AR" sz="2000" b="0" strike="noStrike" spc="-1">
              <a:solidFill>
                <a:srgbClr val="000000"/>
              </a:solidFill>
              <a:latin typeface="Arial"/>
            </a:endParaRPr>
          </a:p>
        </p:txBody>
      </p:sp>
      <p:sp>
        <p:nvSpPr>
          <p:cNvPr id="570" name="g3_desc"/>
          <p:cNvSpPr/>
          <p:nvPr/>
        </p:nvSpPr>
        <p:spPr>
          <a:xfrm>
            <a:off x="8385143" y="3857625"/>
            <a:ext cx="3245358" cy="142875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500" b="0" strike="noStrike" spc="-1">
                <a:solidFill>
                  <a:srgbClr val="00095B"/>
                </a:solidFill>
                <a:latin typeface="Avenir Next LT Pro"/>
              </a:rPr>
              <a:t>customer_id, vehicle_id y fecha.</a:t>
            </a:r>
            <a:endParaRPr lang="es-AR" sz="1500" b="0" strike="noStrike" spc="-1">
              <a:solidFill>
                <a:srgbClr val="000000"/>
              </a:solidFill>
              <a:latin typeface="Arial"/>
            </a:endParaRPr>
          </a:p>
          <a:p>
            <a:pPr algn="ctr" defTabSz="914400">
              <a:lnSpc>
                <a:spcPct val="100000"/>
              </a:lnSpc>
            </a:pPr>
            <a:r>
              <a:rPr lang="en-US" sz="1500" b="0" strike="noStrike" spc="-1">
                <a:solidFill>
                  <a:srgbClr val="00095B"/>
                </a:solidFill>
                <a:latin typeface="Avenir Next LT Pro"/>
              </a:rPr>
              <a:t>Riesgo original, grupo y 3 SHAP.</a:t>
            </a:r>
            <a:endParaRPr lang="es-AR" sz="1500" b="0" strike="noStrike" spc="-1">
              <a:solidFill>
                <a:srgbClr val="000000"/>
              </a:solidFill>
              <a:latin typeface="Arial"/>
            </a:endParaRPr>
          </a:p>
          <a:p>
            <a:pPr algn="ctr" defTabSz="914400">
              <a:lnSpc>
                <a:spcPct val="100000"/>
              </a:lnSpc>
            </a:pPr>
            <a:r>
              <a:rPr lang="en-US" sz="1500" b="0" strike="noStrike" spc="-1">
                <a:solidFill>
                  <a:srgbClr val="00095B"/>
                </a:solidFill>
                <a:latin typeface="Avenir Next LT Pro"/>
              </a:rPr>
              <a:t>Estado y motivos operativos.</a:t>
            </a:r>
            <a:endParaRPr lang="es-AR" sz="1500" b="0" strike="noStrike" spc="-1">
              <a:solidFill>
                <a:srgbClr val="000000"/>
              </a:solidFill>
              <a:latin typeface="Arial"/>
            </a:endParaRPr>
          </a:p>
        </p:txBody>
      </p:sp>
      <p:sp>
        <p:nvSpPr>
          <p:cNvPr id="571" name="reglas"/>
          <p:cNvSpPr/>
          <p:nvPr/>
        </p:nvSpPr>
        <p:spPr>
          <a:xfrm>
            <a:off x="374760" y="5669280"/>
            <a:ext cx="11429280" cy="21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400" b="0" strike="noStrike" spc="-1">
                <a:solidFill>
                  <a:srgbClr val="00095B"/>
                </a:solidFill>
                <a:latin typeface="Avenir Next LT Pro"/>
              </a:rPr>
              <a:t>Un vehículo elegible por cliente evita duplicar el contacto. El filtro no mide el efecto del contacto.</a:t>
            </a:r>
            <a:endParaRPr lang="es-AR" sz="1400" b="0" strike="noStrike" spc="-1">
              <a:solidFill>
                <a:srgbClr val="000000"/>
              </a:solidFill>
              <a:latin typeface="Arial"/>
            </a:endParaRPr>
          </a:p>
        </p:txBody>
      </p:sp>
      <p:sp>
        <p:nvSpPr>
          <p:cNvPr id="572"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Teodoro Samaan Piroli</a:t>
            </a:r>
            <a:endParaRPr lang="es-AR" sz="10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559"/>
                                        </p:tgtEl>
                                        <p:attrNameLst>
                                          <p:attrName>style.visibility</p:attrName>
                                        </p:attrNameLst>
                                      </p:cBhvr>
                                      <p:to>
                                        <p:strVal val="visible"/>
                                      </p:to>
                                    </p:set>
                                    <p:animEffect transition="in" filter="fade">
                                      <p:cBhvr additive="repl">
                                        <p:cTn id="7" dur="500"/>
                                        <p:tgtEl>
                                          <p:spTgt spid="559"/>
                                        </p:tgtEl>
                                      </p:cBhvr>
                                    </p:animEffect>
                                  </p:childTnLst>
                                </p:cTn>
                              </p:par>
                              <p:par>
                                <p:cTn id="8" presetID="10" presetClass="entr" fill="hold" nodeType="withEffect">
                                  <p:stCondLst>
                                    <p:cond delay="0"/>
                                  </p:stCondLst>
                                  <p:childTnLst>
                                    <p:set>
                                      <p:cBhvr>
                                        <p:cTn id="9" dur="1" fill="hold">
                                          <p:stCondLst>
                                            <p:cond delay="0"/>
                                          </p:stCondLst>
                                        </p:cTn>
                                        <p:tgtEl>
                                          <p:spTgt spid="560"/>
                                        </p:tgtEl>
                                        <p:attrNameLst>
                                          <p:attrName>style.visibility</p:attrName>
                                        </p:attrNameLst>
                                      </p:cBhvr>
                                      <p:to>
                                        <p:strVal val="visible"/>
                                      </p:to>
                                    </p:set>
                                    <p:animEffect transition="in" filter="fade">
                                      <p:cBhvr additive="repl">
                                        <p:cTn id="10" dur="500"/>
                                        <p:tgtEl>
                                          <p:spTgt spid="560"/>
                                        </p:tgtEl>
                                      </p:cBhvr>
                                    </p:animEffect>
                                  </p:childTnLst>
                                </p:cTn>
                              </p:par>
                              <p:par>
                                <p:cTn id="11" presetID="10" presetClass="entr" fill="hold" nodeType="withEffect">
                                  <p:stCondLst>
                                    <p:cond delay="0"/>
                                  </p:stCondLst>
                                  <p:childTnLst>
                                    <p:set>
                                      <p:cBhvr>
                                        <p:cTn id="12" dur="1" fill="hold">
                                          <p:stCondLst>
                                            <p:cond delay="0"/>
                                          </p:stCondLst>
                                        </p:cTn>
                                        <p:tgtEl>
                                          <p:spTgt spid="561"/>
                                        </p:tgtEl>
                                        <p:attrNameLst>
                                          <p:attrName>style.visibility</p:attrName>
                                        </p:attrNameLst>
                                      </p:cBhvr>
                                      <p:to>
                                        <p:strVal val="visible"/>
                                      </p:to>
                                    </p:set>
                                    <p:animEffect transition="in" filter="fade">
                                      <p:cBhvr additive="repl">
                                        <p:cTn id="13" dur="500"/>
                                        <p:tgtEl>
                                          <p:spTgt spid="561"/>
                                        </p:tgtEl>
                                      </p:cBhvr>
                                    </p:animEffect>
                                  </p:childTnLst>
                                </p:cTn>
                              </p:par>
                              <p:par>
                                <p:cTn id="14" presetID="10" presetClass="entr" fill="hold" nodeType="withEffect">
                                  <p:stCondLst>
                                    <p:cond delay="0"/>
                                  </p:stCondLst>
                                  <p:childTnLst>
                                    <p:set>
                                      <p:cBhvr>
                                        <p:cTn id="15" dur="1" fill="hold">
                                          <p:stCondLst>
                                            <p:cond delay="0"/>
                                          </p:stCondLst>
                                        </p:cTn>
                                        <p:tgtEl>
                                          <p:spTgt spid="562"/>
                                        </p:tgtEl>
                                        <p:attrNameLst>
                                          <p:attrName>style.visibility</p:attrName>
                                        </p:attrNameLst>
                                      </p:cBhvr>
                                      <p:to>
                                        <p:strVal val="visible"/>
                                      </p:to>
                                    </p:set>
                                    <p:animEffect transition="in" filter="fade">
                                      <p:cBhvr additive="repl">
                                        <p:cTn id="16" dur="500"/>
                                        <p:tgtEl>
                                          <p:spTgt spid="56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fill="hold" nodeType="clickEffect">
                                  <p:stCondLst>
                                    <p:cond delay="0"/>
                                  </p:stCondLst>
                                  <p:childTnLst>
                                    <p:set>
                                      <p:cBhvr>
                                        <p:cTn id="20" dur="1" fill="hold">
                                          <p:stCondLst>
                                            <p:cond delay="0"/>
                                          </p:stCondLst>
                                        </p:cTn>
                                        <p:tgtEl>
                                          <p:spTgt spid="563"/>
                                        </p:tgtEl>
                                        <p:attrNameLst>
                                          <p:attrName>style.visibility</p:attrName>
                                        </p:attrNameLst>
                                      </p:cBhvr>
                                      <p:to>
                                        <p:strVal val="visible"/>
                                      </p:to>
                                    </p:set>
                                    <p:animEffect transition="in" filter="fade">
                                      <p:cBhvr additive="repl">
                                        <p:cTn id="21" dur="500"/>
                                        <p:tgtEl>
                                          <p:spTgt spid="563"/>
                                        </p:tgtEl>
                                      </p:cBhvr>
                                    </p:animEffect>
                                  </p:childTnLst>
                                </p:cTn>
                              </p:par>
                              <p:par>
                                <p:cTn id="22" presetID="10" presetClass="entr" fill="hold" nodeType="withEffect">
                                  <p:stCondLst>
                                    <p:cond delay="0"/>
                                  </p:stCondLst>
                                  <p:childTnLst>
                                    <p:set>
                                      <p:cBhvr>
                                        <p:cTn id="23" dur="1" fill="hold">
                                          <p:stCondLst>
                                            <p:cond delay="0"/>
                                          </p:stCondLst>
                                        </p:cTn>
                                        <p:tgtEl>
                                          <p:spTgt spid="564"/>
                                        </p:tgtEl>
                                        <p:attrNameLst>
                                          <p:attrName>style.visibility</p:attrName>
                                        </p:attrNameLst>
                                      </p:cBhvr>
                                      <p:to>
                                        <p:strVal val="visible"/>
                                      </p:to>
                                    </p:set>
                                    <p:animEffect transition="in" filter="fade">
                                      <p:cBhvr additive="repl">
                                        <p:cTn id="24" dur="500"/>
                                        <p:tgtEl>
                                          <p:spTgt spid="564"/>
                                        </p:tgtEl>
                                      </p:cBhvr>
                                    </p:animEffect>
                                  </p:childTnLst>
                                </p:cTn>
                              </p:par>
                              <p:par>
                                <p:cTn id="25" presetID="10" presetClass="entr" fill="hold" nodeType="withEffect">
                                  <p:stCondLst>
                                    <p:cond delay="0"/>
                                  </p:stCondLst>
                                  <p:childTnLst>
                                    <p:set>
                                      <p:cBhvr>
                                        <p:cTn id="26" dur="1" fill="hold">
                                          <p:stCondLst>
                                            <p:cond delay="0"/>
                                          </p:stCondLst>
                                        </p:cTn>
                                        <p:tgtEl>
                                          <p:spTgt spid="565"/>
                                        </p:tgtEl>
                                        <p:attrNameLst>
                                          <p:attrName>style.visibility</p:attrName>
                                        </p:attrNameLst>
                                      </p:cBhvr>
                                      <p:to>
                                        <p:strVal val="visible"/>
                                      </p:to>
                                    </p:set>
                                    <p:animEffect transition="in" filter="fade">
                                      <p:cBhvr additive="repl">
                                        <p:cTn id="27" dur="500"/>
                                        <p:tgtEl>
                                          <p:spTgt spid="565"/>
                                        </p:tgtEl>
                                      </p:cBhvr>
                                    </p:animEffect>
                                  </p:childTnLst>
                                </p:cTn>
                              </p:par>
                              <p:par>
                                <p:cTn id="28" presetID="10" presetClass="entr" fill="hold" nodeType="withEffect">
                                  <p:stCondLst>
                                    <p:cond delay="0"/>
                                  </p:stCondLst>
                                  <p:childTnLst>
                                    <p:set>
                                      <p:cBhvr>
                                        <p:cTn id="29" dur="1" fill="hold">
                                          <p:stCondLst>
                                            <p:cond delay="0"/>
                                          </p:stCondLst>
                                        </p:cTn>
                                        <p:tgtEl>
                                          <p:spTgt spid="566"/>
                                        </p:tgtEl>
                                        <p:attrNameLst>
                                          <p:attrName>style.visibility</p:attrName>
                                        </p:attrNameLst>
                                      </p:cBhvr>
                                      <p:to>
                                        <p:strVal val="visible"/>
                                      </p:to>
                                    </p:set>
                                    <p:animEffect transition="in" filter="fade">
                                      <p:cBhvr additive="repl">
                                        <p:cTn id="30" dur="500"/>
                                        <p:tgtEl>
                                          <p:spTgt spid="56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fill="hold" nodeType="clickEffect">
                                  <p:stCondLst>
                                    <p:cond delay="0"/>
                                  </p:stCondLst>
                                  <p:childTnLst>
                                    <p:set>
                                      <p:cBhvr>
                                        <p:cTn id="34" dur="1" fill="hold">
                                          <p:stCondLst>
                                            <p:cond delay="0"/>
                                          </p:stCondLst>
                                        </p:cTn>
                                        <p:tgtEl>
                                          <p:spTgt spid="567"/>
                                        </p:tgtEl>
                                        <p:attrNameLst>
                                          <p:attrName>style.visibility</p:attrName>
                                        </p:attrNameLst>
                                      </p:cBhvr>
                                      <p:to>
                                        <p:strVal val="visible"/>
                                      </p:to>
                                    </p:set>
                                    <p:animEffect transition="in" filter="fade">
                                      <p:cBhvr additive="repl">
                                        <p:cTn id="35" dur="500"/>
                                        <p:tgtEl>
                                          <p:spTgt spid="567"/>
                                        </p:tgtEl>
                                      </p:cBhvr>
                                    </p:animEffect>
                                  </p:childTnLst>
                                </p:cTn>
                              </p:par>
                              <p:par>
                                <p:cTn id="36" presetID="10" presetClass="entr" fill="hold" nodeType="withEffect">
                                  <p:stCondLst>
                                    <p:cond delay="0"/>
                                  </p:stCondLst>
                                  <p:childTnLst>
                                    <p:set>
                                      <p:cBhvr>
                                        <p:cTn id="37" dur="1" fill="hold">
                                          <p:stCondLst>
                                            <p:cond delay="0"/>
                                          </p:stCondLst>
                                        </p:cTn>
                                        <p:tgtEl>
                                          <p:spTgt spid="568"/>
                                        </p:tgtEl>
                                        <p:attrNameLst>
                                          <p:attrName>style.visibility</p:attrName>
                                        </p:attrNameLst>
                                      </p:cBhvr>
                                      <p:to>
                                        <p:strVal val="visible"/>
                                      </p:to>
                                    </p:set>
                                    <p:animEffect transition="in" filter="fade">
                                      <p:cBhvr additive="repl">
                                        <p:cTn id="38" dur="500"/>
                                        <p:tgtEl>
                                          <p:spTgt spid="568"/>
                                        </p:tgtEl>
                                      </p:cBhvr>
                                    </p:animEffect>
                                  </p:childTnLst>
                                </p:cTn>
                              </p:par>
                              <p:par>
                                <p:cTn id="39" presetID="10" presetClass="entr" fill="hold" nodeType="withEffect">
                                  <p:stCondLst>
                                    <p:cond delay="0"/>
                                  </p:stCondLst>
                                  <p:childTnLst>
                                    <p:set>
                                      <p:cBhvr>
                                        <p:cTn id="40" dur="1" fill="hold">
                                          <p:stCondLst>
                                            <p:cond delay="0"/>
                                          </p:stCondLst>
                                        </p:cTn>
                                        <p:tgtEl>
                                          <p:spTgt spid="569"/>
                                        </p:tgtEl>
                                        <p:attrNameLst>
                                          <p:attrName>style.visibility</p:attrName>
                                        </p:attrNameLst>
                                      </p:cBhvr>
                                      <p:to>
                                        <p:strVal val="visible"/>
                                      </p:to>
                                    </p:set>
                                    <p:animEffect transition="in" filter="fade">
                                      <p:cBhvr additive="repl">
                                        <p:cTn id="41" dur="500"/>
                                        <p:tgtEl>
                                          <p:spTgt spid="569"/>
                                        </p:tgtEl>
                                      </p:cBhvr>
                                    </p:animEffect>
                                  </p:childTnLst>
                                </p:cTn>
                              </p:par>
                              <p:par>
                                <p:cTn id="42" presetID="10" presetClass="entr" fill="hold" nodeType="withEffect">
                                  <p:stCondLst>
                                    <p:cond delay="0"/>
                                  </p:stCondLst>
                                  <p:childTnLst>
                                    <p:set>
                                      <p:cBhvr>
                                        <p:cTn id="43" dur="1" fill="hold">
                                          <p:stCondLst>
                                            <p:cond delay="0"/>
                                          </p:stCondLst>
                                        </p:cTn>
                                        <p:tgtEl>
                                          <p:spTgt spid="570"/>
                                        </p:tgtEl>
                                        <p:attrNameLst>
                                          <p:attrName>style.visibility</p:attrName>
                                        </p:attrNameLst>
                                      </p:cBhvr>
                                      <p:to>
                                        <p:strVal val="visible"/>
                                      </p:to>
                                    </p:set>
                                    <p:animEffect transition="in" filter="fade">
                                      <p:cBhvr additive="repl">
                                        <p:cTn id="44" dur="500"/>
                                        <p:tgtEl>
                                          <p:spTgt spid="57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fill="hold" nodeType="clickEffect">
                                  <p:stCondLst>
                                    <p:cond delay="0"/>
                                  </p:stCondLst>
                                  <p:childTnLst>
                                    <p:set>
                                      <p:cBhvr>
                                        <p:cTn id="48" dur="1" fill="hold">
                                          <p:stCondLst>
                                            <p:cond delay="0"/>
                                          </p:stCondLst>
                                        </p:cTn>
                                        <p:tgtEl>
                                          <p:spTgt spid="571"/>
                                        </p:tgtEl>
                                        <p:attrNameLst>
                                          <p:attrName>style.visibility</p:attrName>
                                        </p:attrNameLst>
                                      </p:cBhvr>
                                      <p:to>
                                        <p:strVal val="visible"/>
                                      </p:to>
                                    </p:set>
                                    <p:animEffect transition="in" filter="fade">
                                      <p:cBhvr additive="repl">
                                        <p:cTn id="49" dur="500"/>
                                        <p:tgtEl>
                                          <p:spTgt spid="5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 name="PlaceHolder 1"/>
          <p:cNvSpPr>
            <a:spLocks noGrp="1"/>
          </p:cNvSpPr>
          <p:nvPr>
            <p:ph type="title"/>
          </p:nvPr>
        </p:nvSpPr>
        <p:spPr>
          <a:xfrm>
            <a:off x="996840" y="3033000"/>
            <a:ext cx="10524240" cy="395280"/>
          </a:xfrm>
          <a:prstGeom prst="rect">
            <a:avLst/>
          </a:prstGeom>
          <a:noFill/>
          <a:ln w="0">
            <a:noFill/>
          </a:ln>
        </p:spPr>
        <p:txBody>
          <a:bodyPr lIns="0" tIns="45720" rIns="91440" bIns="45720" anchor="t">
            <a:noAutofit/>
          </a:bodyPr>
          <a:lstStyle/>
          <a:p>
            <a:pPr indent="0" defTabSz="914400">
              <a:lnSpc>
                <a:spcPct val="100000"/>
              </a:lnSpc>
              <a:buNone/>
              <a:tabLst>
                <a:tab pos="0" algn="l"/>
              </a:tabLst>
            </a:pPr>
            <a:r>
              <a:rPr lang="en-US" sz="2400" b="0" strike="noStrike" spc="35">
                <a:solidFill>
                  <a:schemeClr val="dk1"/>
                </a:solidFill>
                <a:latin typeface="Avenir Next LT Pro"/>
                <a:ea typeface="Avenir Next"/>
              </a:rPr>
              <a:t>Factibilidad económica</a:t>
            </a:r>
            <a:endParaRPr lang="es-AR" sz="2400" b="0" strike="noStrike" spc="-1">
              <a:solidFill>
                <a:srgbClr val="000000"/>
              </a:solidFill>
              <a:latin typeface="Arial"/>
            </a:endParaRPr>
          </a:p>
        </p:txBody>
      </p:sp>
      <p:sp>
        <p:nvSpPr>
          <p:cNvPr id="574" name="PlaceHolder 2"/>
          <p:cNvSpPr>
            <a:spLocks noGrp="1"/>
          </p:cNvSpPr>
          <p:nvPr>
            <p:ph/>
          </p:nvPr>
        </p:nvSpPr>
        <p:spPr>
          <a:xfrm>
            <a:off x="996840" y="3584520"/>
            <a:ext cx="10514880" cy="438840"/>
          </a:xfrm>
          <a:prstGeom prst="rect">
            <a:avLst/>
          </a:prstGeom>
          <a:noFill/>
          <a:ln w="0">
            <a:noFill/>
          </a:ln>
        </p:spPr>
        <p:txBody>
          <a:bodyPr lIns="0" tIns="45720" rIns="91440" bIns="45720" anchor="t">
            <a:noAutofit/>
          </a:bodyPr>
          <a:lstStyle/>
          <a:p>
            <a:pPr indent="0" defTabSz="914400">
              <a:lnSpc>
                <a:spcPct val="90000"/>
              </a:lnSpc>
              <a:spcBef>
                <a:spcPts val="1001"/>
              </a:spcBef>
              <a:buNone/>
              <a:tabLst>
                <a:tab pos="0" algn="l"/>
              </a:tabLst>
            </a:pPr>
            <a:r>
              <a:rPr lang="en-US" sz="1200" b="0" strike="noStrike" spc="55">
                <a:solidFill>
                  <a:schemeClr val="dk1"/>
                </a:solidFill>
                <a:latin typeface="Avenir Next LT Pro"/>
                <a:ea typeface="Avenir Next"/>
              </a:rPr>
              <a:t>Mismo esfuerzo, más services</a:t>
            </a:r>
            <a:endParaRPr lang="es-AR" sz="1200" b="0" strike="noStrike" spc="-1">
              <a:solidFill>
                <a:srgbClr val="000000"/>
              </a:solidFill>
              <a:latin typeface="Arial"/>
            </a:endParaRPr>
          </a:p>
        </p:txBody>
      </p:sp>
      <p:sp>
        <p:nvSpPr>
          <p:cNvPr id="575" name="PlaceHolder 3"/>
          <p:cNvSpPr>
            <a:spLocks noGrp="1"/>
          </p:cNvSpPr>
          <p:nvPr>
            <p:ph/>
          </p:nvPr>
        </p:nvSpPr>
        <p:spPr>
          <a:xfrm>
            <a:off x="996840" y="1550520"/>
            <a:ext cx="1470960" cy="1102680"/>
          </a:xfrm>
          <a:prstGeom prst="rect">
            <a:avLst/>
          </a:prstGeom>
          <a:noFill/>
          <a:ln w="0">
            <a:noFill/>
          </a:ln>
        </p:spPr>
        <p:txBody>
          <a:bodyPr lIns="0" tIns="45720" rIns="91440" bIns="0" anchor="b">
            <a:noAutofit/>
          </a:bodyPr>
          <a:lstStyle/>
          <a:p>
            <a:pPr indent="0" defTabSz="914400">
              <a:lnSpc>
                <a:spcPct val="90000"/>
              </a:lnSpc>
              <a:spcBef>
                <a:spcPts val="1001"/>
              </a:spcBef>
              <a:buNone/>
              <a:tabLst>
                <a:tab pos="0" algn="l"/>
              </a:tabLst>
            </a:pPr>
            <a:r>
              <a:rPr lang="en-US" sz="3200" b="0" strike="noStrike" spc="46">
                <a:solidFill>
                  <a:schemeClr val="accent1"/>
                </a:solidFill>
                <a:latin typeface="Avenir Next LT Pro"/>
                <a:ea typeface="Avenir Next"/>
              </a:rPr>
              <a:t>03</a:t>
            </a:r>
            <a:endParaRPr lang="es-AR" sz="3200" b="0" strike="noStrike" spc="-1">
              <a:solidFill>
                <a:srgbClr val="000000"/>
              </a:solidFill>
              <a:latin typeface="Arial"/>
            </a:endParaRPr>
          </a:p>
        </p:txBody>
      </p:sp>
      <p:sp>
        <p:nvSpPr>
          <p:cNvPr id="576"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Franco Tomás Malfetano</a:t>
            </a:r>
            <a:endParaRPr lang="es-AR" sz="1000" b="0" strike="noStrike" spc="-1">
              <a:solidFill>
                <a:srgbClr val="000000"/>
              </a:solidFill>
              <a:latin typeface="Arial"/>
            </a:endParaRPr>
          </a:p>
        </p:txBody>
      </p:sp>
      <p:sp>
        <p:nvSpPr>
          <p:cNvPr id="5" name="PlaceHolder 4"/>
          <p:cNvSpPr>
            <a:spLocks noGrp="1"/>
          </p:cNvSpPr>
          <p:nvPr>
            <p:ph type="sldNum" idx="12"/>
          </p:nvPr>
        </p:nvSpPr>
        <p:spPr/>
        <p:txBody>
          <a:bodyPr/>
          <a:lstStyle/>
          <a:p>
            <a:fld id="{F3656372-1FA1-4D17-9B3F-F6A8136DDBC4}" type="slidenum">
              <a:rPr/>
              <a:t>16</a:t>
            </a:fld>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 name="PlaceHolder 1"/>
          <p:cNvSpPr>
            <a:spLocks noGrp="1"/>
          </p:cNvSpPr>
          <p:nvPr>
            <p:ph type="title"/>
          </p:nvPr>
        </p:nvSpPr>
        <p:spPr>
          <a:xfrm>
            <a:off x="374760" y="502920"/>
            <a:ext cx="10514880" cy="1026360"/>
          </a:xfrm>
          <a:prstGeom prst="rect">
            <a:avLst/>
          </a:prstGeom>
          <a:noFill/>
          <a:ln w="0">
            <a:noFill/>
          </a:ln>
        </p:spPr>
        <p:txBody>
          <a:bodyPr lIns="0" tIns="45720" rIns="91440" bIns="45720" anchor="t">
            <a:noAutofit/>
          </a:bodyPr>
          <a:lstStyle/>
          <a:p>
            <a:pPr indent="0" defTabSz="914400">
              <a:lnSpc>
                <a:spcPct val="90000"/>
              </a:lnSpc>
              <a:buNone/>
              <a:tabLst>
                <a:tab pos="0" algn="l"/>
              </a:tabLst>
            </a:pPr>
            <a:r>
              <a:rPr lang="en-US" sz="2400" b="0" strike="noStrike" spc="66">
                <a:solidFill>
                  <a:schemeClr val="dk1"/>
                </a:solidFill>
                <a:latin typeface="Avenir Next LT Pro"/>
                <a:ea typeface="Avenir Next"/>
              </a:rPr>
              <a:t>Mismo esfuerzo, más services recuperados</a:t>
            </a:r>
            <a:endParaRPr lang="es-AR" sz="2400" b="0" strike="noStrike" spc="-1">
              <a:solidFill>
                <a:srgbClr val="000000"/>
              </a:solidFill>
              <a:latin typeface="Arial"/>
            </a:endParaRPr>
          </a:p>
        </p:txBody>
      </p:sp>
      <p:sp>
        <p:nvSpPr>
          <p:cNvPr id="578" name="PlaceHolder 2"/>
          <p:cNvSpPr>
            <a:spLocks noGrp="1"/>
          </p:cNvSpPr>
          <p:nvPr>
            <p:ph/>
          </p:nvPr>
        </p:nvSpPr>
        <p:spPr>
          <a:xfrm>
            <a:off x="394920" y="286920"/>
            <a:ext cx="3901680" cy="215280"/>
          </a:xfrm>
          <a:prstGeom prst="rect">
            <a:avLst/>
          </a:prstGeom>
          <a:noFill/>
          <a:ln w="0">
            <a:noFill/>
          </a:ln>
        </p:spPr>
        <p:txBody>
          <a:bodyPr lIns="0" tIns="45720" rIns="91440" bIns="45720" anchor="t">
            <a:noAutofit/>
          </a:bodyPr>
          <a:lstStyle/>
          <a:p>
            <a:pPr indent="0" defTabSz="914400">
              <a:lnSpc>
                <a:spcPct val="90000"/>
              </a:lnSpc>
              <a:spcBef>
                <a:spcPts val="1001"/>
              </a:spcBef>
              <a:buNone/>
              <a:tabLst>
                <a:tab pos="0" algn="l"/>
              </a:tabLst>
            </a:pPr>
            <a:r>
              <a:rPr lang="en-US" sz="900" b="0" strike="noStrike" cap="all" spc="296">
                <a:solidFill>
                  <a:schemeClr val="accent1"/>
                </a:solidFill>
                <a:latin typeface="Avenir Next LT Pro"/>
                <a:ea typeface="Avenir Next"/>
              </a:rPr>
              <a:t>03 · Factibilidad económica</a:t>
            </a:r>
            <a:endParaRPr lang="es-AR" sz="900" b="0" strike="noStrike" spc="-1">
              <a:solidFill>
                <a:srgbClr val="000000"/>
              </a:solidFill>
              <a:latin typeface="Arial"/>
            </a:endParaRPr>
          </a:p>
        </p:txBody>
      </p:sp>
      <p:sp>
        <p:nvSpPr>
          <p:cNvPr id="579" name="PlaceHolder 3"/>
          <p:cNvSpPr>
            <a:spLocks noGrp="1"/>
          </p:cNvSpPr>
          <p:nvPr>
            <p:ph type="sldNum" idx="67"/>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F620423B-0605-4489-AE66-106DFF7239CD}" type="slidenum">
              <a:rPr lang="en-US" sz="800" b="0" strike="noStrike" spc="-1">
                <a:solidFill>
                  <a:schemeClr val="dk1"/>
                </a:solidFill>
                <a:latin typeface="Avenir Next LT Pro"/>
                <a:ea typeface="Avenir Next"/>
              </a:rPr>
              <a:t>17</a:t>
            </a:fld>
            <a:endParaRPr lang="es-AR" sz="800" b="0" strike="noStrike" spc="-1">
              <a:solidFill>
                <a:srgbClr val="000000"/>
              </a:solidFill>
              <a:latin typeface="Times New Roman"/>
            </a:endParaRPr>
          </a:p>
        </p:txBody>
      </p:sp>
      <p:sp>
        <p:nvSpPr>
          <p:cNvPr id="580" name="num1"/>
          <p:cNvSpPr/>
          <p:nvPr/>
        </p:nvSpPr>
        <p:spPr>
          <a:xfrm>
            <a:off x="374760" y="1737360"/>
            <a:ext cx="3794040" cy="670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4400" b="0" strike="noStrike" spc="-1">
                <a:solidFill>
                  <a:srgbClr val="1700F3"/>
                </a:solidFill>
                <a:latin typeface="Avenir Next LT Pro"/>
              </a:rPr>
              <a:t>+80 %</a:t>
            </a:r>
            <a:endParaRPr lang="es-AR" sz="4400" b="0" strike="noStrike" spc="-1">
              <a:solidFill>
                <a:srgbClr val="000000"/>
              </a:solidFill>
              <a:latin typeface="Arial"/>
            </a:endParaRPr>
          </a:p>
        </p:txBody>
      </p:sp>
      <p:cxnSp>
        <p:nvCxnSpPr>
          <p:cNvPr id="581" name="num1_linea"/>
          <p:cNvCxnSpPr/>
          <p:nvPr/>
        </p:nvCxnSpPr>
        <p:spPr>
          <a:xfrm>
            <a:off x="374760" y="2788920"/>
            <a:ext cx="3384000" cy="720"/>
          </a:xfrm>
          <a:prstGeom prst="straightConnector1">
            <a:avLst/>
          </a:prstGeom>
          <a:ln w="0">
            <a:solidFill>
              <a:srgbClr val="B9BCBD"/>
            </a:solidFill>
          </a:ln>
        </p:spPr>
      </p:cxnSp>
      <p:sp>
        <p:nvSpPr>
          <p:cNvPr id="582" name="num1_txt"/>
          <p:cNvSpPr/>
          <p:nvPr/>
        </p:nvSpPr>
        <p:spPr>
          <a:xfrm>
            <a:off x="374760" y="2926080"/>
            <a:ext cx="3382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600" b="0" strike="noStrike" spc="-1">
                <a:solidFill>
                  <a:srgbClr val="00095B"/>
                </a:solidFill>
                <a:latin typeface="Avenir Next LT Pro"/>
              </a:rPr>
              <a:t>services recuperados con la misma cantidad de contactos</a:t>
            </a:r>
            <a:endParaRPr lang="es-AR" sz="1600" b="0" strike="noStrike" spc="-1">
              <a:solidFill>
                <a:srgbClr val="000000"/>
              </a:solidFill>
              <a:latin typeface="Arial"/>
            </a:endParaRPr>
          </a:p>
        </p:txBody>
      </p:sp>
      <p:sp>
        <p:nvSpPr>
          <p:cNvPr id="583" name="num2"/>
          <p:cNvSpPr/>
          <p:nvPr/>
        </p:nvSpPr>
        <p:spPr>
          <a:xfrm>
            <a:off x="4260960" y="1737360"/>
            <a:ext cx="3794040" cy="670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4400" b="0" strike="noStrike" spc="-1">
                <a:solidFill>
                  <a:srgbClr val="1700F3"/>
                </a:solidFill>
                <a:latin typeface="Avenir Next LT Pro"/>
              </a:rPr>
              <a:t>USD 200 mil</a:t>
            </a:r>
            <a:endParaRPr lang="es-AR" sz="4400" b="0" strike="noStrike" spc="-1">
              <a:solidFill>
                <a:srgbClr val="000000"/>
              </a:solidFill>
              <a:latin typeface="Arial"/>
            </a:endParaRPr>
          </a:p>
        </p:txBody>
      </p:sp>
      <p:cxnSp>
        <p:nvCxnSpPr>
          <p:cNvPr id="584" name="num2_linea"/>
          <p:cNvCxnSpPr/>
          <p:nvPr/>
        </p:nvCxnSpPr>
        <p:spPr>
          <a:xfrm>
            <a:off x="4260960" y="2788920"/>
            <a:ext cx="3384000" cy="720"/>
          </a:xfrm>
          <a:prstGeom prst="straightConnector1">
            <a:avLst/>
          </a:prstGeom>
          <a:ln w="0">
            <a:solidFill>
              <a:srgbClr val="B9BCBD"/>
            </a:solidFill>
          </a:ln>
        </p:spPr>
      </p:cxnSp>
      <p:sp>
        <p:nvSpPr>
          <p:cNvPr id="585" name="num2_txt"/>
          <p:cNvSpPr/>
          <p:nvPr/>
        </p:nvSpPr>
        <p:spPr>
          <a:xfrm>
            <a:off x="4260960" y="2926080"/>
            <a:ext cx="33825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600" b="0" strike="noStrike" spc="-1">
                <a:solidFill>
                  <a:srgbClr val="00095B"/>
                </a:solidFill>
                <a:latin typeface="Avenir Next LT Pro"/>
              </a:rPr>
              <a:t>por año, aproximadamente, de margen adicional, sin contar la próxima compra</a:t>
            </a:r>
            <a:endParaRPr lang="es-AR" sz="1600" b="0" strike="noStrike" spc="-1">
              <a:solidFill>
                <a:srgbClr val="000000"/>
              </a:solidFill>
              <a:latin typeface="Arial"/>
            </a:endParaRPr>
          </a:p>
        </p:txBody>
      </p:sp>
      <p:sp>
        <p:nvSpPr>
          <p:cNvPr id="586" name="num3"/>
          <p:cNvSpPr/>
          <p:nvPr/>
        </p:nvSpPr>
        <p:spPr>
          <a:xfrm>
            <a:off x="8147160" y="1737360"/>
            <a:ext cx="3794040" cy="670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4400" b="0" strike="noStrike" spc="-1">
                <a:solidFill>
                  <a:srgbClr val="1700F3"/>
                </a:solidFill>
                <a:latin typeface="Avenir Next LT Pro"/>
              </a:rPr>
              <a:t>80 a 1</a:t>
            </a:r>
            <a:endParaRPr lang="es-AR" sz="4400" b="0" strike="noStrike" spc="-1">
              <a:solidFill>
                <a:srgbClr val="000000"/>
              </a:solidFill>
              <a:latin typeface="Arial"/>
            </a:endParaRPr>
          </a:p>
        </p:txBody>
      </p:sp>
      <p:cxnSp>
        <p:nvCxnSpPr>
          <p:cNvPr id="587" name="num3_linea"/>
          <p:cNvCxnSpPr/>
          <p:nvPr/>
        </p:nvCxnSpPr>
        <p:spPr>
          <a:xfrm>
            <a:off x="8147160" y="2788920"/>
            <a:ext cx="3384000" cy="720"/>
          </a:xfrm>
          <a:prstGeom prst="straightConnector1">
            <a:avLst/>
          </a:prstGeom>
          <a:ln w="0">
            <a:solidFill>
              <a:srgbClr val="B9BCBD"/>
            </a:solidFill>
          </a:ln>
        </p:spPr>
      </p:cxnSp>
      <p:sp>
        <p:nvSpPr>
          <p:cNvPr id="588" name="num3_txt"/>
          <p:cNvSpPr/>
          <p:nvPr/>
        </p:nvSpPr>
        <p:spPr>
          <a:xfrm>
            <a:off x="8147160" y="2926080"/>
            <a:ext cx="3382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600" b="0" strike="noStrike" spc="-1">
                <a:solidFill>
                  <a:srgbClr val="00095B"/>
                </a:solidFill>
                <a:latin typeface="Avenir Next LT Pro"/>
              </a:rPr>
              <a:t>lo que cuesta no contactar a quien se va, contra contactar de más</a:t>
            </a:r>
            <a:endParaRPr lang="es-AR" sz="1600" b="0" strike="noStrike" spc="-1">
              <a:solidFill>
                <a:srgbClr val="000000"/>
              </a:solidFill>
              <a:latin typeface="Arial"/>
            </a:endParaRPr>
          </a:p>
        </p:txBody>
      </p:sp>
      <p:sp>
        <p:nvSpPr>
          <p:cNvPr id="589" name="inversion"/>
          <p:cNvSpPr/>
          <p:nvPr/>
        </p:nvSpPr>
        <p:spPr>
          <a:xfrm>
            <a:off x="374760" y="4206240"/>
            <a:ext cx="11429280" cy="959400"/>
          </a:xfrm>
          <a:prstGeom prst="rect">
            <a:avLst/>
          </a:prstGeom>
          <a:solidFill>
            <a:srgbClr val="F3F3F3"/>
          </a:solidFill>
          <a:ln>
            <a:noFill/>
          </a:ln>
        </p:spPr>
        <p:style>
          <a:lnRef idx="1">
            <a:schemeClr val="accent1"/>
          </a:lnRef>
          <a:fillRef idx="3">
            <a:schemeClr val="accent1"/>
          </a:fillRef>
          <a:effectRef idx="2">
            <a:schemeClr val="accent1"/>
          </a:effectRef>
          <a:fontRef idx="minor"/>
        </p:style>
        <p:txBody>
          <a:bodyPr lIns="73080" tIns="27360" rIns="73080" bIns="27360" anchor="ctr">
            <a:noAutofit/>
          </a:bodyPr>
          <a:lstStyle/>
          <a:p>
            <a:pPr algn="ctr" defTabSz="914400">
              <a:lnSpc>
                <a:spcPct val="100000"/>
              </a:lnSpc>
            </a:pPr>
            <a:r>
              <a:rPr lang="en-US" sz="2000" b="1" strike="noStrike" spc="-1">
                <a:solidFill>
                  <a:srgbClr val="00095B"/>
                </a:solidFill>
                <a:latin typeface="Avenir Next LT Pro"/>
              </a:rPr>
              <a:t>Inversión: USD 30 a 45 mil el primer año</a:t>
            </a:r>
            <a:r>
              <a:rPr lang="en-US" sz="1800" b="0" strike="noStrike" spc="-1">
                <a:solidFill>
                  <a:srgbClr val="00095B"/>
                </a:solidFill>
                <a:latin typeface="Avenir Next LT Pro"/>
              </a:rPr>
              <a:t>   ·   se recupera en el primer trimestre de operación</a:t>
            </a:r>
            <a:endParaRPr lang="es-AR" sz="1800" b="0" strike="noStrike" spc="-1">
              <a:solidFill>
                <a:srgbClr val="000000"/>
              </a:solidFill>
              <a:latin typeface="Arial"/>
            </a:endParaRPr>
          </a:p>
        </p:txBody>
      </p:sp>
      <p:sp>
        <p:nvSpPr>
          <p:cNvPr id="590" name="supuestos"/>
          <p:cNvSpPr/>
          <p:nvPr/>
        </p:nvSpPr>
        <p:spPr>
          <a:xfrm>
            <a:off x="374760" y="5440680"/>
            <a:ext cx="11429280" cy="33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100" b="0" strike="noStrike" spc="-1">
                <a:solidFill>
                  <a:srgbClr val="7F7F7F"/>
                </a:solidFill>
                <a:latin typeface="Avenir Next LT Pro"/>
              </a:rPr>
              <a:t>Supuestos declarados y editables por Posventa: un contacto recupera al 15 % de los que se iban, un service retenido vale USD 250 y un contacto cuesta USD 3. Sigue siendo rentable si el contacto recupera sólo al 5 % y el service vale USD 100. Cifras para el 20 % de mayor riesgo.</a:t>
            </a:r>
            <a:endParaRPr lang="es-AR" sz="1100" b="0" strike="noStrike" spc="-1">
              <a:solidFill>
                <a:srgbClr val="000000"/>
              </a:solidFill>
              <a:latin typeface="Arial"/>
            </a:endParaRPr>
          </a:p>
        </p:txBody>
      </p:sp>
      <p:sp>
        <p:nvSpPr>
          <p:cNvPr id="591"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Franco Tomás Malfetano</a:t>
            </a:r>
            <a:endParaRPr lang="es-AR" sz="10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580"/>
                                        </p:tgtEl>
                                        <p:attrNameLst>
                                          <p:attrName>style.visibility</p:attrName>
                                        </p:attrNameLst>
                                      </p:cBhvr>
                                      <p:to>
                                        <p:strVal val="visible"/>
                                      </p:to>
                                    </p:set>
                                    <p:animEffect transition="in" filter="fade">
                                      <p:cBhvr additive="repl">
                                        <p:cTn id="7" dur="500"/>
                                        <p:tgtEl>
                                          <p:spTgt spid="580"/>
                                        </p:tgtEl>
                                      </p:cBhvr>
                                    </p:animEffect>
                                  </p:childTnLst>
                                </p:cTn>
                              </p:par>
                              <p:par>
                                <p:cTn id="8" presetID="10" presetClass="entr" fill="hold" nodeType="withEffect">
                                  <p:stCondLst>
                                    <p:cond delay="0"/>
                                  </p:stCondLst>
                                  <p:childTnLst>
                                    <p:set>
                                      <p:cBhvr>
                                        <p:cTn id="9" dur="1" fill="hold">
                                          <p:stCondLst>
                                            <p:cond delay="0"/>
                                          </p:stCondLst>
                                        </p:cTn>
                                        <p:tgtEl>
                                          <p:spTgt spid="581"/>
                                        </p:tgtEl>
                                        <p:attrNameLst>
                                          <p:attrName>style.visibility</p:attrName>
                                        </p:attrNameLst>
                                      </p:cBhvr>
                                      <p:to>
                                        <p:strVal val="visible"/>
                                      </p:to>
                                    </p:set>
                                    <p:animEffect transition="in" filter="fade">
                                      <p:cBhvr additive="repl">
                                        <p:cTn id="10" dur="500"/>
                                        <p:tgtEl>
                                          <p:spTgt spid="581"/>
                                        </p:tgtEl>
                                      </p:cBhvr>
                                    </p:animEffect>
                                  </p:childTnLst>
                                </p:cTn>
                              </p:par>
                              <p:par>
                                <p:cTn id="11" presetID="10" presetClass="entr" fill="hold" nodeType="withEffect">
                                  <p:stCondLst>
                                    <p:cond delay="0"/>
                                  </p:stCondLst>
                                  <p:childTnLst>
                                    <p:set>
                                      <p:cBhvr>
                                        <p:cTn id="12" dur="1" fill="hold">
                                          <p:stCondLst>
                                            <p:cond delay="0"/>
                                          </p:stCondLst>
                                        </p:cTn>
                                        <p:tgtEl>
                                          <p:spTgt spid="582"/>
                                        </p:tgtEl>
                                        <p:attrNameLst>
                                          <p:attrName>style.visibility</p:attrName>
                                        </p:attrNameLst>
                                      </p:cBhvr>
                                      <p:to>
                                        <p:strVal val="visible"/>
                                      </p:to>
                                    </p:set>
                                    <p:animEffect transition="in" filter="fade">
                                      <p:cBhvr additive="repl">
                                        <p:cTn id="13" dur="500"/>
                                        <p:tgtEl>
                                          <p:spTgt spid="582"/>
                                        </p:tgtEl>
                                      </p:cBhvr>
                                    </p:animEffect>
                                  </p:childTnLst>
                                </p:cTn>
                              </p:par>
                              <p:par>
                                <p:cTn id="14" presetID="10" presetClass="entr" fill="hold" nodeType="withEffect">
                                  <p:stCondLst>
                                    <p:cond delay="0"/>
                                  </p:stCondLst>
                                  <p:childTnLst>
                                    <p:set>
                                      <p:cBhvr>
                                        <p:cTn id="15" dur="1" fill="hold">
                                          <p:stCondLst>
                                            <p:cond delay="0"/>
                                          </p:stCondLst>
                                        </p:cTn>
                                        <p:tgtEl>
                                          <p:spTgt spid="590"/>
                                        </p:tgtEl>
                                        <p:attrNameLst>
                                          <p:attrName>style.visibility</p:attrName>
                                        </p:attrNameLst>
                                      </p:cBhvr>
                                      <p:to>
                                        <p:strVal val="visible"/>
                                      </p:to>
                                    </p:set>
                                    <p:animEffect transition="in" filter="fade">
                                      <p:cBhvr additive="repl">
                                        <p:cTn id="16" dur="500"/>
                                        <p:tgtEl>
                                          <p:spTgt spid="59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fill="hold" nodeType="clickEffect">
                                  <p:stCondLst>
                                    <p:cond delay="0"/>
                                  </p:stCondLst>
                                  <p:childTnLst>
                                    <p:set>
                                      <p:cBhvr>
                                        <p:cTn id="20" dur="1" fill="hold">
                                          <p:stCondLst>
                                            <p:cond delay="0"/>
                                          </p:stCondLst>
                                        </p:cTn>
                                        <p:tgtEl>
                                          <p:spTgt spid="583"/>
                                        </p:tgtEl>
                                        <p:attrNameLst>
                                          <p:attrName>style.visibility</p:attrName>
                                        </p:attrNameLst>
                                      </p:cBhvr>
                                      <p:to>
                                        <p:strVal val="visible"/>
                                      </p:to>
                                    </p:set>
                                    <p:animEffect transition="in" filter="fade">
                                      <p:cBhvr additive="repl">
                                        <p:cTn id="21" dur="500"/>
                                        <p:tgtEl>
                                          <p:spTgt spid="583"/>
                                        </p:tgtEl>
                                      </p:cBhvr>
                                    </p:animEffect>
                                  </p:childTnLst>
                                </p:cTn>
                              </p:par>
                              <p:par>
                                <p:cTn id="22" presetID="10" presetClass="entr" fill="hold" nodeType="withEffect">
                                  <p:stCondLst>
                                    <p:cond delay="0"/>
                                  </p:stCondLst>
                                  <p:childTnLst>
                                    <p:set>
                                      <p:cBhvr>
                                        <p:cTn id="23" dur="1" fill="hold">
                                          <p:stCondLst>
                                            <p:cond delay="0"/>
                                          </p:stCondLst>
                                        </p:cTn>
                                        <p:tgtEl>
                                          <p:spTgt spid="584"/>
                                        </p:tgtEl>
                                        <p:attrNameLst>
                                          <p:attrName>style.visibility</p:attrName>
                                        </p:attrNameLst>
                                      </p:cBhvr>
                                      <p:to>
                                        <p:strVal val="visible"/>
                                      </p:to>
                                    </p:set>
                                    <p:animEffect transition="in" filter="fade">
                                      <p:cBhvr additive="repl">
                                        <p:cTn id="24" dur="500"/>
                                        <p:tgtEl>
                                          <p:spTgt spid="584"/>
                                        </p:tgtEl>
                                      </p:cBhvr>
                                    </p:animEffect>
                                  </p:childTnLst>
                                </p:cTn>
                              </p:par>
                              <p:par>
                                <p:cTn id="25" presetID="10" presetClass="entr" fill="hold" nodeType="withEffect">
                                  <p:stCondLst>
                                    <p:cond delay="0"/>
                                  </p:stCondLst>
                                  <p:childTnLst>
                                    <p:set>
                                      <p:cBhvr>
                                        <p:cTn id="26" dur="1" fill="hold">
                                          <p:stCondLst>
                                            <p:cond delay="0"/>
                                          </p:stCondLst>
                                        </p:cTn>
                                        <p:tgtEl>
                                          <p:spTgt spid="585"/>
                                        </p:tgtEl>
                                        <p:attrNameLst>
                                          <p:attrName>style.visibility</p:attrName>
                                        </p:attrNameLst>
                                      </p:cBhvr>
                                      <p:to>
                                        <p:strVal val="visible"/>
                                      </p:to>
                                    </p:set>
                                    <p:animEffect transition="in" filter="fade">
                                      <p:cBhvr additive="repl">
                                        <p:cTn id="27" dur="500"/>
                                        <p:tgtEl>
                                          <p:spTgt spid="58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fill="hold" nodeType="clickEffect">
                                  <p:stCondLst>
                                    <p:cond delay="0"/>
                                  </p:stCondLst>
                                  <p:childTnLst>
                                    <p:set>
                                      <p:cBhvr>
                                        <p:cTn id="31" dur="1" fill="hold">
                                          <p:stCondLst>
                                            <p:cond delay="0"/>
                                          </p:stCondLst>
                                        </p:cTn>
                                        <p:tgtEl>
                                          <p:spTgt spid="586"/>
                                        </p:tgtEl>
                                        <p:attrNameLst>
                                          <p:attrName>style.visibility</p:attrName>
                                        </p:attrNameLst>
                                      </p:cBhvr>
                                      <p:to>
                                        <p:strVal val="visible"/>
                                      </p:to>
                                    </p:set>
                                    <p:animEffect transition="in" filter="fade">
                                      <p:cBhvr additive="repl">
                                        <p:cTn id="32" dur="500"/>
                                        <p:tgtEl>
                                          <p:spTgt spid="586"/>
                                        </p:tgtEl>
                                      </p:cBhvr>
                                    </p:animEffect>
                                  </p:childTnLst>
                                </p:cTn>
                              </p:par>
                              <p:par>
                                <p:cTn id="33" presetID="10" presetClass="entr" fill="hold" nodeType="withEffect">
                                  <p:stCondLst>
                                    <p:cond delay="0"/>
                                  </p:stCondLst>
                                  <p:childTnLst>
                                    <p:set>
                                      <p:cBhvr>
                                        <p:cTn id="34" dur="1" fill="hold">
                                          <p:stCondLst>
                                            <p:cond delay="0"/>
                                          </p:stCondLst>
                                        </p:cTn>
                                        <p:tgtEl>
                                          <p:spTgt spid="587"/>
                                        </p:tgtEl>
                                        <p:attrNameLst>
                                          <p:attrName>style.visibility</p:attrName>
                                        </p:attrNameLst>
                                      </p:cBhvr>
                                      <p:to>
                                        <p:strVal val="visible"/>
                                      </p:to>
                                    </p:set>
                                    <p:animEffect transition="in" filter="fade">
                                      <p:cBhvr additive="repl">
                                        <p:cTn id="35" dur="500"/>
                                        <p:tgtEl>
                                          <p:spTgt spid="587"/>
                                        </p:tgtEl>
                                      </p:cBhvr>
                                    </p:animEffect>
                                  </p:childTnLst>
                                </p:cTn>
                              </p:par>
                              <p:par>
                                <p:cTn id="36" presetID="10" presetClass="entr" fill="hold" nodeType="withEffect">
                                  <p:stCondLst>
                                    <p:cond delay="0"/>
                                  </p:stCondLst>
                                  <p:childTnLst>
                                    <p:set>
                                      <p:cBhvr>
                                        <p:cTn id="37" dur="1" fill="hold">
                                          <p:stCondLst>
                                            <p:cond delay="0"/>
                                          </p:stCondLst>
                                        </p:cTn>
                                        <p:tgtEl>
                                          <p:spTgt spid="588"/>
                                        </p:tgtEl>
                                        <p:attrNameLst>
                                          <p:attrName>style.visibility</p:attrName>
                                        </p:attrNameLst>
                                      </p:cBhvr>
                                      <p:to>
                                        <p:strVal val="visible"/>
                                      </p:to>
                                    </p:set>
                                    <p:animEffect transition="in" filter="fade">
                                      <p:cBhvr additive="repl">
                                        <p:cTn id="38" dur="500"/>
                                        <p:tgtEl>
                                          <p:spTgt spid="58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fill="hold" nodeType="clickEffect">
                                  <p:stCondLst>
                                    <p:cond delay="0"/>
                                  </p:stCondLst>
                                  <p:childTnLst>
                                    <p:set>
                                      <p:cBhvr>
                                        <p:cTn id="42" dur="1" fill="hold">
                                          <p:stCondLst>
                                            <p:cond delay="0"/>
                                          </p:stCondLst>
                                        </p:cTn>
                                        <p:tgtEl>
                                          <p:spTgt spid="589"/>
                                        </p:tgtEl>
                                        <p:attrNameLst>
                                          <p:attrName>style.visibility</p:attrName>
                                        </p:attrNameLst>
                                      </p:cBhvr>
                                      <p:to>
                                        <p:strVal val="visible"/>
                                      </p:to>
                                    </p:set>
                                    <p:animEffect transition="in" filter="fade">
                                      <p:cBhvr additive="repl">
                                        <p:cTn id="43" dur="500"/>
                                        <p:tgtEl>
                                          <p:spTgt spid="5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 name="PlaceHolder 1"/>
          <p:cNvSpPr>
            <a:spLocks noGrp="1"/>
          </p:cNvSpPr>
          <p:nvPr>
            <p:ph type="title"/>
          </p:nvPr>
        </p:nvSpPr>
        <p:spPr>
          <a:xfrm>
            <a:off x="374760" y="502920"/>
            <a:ext cx="10514880" cy="1026360"/>
          </a:xfrm>
          <a:prstGeom prst="rect">
            <a:avLst/>
          </a:prstGeom>
          <a:noFill/>
          <a:ln w="0">
            <a:noFill/>
          </a:ln>
        </p:spPr>
        <p:txBody>
          <a:bodyPr lIns="0" tIns="45720" rIns="91440" bIns="45720" anchor="t">
            <a:noAutofit/>
          </a:bodyPr>
          <a:lstStyle/>
          <a:p>
            <a:pPr indent="0" defTabSz="914400">
              <a:lnSpc>
                <a:spcPct val="90000"/>
              </a:lnSpc>
              <a:buNone/>
              <a:tabLst>
                <a:tab pos="0" algn="l"/>
              </a:tabLst>
            </a:pPr>
            <a:r>
              <a:rPr lang="en-US" sz="2400" b="0" strike="noStrike" spc="66">
                <a:solidFill>
                  <a:schemeClr val="dk1"/>
                </a:solidFill>
                <a:latin typeface="Avenir Next LT Pro"/>
                <a:ea typeface="Avenir Next"/>
              </a:rPr>
              <a:t>Cómo sabemos si funciona: un piloto de 90 días</a:t>
            </a:r>
            <a:endParaRPr lang="es-AR" sz="2400" b="0" strike="noStrike" spc="-1">
              <a:solidFill>
                <a:srgbClr val="000000"/>
              </a:solidFill>
              <a:latin typeface="Arial"/>
            </a:endParaRPr>
          </a:p>
        </p:txBody>
      </p:sp>
      <p:sp>
        <p:nvSpPr>
          <p:cNvPr id="593" name="PlaceHolder 2"/>
          <p:cNvSpPr>
            <a:spLocks noGrp="1"/>
          </p:cNvSpPr>
          <p:nvPr>
            <p:ph/>
          </p:nvPr>
        </p:nvSpPr>
        <p:spPr>
          <a:xfrm>
            <a:off x="394920" y="286920"/>
            <a:ext cx="3901680" cy="215280"/>
          </a:xfrm>
          <a:prstGeom prst="rect">
            <a:avLst/>
          </a:prstGeom>
          <a:noFill/>
          <a:ln w="0">
            <a:noFill/>
          </a:ln>
        </p:spPr>
        <p:txBody>
          <a:bodyPr lIns="0" tIns="45720" rIns="91440" bIns="45720" anchor="t">
            <a:noAutofit/>
          </a:bodyPr>
          <a:lstStyle/>
          <a:p>
            <a:pPr indent="0" defTabSz="914400">
              <a:lnSpc>
                <a:spcPct val="90000"/>
              </a:lnSpc>
              <a:spcBef>
                <a:spcPts val="1001"/>
              </a:spcBef>
              <a:buNone/>
              <a:tabLst>
                <a:tab pos="0" algn="l"/>
              </a:tabLst>
            </a:pPr>
            <a:r>
              <a:rPr lang="en-US" sz="900" b="0" strike="noStrike" cap="all" spc="296">
                <a:solidFill>
                  <a:schemeClr val="accent1"/>
                </a:solidFill>
                <a:latin typeface="Avenir Next LT Pro"/>
                <a:ea typeface="Avenir Next"/>
              </a:rPr>
              <a:t>03 · Factibilidad económica</a:t>
            </a:r>
            <a:endParaRPr lang="es-AR" sz="900" b="0" strike="noStrike" spc="-1">
              <a:solidFill>
                <a:srgbClr val="000000"/>
              </a:solidFill>
              <a:latin typeface="Arial"/>
            </a:endParaRPr>
          </a:p>
        </p:txBody>
      </p:sp>
      <p:sp>
        <p:nvSpPr>
          <p:cNvPr id="594" name="PlaceHolder 3"/>
          <p:cNvSpPr>
            <a:spLocks noGrp="1"/>
          </p:cNvSpPr>
          <p:nvPr>
            <p:ph type="sldNum" idx="68"/>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205BE671-87CC-4C72-9E68-E41B5CE34AEF}" type="slidenum">
              <a:rPr lang="en-US" sz="800" b="0" strike="noStrike" spc="-1">
                <a:solidFill>
                  <a:schemeClr val="dk1"/>
                </a:solidFill>
                <a:latin typeface="Avenir Next LT Pro"/>
                <a:ea typeface="Avenir Next"/>
              </a:rPr>
              <a:t>18</a:t>
            </a:fld>
            <a:endParaRPr lang="es-AR" sz="800" b="0" strike="noStrike" spc="-1">
              <a:solidFill>
                <a:srgbClr val="000000"/>
              </a:solidFill>
              <a:latin typeface="Times New Roman"/>
            </a:endParaRPr>
          </a:p>
        </p:txBody>
      </p:sp>
      <p:sp>
        <p:nvSpPr>
          <p:cNvPr id="635"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Franco Tomás Malfetano</a:t>
            </a:r>
            <a:endParaRPr lang="es-AR" sz="1000" b="0" strike="noStrike" spc="-1">
              <a:solidFill>
                <a:srgbClr val="000000"/>
              </a:solidFill>
              <a:latin typeface="Arial"/>
            </a:endParaRPr>
          </a:p>
        </p:txBody>
      </p:sp>
      <p:pic>
        <p:nvPicPr>
          <p:cNvPr id="2" name="simtec-piloto-90-web">
            <a:hlinkClick r:id="" action="ppaction://media"/>
            <a:extLst>
              <a:ext uri="{FF2B5EF4-FFF2-40B4-BE49-F238E27FC236}">
                <a16:creationId xmlns:a16="http://schemas.microsoft.com/office/drawing/2014/main" id="{021BA45F-005A-F84B-3715-EE8D5EB611CC}"/>
              </a:ext>
            </a:extLst>
          </p:cNvPr>
          <p:cNvPicPr>
            <a:picLocks noChangeAspect="1"/>
          </p:cNvPicPr>
          <p:nvPr>
            <a:videoFile r:link="rId1"/>
            <p:extLst>
              <p:ext uri="{DAA4B4D4-6D71-4841-9C94-3DE7FCFB9230}">
                <p14:media xmlns:p14="http://schemas.microsoft.com/office/powerpoint/2010/main" r:embed="rId2">
                  <p14:trim st="5192" end="8081"/>
                </p14:media>
              </p:ext>
            </p:extLst>
          </p:nvPr>
        </p:nvPicPr>
        <p:blipFill>
          <a:blip r:embed="rId5"/>
          <a:stretch>
            <a:fillRect/>
          </a:stretch>
        </p:blipFill>
        <p:spPr>
          <a:xfrm>
            <a:off x="1353070" y="1016100"/>
            <a:ext cx="9536570" cy="53643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72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 name="PlaceHolder 1"/>
          <p:cNvSpPr>
            <a:spLocks noGrp="1"/>
          </p:cNvSpPr>
          <p:nvPr>
            <p:ph type="title"/>
          </p:nvPr>
        </p:nvSpPr>
        <p:spPr>
          <a:xfrm>
            <a:off x="996840" y="3033000"/>
            <a:ext cx="10524240" cy="395280"/>
          </a:xfrm>
          <a:prstGeom prst="rect">
            <a:avLst/>
          </a:prstGeom>
          <a:noFill/>
          <a:ln w="0">
            <a:noFill/>
          </a:ln>
        </p:spPr>
        <p:txBody>
          <a:bodyPr lIns="0" tIns="45720" rIns="91440" bIns="45720" anchor="t">
            <a:noAutofit/>
          </a:bodyPr>
          <a:lstStyle/>
          <a:p>
            <a:pPr indent="0" defTabSz="914400">
              <a:lnSpc>
                <a:spcPct val="100000"/>
              </a:lnSpc>
              <a:buNone/>
              <a:tabLst>
                <a:tab pos="0" algn="l"/>
              </a:tabLst>
            </a:pPr>
            <a:r>
              <a:rPr lang="en-US" sz="2400" b="0" strike="noStrike" spc="35">
                <a:solidFill>
                  <a:schemeClr val="dk1"/>
                </a:solidFill>
                <a:latin typeface="Avenir Next LT Pro"/>
                <a:ea typeface="Avenir Next"/>
              </a:rPr>
              <a:t>Valor diferencial e Innovación</a:t>
            </a:r>
            <a:endParaRPr lang="es-AR" sz="2400" b="0" strike="noStrike" spc="-1">
              <a:solidFill>
                <a:srgbClr val="000000"/>
              </a:solidFill>
              <a:latin typeface="Arial"/>
            </a:endParaRPr>
          </a:p>
        </p:txBody>
      </p:sp>
      <p:sp>
        <p:nvSpPr>
          <p:cNvPr id="637" name="PlaceHolder 2"/>
          <p:cNvSpPr>
            <a:spLocks noGrp="1"/>
          </p:cNvSpPr>
          <p:nvPr>
            <p:ph/>
          </p:nvPr>
        </p:nvSpPr>
        <p:spPr>
          <a:xfrm>
            <a:off x="996840" y="3584520"/>
            <a:ext cx="10514880" cy="438840"/>
          </a:xfrm>
          <a:prstGeom prst="rect">
            <a:avLst/>
          </a:prstGeom>
          <a:noFill/>
          <a:ln w="0">
            <a:noFill/>
          </a:ln>
        </p:spPr>
        <p:txBody>
          <a:bodyPr lIns="0" tIns="45720" rIns="91440" bIns="45720" anchor="t">
            <a:noAutofit/>
          </a:bodyPr>
          <a:lstStyle/>
          <a:p>
            <a:pPr indent="0" defTabSz="914400">
              <a:lnSpc>
                <a:spcPct val="90000"/>
              </a:lnSpc>
              <a:spcBef>
                <a:spcPts val="1001"/>
              </a:spcBef>
              <a:buNone/>
              <a:tabLst>
                <a:tab pos="0" algn="l"/>
              </a:tabLst>
            </a:pPr>
            <a:r>
              <a:rPr lang="en-US" sz="1200" b="0" strike="noStrike" spc="55">
                <a:solidFill>
                  <a:schemeClr val="dk1"/>
                </a:solidFill>
                <a:latin typeface="Avenir Next LT Pro"/>
                <a:ea typeface="Avenir Next"/>
              </a:rPr>
              <a:t>Por qué esta solución y no otra</a:t>
            </a:r>
            <a:endParaRPr lang="es-AR" sz="1200" b="0" strike="noStrike" spc="-1">
              <a:solidFill>
                <a:srgbClr val="000000"/>
              </a:solidFill>
              <a:latin typeface="Arial"/>
            </a:endParaRPr>
          </a:p>
        </p:txBody>
      </p:sp>
      <p:sp>
        <p:nvSpPr>
          <p:cNvPr id="638" name="PlaceHolder 3"/>
          <p:cNvSpPr>
            <a:spLocks noGrp="1"/>
          </p:cNvSpPr>
          <p:nvPr>
            <p:ph/>
          </p:nvPr>
        </p:nvSpPr>
        <p:spPr>
          <a:xfrm>
            <a:off x="996840" y="1550520"/>
            <a:ext cx="1470960" cy="1102680"/>
          </a:xfrm>
          <a:prstGeom prst="rect">
            <a:avLst/>
          </a:prstGeom>
          <a:noFill/>
          <a:ln w="0">
            <a:noFill/>
          </a:ln>
        </p:spPr>
        <p:txBody>
          <a:bodyPr lIns="0" tIns="45720" rIns="91440" bIns="0" anchor="b">
            <a:noAutofit/>
          </a:bodyPr>
          <a:lstStyle/>
          <a:p>
            <a:pPr indent="0" defTabSz="914400">
              <a:lnSpc>
                <a:spcPct val="90000"/>
              </a:lnSpc>
              <a:spcBef>
                <a:spcPts val="1001"/>
              </a:spcBef>
              <a:buNone/>
              <a:tabLst>
                <a:tab pos="0" algn="l"/>
              </a:tabLst>
            </a:pPr>
            <a:r>
              <a:rPr lang="en-US" sz="3200" b="0" strike="noStrike" spc="46">
                <a:solidFill>
                  <a:schemeClr val="accent1"/>
                </a:solidFill>
                <a:latin typeface="Avenir Next LT Pro"/>
                <a:ea typeface="Avenir Next"/>
              </a:rPr>
              <a:t>04</a:t>
            </a:r>
            <a:endParaRPr lang="es-AR" sz="3200" b="0" strike="noStrike" spc="-1">
              <a:solidFill>
                <a:srgbClr val="000000"/>
              </a:solidFill>
              <a:latin typeface="Arial"/>
            </a:endParaRPr>
          </a:p>
        </p:txBody>
      </p:sp>
      <p:sp>
        <p:nvSpPr>
          <p:cNvPr id="639"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Franco Tomás Malfetano</a:t>
            </a:r>
            <a:endParaRPr lang="es-AR" sz="1000" b="0" strike="noStrike" spc="-1">
              <a:solidFill>
                <a:srgbClr val="000000"/>
              </a:solidFill>
              <a:latin typeface="Arial"/>
            </a:endParaRPr>
          </a:p>
        </p:txBody>
      </p:sp>
      <p:sp>
        <p:nvSpPr>
          <p:cNvPr id="5" name="PlaceHolder 4"/>
          <p:cNvSpPr>
            <a:spLocks noGrp="1"/>
          </p:cNvSpPr>
          <p:nvPr>
            <p:ph type="sldNum" idx="12"/>
          </p:nvPr>
        </p:nvSpPr>
        <p:spPr/>
        <p:txBody>
          <a:bodyPr/>
          <a:lstStyle/>
          <a:p>
            <a:fld id="{7BF94FC5-E2AF-41A3-B7A9-B9483F46FFEC}" type="slidenum">
              <a:rPr/>
              <a:t>19</a:t>
            </a:fld>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 name="PlaceHolder 1"/>
          <p:cNvSpPr>
            <a:spLocks noGrp="1"/>
          </p:cNvSpPr>
          <p:nvPr>
            <p:ph type="title"/>
          </p:nvPr>
        </p:nvSpPr>
        <p:spPr>
          <a:xfrm>
            <a:off x="374760" y="502920"/>
            <a:ext cx="10514880" cy="1026360"/>
          </a:xfrm>
          <a:prstGeom prst="rect">
            <a:avLst/>
          </a:prstGeom>
          <a:noFill/>
          <a:ln w="0">
            <a:noFill/>
          </a:ln>
        </p:spPr>
        <p:txBody>
          <a:bodyPr lIns="0" tIns="45720" rIns="91440" bIns="45720" anchor="t">
            <a:noAutofit/>
          </a:bodyPr>
          <a:lstStyle/>
          <a:p>
            <a:pPr indent="0" defTabSz="914400">
              <a:lnSpc>
                <a:spcPct val="90000"/>
              </a:lnSpc>
              <a:buNone/>
              <a:tabLst>
                <a:tab pos="0" algn="l"/>
              </a:tabLst>
            </a:pPr>
            <a:r>
              <a:rPr lang="en-US" sz="2400" b="0" strike="noStrike" spc="66" dirty="0" err="1">
                <a:solidFill>
                  <a:schemeClr val="dk1"/>
                </a:solidFill>
                <a:latin typeface="Avenir Next LT Pro"/>
                <a:ea typeface="Avenir Next"/>
              </a:rPr>
              <a:t>Precisa</a:t>
            </a:r>
            <a:r>
              <a:rPr lang="en-US" sz="2400" b="0" strike="noStrike" spc="66" dirty="0">
                <a:solidFill>
                  <a:schemeClr val="dk1"/>
                </a:solidFill>
                <a:latin typeface="Avenir Next LT Pro"/>
                <a:ea typeface="Avenir Next"/>
              </a:rPr>
              <a:t>, </a:t>
            </a:r>
            <a:r>
              <a:rPr lang="en-US" sz="2400" b="0" strike="noStrike" spc="66" dirty="0" err="1">
                <a:solidFill>
                  <a:schemeClr val="dk1"/>
                </a:solidFill>
                <a:latin typeface="Avenir Next LT Pro"/>
                <a:ea typeface="Avenir Next"/>
              </a:rPr>
              <a:t>honesta</a:t>
            </a:r>
            <a:r>
              <a:rPr lang="en-US" sz="2400" spc="66" dirty="0">
                <a:solidFill>
                  <a:schemeClr val="dk1"/>
                </a:solidFill>
                <a:latin typeface="Avenir Next LT Pro"/>
                <a:ea typeface="Avenir Next"/>
              </a:rPr>
              <a:t> y</a:t>
            </a:r>
            <a:r>
              <a:rPr lang="en-US" sz="2400" b="0" strike="noStrike" spc="66" dirty="0">
                <a:solidFill>
                  <a:schemeClr val="dk1"/>
                </a:solidFill>
                <a:latin typeface="Avenir Next LT Pro"/>
                <a:ea typeface="Avenir Next"/>
              </a:rPr>
              <a:t> </a:t>
            </a:r>
            <a:r>
              <a:rPr lang="en-US" sz="2400" b="0" strike="noStrike" spc="66" dirty="0" err="1">
                <a:solidFill>
                  <a:schemeClr val="dk1"/>
                </a:solidFill>
                <a:latin typeface="Avenir Next LT Pro"/>
                <a:ea typeface="Avenir Next"/>
              </a:rPr>
              <a:t>clara</a:t>
            </a:r>
            <a:endParaRPr lang="es-AR" sz="2400" b="0" strike="noStrike" spc="-1" dirty="0">
              <a:solidFill>
                <a:srgbClr val="000000"/>
              </a:solidFill>
              <a:latin typeface="Arial"/>
            </a:endParaRPr>
          </a:p>
        </p:txBody>
      </p:sp>
      <p:sp>
        <p:nvSpPr>
          <p:cNvPr id="641" name="PlaceHolder 2"/>
          <p:cNvSpPr>
            <a:spLocks noGrp="1"/>
          </p:cNvSpPr>
          <p:nvPr>
            <p:ph/>
          </p:nvPr>
        </p:nvSpPr>
        <p:spPr>
          <a:xfrm>
            <a:off x="394920" y="286920"/>
            <a:ext cx="3901680" cy="215280"/>
          </a:xfrm>
          <a:prstGeom prst="rect">
            <a:avLst/>
          </a:prstGeom>
          <a:noFill/>
          <a:ln w="0">
            <a:noFill/>
          </a:ln>
        </p:spPr>
        <p:txBody>
          <a:bodyPr lIns="0" tIns="45720" rIns="91440" bIns="45720" anchor="t">
            <a:noAutofit/>
          </a:bodyPr>
          <a:lstStyle/>
          <a:p>
            <a:pPr indent="0" defTabSz="914400">
              <a:lnSpc>
                <a:spcPct val="90000"/>
              </a:lnSpc>
              <a:spcBef>
                <a:spcPts val="1001"/>
              </a:spcBef>
              <a:buNone/>
              <a:tabLst>
                <a:tab pos="0" algn="l"/>
              </a:tabLst>
            </a:pPr>
            <a:r>
              <a:rPr lang="en-US" sz="900" b="0" strike="noStrike" cap="all" spc="296">
                <a:solidFill>
                  <a:schemeClr val="accent1"/>
                </a:solidFill>
                <a:latin typeface="Avenir Next LT Pro"/>
                <a:ea typeface="Avenir Next"/>
              </a:rPr>
              <a:t>04 · Valor diferencial e innovación</a:t>
            </a:r>
            <a:endParaRPr lang="es-AR" sz="900" b="0" strike="noStrike" spc="-1">
              <a:solidFill>
                <a:srgbClr val="000000"/>
              </a:solidFill>
              <a:latin typeface="Arial"/>
            </a:endParaRPr>
          </a:p>
        </p:txBody>
      </p:sp>
      <p:sp>
        <p:nvSpPr>
          <p:cNvPr id="642" name="PlaceHolder 3"/>
          <p:cNvSpPr>
            <a:spLocks noGrp="1"/>
          </p:cNvSpPr>
          <p:nvPr>
            <p:ph type="sldNum" idx="69"/>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FB7E155B-EB78-48F1-BAE2-AB1F65E7E6F1}" type="slidenum">
              <a:rPr lang="en-US" sz="800" b="0" strike="noStrike" spc="-1">
                <a:solidFill>
                  <a:schemeClr val="dk1"/>
                </a:solidFill>
                <a:latin typeface="Avenir Next LT Pro"/>
                <a:ea typeface="Avenir Next"/>
              </a:rPr>
              <a:t>20</a:t>
            </a:fld>
            <a:endParaRPr lang="es-AR" sz="800" b="0" strike="noStrike" spc="-1">
              <a:solidFill>
                <a:srgbClr val="000000"/>
              </a:solidFill>
              <a:latin typeface="Times New Roman"/>
            </a:endParaRPr>
          </a:p>
        </p:txBody>
      </p:sp>
      <p:sp>
        <p:nvSpPr>
          <p:cNvPr id="643" name="c1_fondo"/>
          <p:cNvSpPr/>
          <p:nvPr/>
        </p:nvSpPr>
        <p:spPr>
          <a:xfrm>
            <a:off x="1682450" y="1529280"/>
            <a:ext cx="2696760" cy="4205520"/>
          </a:xfrm>
          <a:prstGeom prst="rect">
            <a:avLst/>
          </a:prstGeom>
          <a:solidFill>
            <a:srgbClr val="F3F3F3"/>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644" name="c1_acento"/>
          <p:cNvSpPr/>
          <p:nvPr/>
        </p:nvSpPr>
        <p:spPr>
          <a:xfrm>
            <a:off x="1682450" y="1529280"/>
            <a:ext cx="2696760" cy="72360"/>
          </a:xfrm>
          <a:prstGeom prst="rect">
            <a:avLst/>
          </a:prstGeom>
          <a:solidFill>
            <a:srgbClr val="1700F3"/>
          </a:solidFill>
          <a:ln>
            <a:noFill/>
          </a:ln>
        </p:spPr>
        <p:style>
          <a:lnRef idx="1">
            <a:schemeClr val="accent1"/>
          </a:lnRef>
          <a:fillRef idx="3">
            <a:schemeClr val="accent1"/>
          </a:fillRef>
          <a:effectRef idx="2">
            <a:schemeClr val="accent1"/>
          </a:effectRef>
          <a:fontRef idx="minor"/>
        </p:style>
        <p:txBody>
          <a:bodyPr lIns="90000" tIns="28080" rIns="90000" bIns="28080" anchor="ctr">
            <a:noAutofit/>
          </a:bodyPr>
          <a:lstStyle/>
          <a:p>
            <a:pPr defTabSz="914400">
              <a:lnSpc>
                <a:spcPct val="100000"/>
              </a:lnSpc>
            </a:pPr>
            <a:endParaRPr lang="en-US" sz="1800" b="0" strike="noStrike" spc="-1">
              <a:solidFill>
                <a:schemeClr val="lt1"/>
              </a:solidFill>
              <a:latin typeface="Avenir Next LT Pro"/>
            </a:endParaRPr>
          </a:p>
        </p:txBody>
      </p:sp>
      <p:pic>
        <p:nvPicPr>
          <p:cNvPr id="645" name="c1_icono" descr="image19.png"/>
          <p:cNvPicPr/>
          <p:nvPr/>
        </p:nvPicPr>
        <p:blipFill>
          <a:blip r:embed="rId3"/>
          <a:stretch/>
        </p:blipFill>
        <p:spPr>
          <a:xfrm>
            <a:off x="2482730" y="1940760"/>
            <a:ext cx="1096560" cy="1096560"/>
          </a:xfrm>
          <a:prstGeom prst="rect">
            <a:avLst/>
          </a:prstGeom>
          <a:ln w="0">
            <a:noFill/>
          </a:ln>
        </p:spPr>
      </p:pic>
      <p:sp>
        <p:nvSpPr>
          <p:cNvPr id="646" name="c1_adj"/>
          <p:cNvSpPr/>
          <p:nvPr/>
        </p:nvSpPr>
        <p:spPr>
          <a:xfrm>
            <a:off x="1911050" y="3266640"/>
            <a:ext cx="2239560" cy="426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2800" b="0" strike="noStrike" spc="-1">
                <a:solidFill>
                  <a:srgbClr val="1700F3"/>
                </a:solidFill>
                <a:latin typeface="Avenir Next LT Pro"/>
              </a:rPr>
              <a:t>Precisa</a:t>
            </a:r>
            <a:endParaRPr lang="es-AR" sz="2800" b="0" strike="noStrike" spc="-1">
              <a:solidFill>
                <a:srgbClr val="000000"/>
              </a:solidFill>
              <a:latin typeface="Arial"/>
            </a:endParaRPr>
          </a:p>
        </p:txBody>
      </p:sp>
      <p:sp>
        <p:nvSpPr>
          <p:cNvPr id="647" name="c1_txt"/>
          <p:cNvSpPr/>
          <p:nvPr/>
        </p:nvSpPr>
        <p:spPr>
          <a:xfrm>
            <a:off x="1956770" y="3998160"/>
            <a:ext cx="2148120" cy="114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500" b="0" strike="noStrike" spc="-1">
                <a:solidFill>
                  <a:srgbClr val="00095B"/>
                </a:solidFill>
                <a:latin typeface="Avenir Next LT Pro"/>
              </a:rPr>
              <a:t>Cada Ranger tiene su propio calendario, según sus kilómetros reales, no una fecha fija.</a:t>
            </a:r>
            <a:endParaRPr lang="es-AR" sz="1500" b="0" strike="noStrike" spc="-1">
              <a:solidFill>
                <a:srgbClr val="000000"/>
              </a:solidFill>
              <a:latin typeface="Arial"/>
            </a:endParaRPr>
          </a:p>
        </p:txBody>
      </p:sp>
      <p:sp>
        <p:nvSpPr>
          <p:cNvPr id="648" name="c2_fondo"/>
          <p:cNvSpPr/>
          <p:nvPr/>
        </p:nvSpPr>
        <p:spPr>
          <a:xfrm>
            <a:off x="4590530" y="1529280"/>
            <a:ext cx="2696760" cy="4205520"/>
          </a:xfrm>
          <a:prstGeom prst="rect">
            <a:avLst/>
          </a:prstGeom>
          <a:solidFill>
            <a:srgbClr val="F3F3F3"/>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649" name="c2_acento"/>
          <p:cNvSpPr/>
          <p:nvPr/>
        </p:nvSpPr>
        <p:spPr>
          <a:xfrm>
            <a:off x="4590530" y="1529280"/>
            <a:ext cx="2696760" cy="72360"/>
          </a:xfrm>
          <a:prstGeom prst="rect">
            <a:avLst/>
          </a:prstGeom>
          <a:solidFill>
            <a:srgbClr val="1700F3"/>
          </a:solidFill>
          <a:ln>
            <a:noFill/>
          </a:ln>
        </p:spPr>
        <p:style>
          <a:lnRef idx="1">
            <a:schemeClr val="accent1"/>
          </a:lnRef>
          <a:fillRef idx="3">
            <a:schemeClr val="accent1"/>
          </a:fillRef>
          <a:effectRef idx="2">
            <a:schemeClr val="accent1"/>
          </a:effectRef>
          <a:fontRef idx="minor"/>
        </p:style>
        <p:txBody>
          <a:bodyPr lIns="90000" tIns="28080" rIns="90000" bIns="28080" anchor="ctr">
            <a:noAutofit/>
          </a:bodyPr>
          <a:lstStyle/>
          <a:p>
            <a:pPr defTabSz="914400">
              <a:lnSpc>
                <a:spcPct val="100000"/>
              </a:lnSpc>
            </a:pPr>
            <a:endParaRPr lang="en-US" sz="1800" b="0" strike="noStrike" spc="-1">
              <a:solidFill>
                <a:schemeClr val="lt1"/>
              </a:solidFill>
              <a:latin typeface="Avenir Next LT Pro"/>
            </a:endParaRPr>
          </a:p>
        </p:txBody>
      </p:sp>
      <p:pic>
        <p:nvPicPr>
          <p:cNvPr id="650" name="c2_icono" descr="image13.png"/>
          <p:cNvPicPr/>
          <p:nvPr/>
        </p:nvPicPr>
        <p:blipFill>
          <a:blip r:embed="rId4"/>
          <a:stretch/>
        </p:blipFill>
        <p:spPr>
          <a:xfrm>
            <a:off x="5390450" y="1940760"/>
            <a:ext cx="1096560" cy="1096560"/>
          </a:xfrm>
          <a:prstGeom prst="rect">
            <a:avLst/>
          </a:prstGeom>
          <a:ln w="0">
            <a:noFill/>
          </a:ln>
        </p:spPr>
      </p:pic>
      <p:sp>
        <p:nvSpPr>
          <p:cNvPr id="651" name="c2_adj"/>
          <p:cNvSpPr/>
          <p:nvPr/>
        </p:nvSpPr>
        <p:spPr>
          <a:xfrm>
            <a:off x="4819130" y="3266640"/>
            <a:ext cx="2239560" cy="426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2800" b="0" strike="noStrike" spc="-1">
                <a:solidFill>
                  <a:srgbClr val="1700F3"/>
                </a:solidFill>
                <a:latin typeface="Avenir Next LT Pro"/>
              </a:rPr>
              <a:t>Honesta</a:t>
            </a:r>
            <a:endParaRPr lang="es-AR" sz="2800" b="0" strike="noStrike" spc="-1">
              <a:solidFill>
                <a:srgbClr val="000000"/>
              </a:solidFill>
              <a:latin typeface="Arial"/>
            </a:endParaRPr>
          </a:p>
        </p:txBody>
      </p:sp>
      <p:sp>
        <p:nvSpPr>
          <p:cNvPr id="652" name="c2_txt"/>
          <p:cNvSpPr/>
          <p:nvPr/>
        </p:nvSpPr>
        <p:spPr>
          <a:xfrm>
            <a:off x="4864850" y="3998160"/>
            <a:ext cx="2148120" cy="114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500" b="0" strike="noStrike" spc="-1">
                <a:solidFill>
                  <a:srgbClr val="00095B"/>
                </a:solidFill>
                <a:latin typeface="Avenir Next LT Pro"/>
              </a:rPr>
              <a:t>Sus resultados se sostienen: descartamos los datos que la hacían parecer mejor de lo que era.</a:t>
            </a:r>
            <a:endParaRPr lang="es-AR" sz="1500" b="0" strike="noStrike" spc="-1">
              <a:solidFill>
                <a:srgbClr val="000000"/>
              </a:solidFill>
              <a:latin typeface="Arial"/>
            </a:endParaRPr>
          </a:p>
        </p:txBody>
      </p:sp>
      <p:sp>
        <p:nvSpPr>
          <p:cNvPr id="653" name="c3_fondo"/>
          <p:cNvSpPr/>
          <p:nvPr/>
        </p:nvSpPr>
        <p:spPr>
          <a:xfrm>
            <a:off x="7498250" y="1529280"/>
            <a:ext cx="2696760" cy="4205520"/>
          </a:xfrm>
          <a:prstGeom prst="rect">
            <a:avLst/>
          </a:prstGeom>
          <a:solidFill>
            <a:srgbClr val="F3F3F3"/>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914400">
              <a:lnSpc>
                <a:spcPct val="100000"/>
              </a:lnSpc>
            </a:pPr>
            <a:endParaRPr lang="en-US" sz="1800" b="0" strike="noStrike" spc="-1">
              <a:solidFill>
                <a:schemeClr val="lt1"/>
              </a:solidFill>
              <a:latin typeface="Avenir Next LT Pro"/>
            </a:endParaRPr>
          </a:p>
        </p:txBody>
      </p:sp>
      <p:sp>
        <p:nvSpPr>
          <p:cNvPr id="654" name="c3_acento"/>
          <p:cNvSpPr/>
          <p:nvPr/>
        </p:nvSpPr>
        <p:spPr>
          <a:xfrm>
            <a:off x="7498250" y="1529280"/>
            <a:ext cx="2696760" cy="72360"/>
          </a:xfrm>
          <a:prstGeom prst="rect">
            <a:avLst/>
          </a:prstGeom>
          <a:solidFill>
            <a:srgbClr val="1700F3"/>
          </a:solidFill>
          <a:ln>
            <a:noFill/>
          </a:ln>
        </p:spPr>
        <p:style>
          <a:lnRef idx="1">
            <a:schemeClr val="accent1"/>
          </a:lnRef>
          <a:fillRef idx="3">
            <a:schemeClr val="accent1"/>
          </a:fillRef>
          <a:effectRef idx="2">
            <a:schemeClr val="accent1"/>
          </a:effectRef>
          <a:fontRef idx="minor"/>
        </p:style>
        <p:txBody>
          <a:bodyPr lIns="90000" tIns="28080" rIns="90000" bIns="28080" anchor="ctr">
            <a:noAutofit/>
          </a:bodyPr>
          <a:lstStyle/>
          <a:p>
            <a:pPr defTabSz="914400">
              <a:lnSpc>
                <a:spcPct val="100000"/>
              </a:lnSpc>
            </a:pPr>
            <a:endParaRPr lang="en-US" sz="1800" b="0" strike="noStrike" spc="-1">
              <a:solidFill>
                <a:schemeClr val="lt1"/>
              </a:solidFill>
              <a:latin typeface="Avenir Next LT Pro"/>
            </a:endParaRPr>
          </a:p>
        </p:txBody>
      </p:sp>
      <p:pic>
        <p:nvPicPr>
          <p:cNvPr id="655" name="c3_icono" descr="image15.png"/>
          <p:cNvPicPr/>
          <p:nvPr/>
        </p:nvPicPr>
        <p:blipFill>
          <a:blip r:embed="rId5"/>
          <a:stretch/>
        </p:blipFill>
        <p:spPr>
          <a:xfrm>
            <a:off x="8298170" y="1940760"/>
            <a:ext cx="1096560" cy="1096560"/>
          </a:xfrm>
          <a:prstGeom prst="rect">
            <a:avLst/>
          </a:prstGeom>
          <a:ln w="0">
            <a:noFill/>
          </a:ln>
        </p:spPr>
      </p:pic>
      <p:sp>
        <p:nvSpPr>
          <p:cNvPr id="656" name="c3_adj"/>
          <p:cNvSpPr/>
          <p:nvPr/>
        </p:nvSpPr>
        <p:spPr>
          <a:xfrm>
            <a:off x="7726850" y="3266640"/>
            <a:ext cx="2239560" cy="426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2800" b="0" strike="noStrike" spc="-1">
                <a:solidFill>
                  <a:srgbClr val="1700F3"/>
                </a:solidFill>
                <a:latin typeface="Avenir Next LT Pro"/>
              </a:rPr>
              <a:t>Clara</a:t>
            </a:r>
            <a:endParaRPr lang="es-AR" sz="2800" b="0" strike="noStrike" spc="-1">
              <a:solidFill>
                <a:srgbClr val="000000"/>
              </a:solidFill>
              <a:latin typeface="Arial"/>
            </a:endParaRPr>
          </a:p>
        </p:txBody>
      </p:sp>
      <p:sp>
        <p:nvSpPr>
          <p:cNvPr id="657" name="c3_txt"/>
          <p:cNvSpPr/>
          <p:nvPr/>
        </p:nvSpPr>
        <p:spPr>
          <a:xfrm>
            <a:off x="7772570" y="3998160"/>
            <a:ext cx="2148120" cy="91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500" b="0" strike="noStrike" spc="-1">
                <a:solidFill>
                  <a:srgbClr val="00095B"/>
                </a:solidFill>
                <a:latin typeface="Avenir Next LT Pro"/>
              </a:rPr>
              <a:t>Cada caso llega explicado, en palabras que el asesor puede usar con el cliente.</a:t>
            </a:r>
            <a:endParaRPr lang="es-AR" sz="1500" b="0" strike="noStrike" spc="-1">
              <a:solidFill>
                <a:srgbClr val="000000"/>
              </a:solidFill>
              <a:latin typeface="Arial"/>
            </a:endParaRPr>
          </a:p>
        </p:txBody>
      </p:sp>
      <p:sp>
        <p:nvSpPr>
          <p:cNvPr id="663"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Franco Tomás Malfetano</a:t>
            </a:r>
            <a:endParaRPr lang="es-AR" sz="10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643"/>
                                        </p:tgtEl>
                                        <p:attrNameLst>
                                          <p:attrName>style.visibility</p:attrName>
                                        </p:attrNameLst>
                                      </p:cBhvr>
                                      <p:to>
                                        <p:strVal val="visible"/>
                                      </p:to>
                                    </p:set>
                                    <p:animEffect transition="in" filter="fade">
                                      <p:cBhvr additive="repl">
                                        <p:cTn id="7" dur="500"/>
                                        <p:tgtEl>
                                          <p:spTgt spid="643"/>
                                        </p:tgtEl>
                                      </p:cBhvr>
                                    </p:animEffect>
                                  </p:childTnLst>
                                </p:cTn>
                              </p:par>
                              <p:par>
                                <p:cTn id="8" presetID="10" presetClass="entr" fill="hold" nodeType="withEffect">
                                  <p:stCondLst>
                                    <p:cond delay="0"/>
                                  </p:stCondLst>
                                  <p:childTnLst>
                                    <p:set>
                                      <p:cBhvr>
                                        <p:cTn id="9" dur="1" fill="hold">
                                          <p:stCondLst>
                                            <p:cond delay="0"/>
                                          </p:stCondLst>
                                        </p:cTn>
                                        <p:tgtEl>
                                          <p:spTgt spid="644"/>
                                        </p:tgtEl>
                                        <p:attrNameLst>
                                          <p:attrName>style.visibility</p:attrName>
                                        </p:attrNameLst>
                                      </p:cBhvr>
                                      <p:to>
                                        <p:strVal val="visible"/>
                                      </p:to>
                                    </p:set>
                                    <p:animEffect transition="in" filter="fade">
                                      <p:cBhvr additive="repl">
                                        <p:cTn id="10" dur="500"/>
                                        <p:tgtEl>
                                          <p:spTgt spid="644"/>
                                        </p:tgtEl>
                                      </p:cBhvr>
                                    </p:animEffect>
                                  </p:childTnLst>
                                </p:cTn>
                              </p:par>
                              <p:par>
                                <p:cTn id="11" presetID="10" presetClass="entr" fill="hold" nodeType="withEffect">
                                  <p:stCondLst>
                                    <p:cond delay="0"/>
                                  </p:stCondLst>
                                  <p:childTnLst>
                                    <p:set>
                                      <p:cBhvr>
                                        <p:cTn id="12" dur="1" fill="hold">
                                          <p:stCondLst>
                                            <p:cond delay="0"/>
                                          </p:stCondLst>
                                        </p:cTn>
                                        <p:tgtEl>
                                          <p:spTgt spid="645"/>
                                        </p:tgtEl>
                                        <p:attrNameLst>
                                          <p:attrName>style.visibility</p:attrName>
                                        </p:attrNameLst>
                                      </p:cBhvr>
                                      <p:to>
                                        <p:strVal val="visible"/>
                                      </p:to>
                                    </p:set>
                                    <p:animEffect transition="in" filter="fade">
                                      <p:cBhvr additive="repl">
                                        <p:cTn id="13" dur="500"/>
                                        <p:tgtEl>
                                          <p:spTgt spid="645"/>
                                        </p:tgtEl>
                                      </p:cBhvr>
                                    </p:animEffect>
                                  </p:childTnLst>
                                </p:cTn>
                              </p:par>
                              <p:par>
                                <p:cTn id="14" presetID="10" presetClass="entr" fill="hold" nodeType="withEffect">
                                  <p:stCondLst>
                                    <p:cond delay="0"/>
                                  </p:stCondLst>
                                  <p:childTnLst>
                                    <p:set>
                                      <p:cBhvr>
                                        <p:cTn id="15" dur="1" fill="hold">
                                          <p:stCondLst>
                                            <p:cond delay="0"/>
                                          </p:stCondLst>
                                        </p:cTn>
                                        <p:tgtEl>
                                          <p:spTgt spid="646"/>
                                        </p:tgtEl>
                                        <p:attrNameLst>
                                          <p:attrName>style.visibility</p:attrName>
                                        </p:attrNameLst>
                                      </p:cBhvr>
                                      <p:to>
                                        <p:strVal val="visible"/>
                                      </p:to>
                                    </p:set>
                                    <p:animEffect transition="in" filter="fade">
                                      <p:cBhvr additive="repl">
                                        <p:cTn id="16" dur="500"/>
                                        <p:tgtEl>
                                          <p:spTgt spid="646"/>
                                        </p:tgtEl>
                                      </p:cBhvr>
                                    </p:animEffect>
                                  </p:childTnLst>
                                </p:cTn>
                              </p:par>
                              <p:par>
                                <p:cTn id="17" presetID="10" presetClass="entr" fill="hold" nodeType="withEffect">
                                  <p:stCondLst>
                                    <p:cond delay="0"/>
                                  </p:stCondLst>
                                  <p:childTnLst>
                                    <p:set>
                                      <p:cBhvr>
                                        <p:cTn id="18" dur="1" fill="hold">
                                          <p:stCondLst>
                                            <p:cond delay="0"/>
                                          </p:stCondLst>
                                        </p:cTn>
                                        <p:tgtEl>
                                          <p:spTgt spid="647"/>
                                        </p:tgtEl>
                                        <p:attrNameLst>
                                          <p:attrName>style.visibility</p:attrName>
                                        </p:attrNameLst>
                                      </p:cBhvr>
                                      <p:to>
                                        <p:strVal val="visible"/>
                                      </p:to>
                                    </p:set>
                                    <p:animEffect transition="in" filter="fade">
                                      <p:cBhvr additive="repl">
                                        <p:cTn id="19" dur="500"/>
                                        <p:tgtEl>
                                          <p:spTgt spid="64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fill="hold" nodeType="clickEffect">
                                  <p:stCondLst>
                                    <p:cond delay="0"/>
                                  </p:stCondLst>
                                  <p:childTnLst>
                                    <p:set>
                                      <p:cBhvr>
                                        <p:cTn id="23" dur="1" fill="hold">
                                          <p:stCondLst>
                                            <p:cond delay="0"/>
                                          </p:stCondLst>
                                        </p:cTn>
                                        <p:tgtEl>
                                          <p:spTgt spid="648"/>
                                        </p:tgtEl>
                                        <p:attrNameLst>
                                          <p:attrName>style.visibility</p:attrName>
                                        </p:attrNameLst>
                                      </p:cBhvr>
                                      <p:to>
                                        <p:strVal val="visible"/>
                                      </p:to>
                                    </p:set>
                                    <p:animEffect transition="in" filter="fade">
                                      <p:cBhvr additive="repl">
                                        <p:cTn id="24" dur="500"/>
                                        <p:tgtEl>
                                          <p:spTgt spid="648"/>
                                        </p:tgtEl>
                                      </p:cBhvr>
                                    </p:animEffect>
                                  </p:childTnLst>
                                </p:cTn>
                              </p:par>
                              <p:par>
                                <p:cTn id="25" presetID="10" presetClass="entr" fill="hold" nodeType="withEffect">
                                  <p:stCondLst>
                                    <p:cond delay="0"/>
                                  </p:stCondLst>
                                  <p:childTnLst>
                                    <p:set>
                                      <p:cBhvr>
                                        <p:cTn id="26" dur="1" fill="hold">
                                          <p:stCondLst>
                                            <p:cond delay="0"/>
                                          </p:stCondLst>
                                        </p:cTn>
                                        <p:tgtEl>
                                          <p:spTgt spid="649"/>
                                        </p:tgtEl>
                                        <p:attrNameLst>
                                          <p:attrName>style.visibility</p:attrName>
                                        </p:attrNameLst>
                                      </p:cBhvr>
                                      <p:to>
                                        <p:strVal val="visible"/>
                                      </p:to>
                                    </p:set>
                                    <p:animEffect transition="in" filter="fade">
                                      <p:cBhvr additive="repl">
                                        <p:cTn id="27" dur="500"/>
                                        <p:tgtEl>
                                          <p:spTgt spid="649"/>
                                        </p:tgtEl>
                                      </p:cBhvr>
                                    </p:animEffect>
                                  </p:childTnLst>
                                </p:cTn>
                              </p:par>
                              <p:par>
                                <p:cTn id="28" presetID="10" presetClass="entr" fill="hold" nodeType="withEffect">
                                  <p:stCondLst>
                                    <p:cond delay="0"/>
                                  </p:stCondLst>
                                  <p:childTnLst>
                                    <p:set>
                                      <p:cBhvr>
                                        <p:cTn id="29" dur="1" fill="hold">
                                          <p:stCondLst>
                                            <p:cond delay="0"/>
                                          </p:stCondLst>
                                        </p:cTn>
                                        <p:tgtEl>
                                          <p:spTgt spid="650"/>
                                        </p:tgtEl>
                                        <p:attrNameLst>
                                          <p:attrName>style.visibility</p:attrName>
                                        </p:attrNameLst>
                                      </p:cBhvr>
                                      <p:to>
                                        <p:strVal val="visible"/>
                                      </p:to>
                                    </p:set>
                                    <p:animEffect transition="in" filter="fade">
                                      <p:cBhvr additive="repl">
                                        <p:cTn id="30" dur="500"/>
                                        <p:tgtEl>
                                          <p:spTgt spid="650"/>
                                        </p:tgtEl>
                                      </p:cBhvr>
                                    </p:animEffect>
                                  </p:childTnLst>
                                </p:cTn>
                              </p:par>
                              <p:par>
                                <p:cTn id="31" presetID="10" presetClass="entr" fill="hold" nodeType="withEffect">
                                  <p:stCondLst>
                                    <p:cond delay="0"/>
                                  </p:stCondLst>
                                  <p:childTnLst>
                                    <p:set>
                                      <p:cBhvr>
                                        <p:cTn id="32" dur="1" fill="hold">
                                          <p:stCondLst>
                                            <p:cond delay="0"/>
                                          </p:stCondLst>
                                        </p:cTn>
                                        <p:tgtEl>
                                          <p:spTgt spid="651"/>
                                        </p:tgtEl>
                                        <p:attrNameLst>
                                          <p:attrName>style.visibility</p:attrName>
                                        </p:attrNameLst>
                                      </p:cBhvr>
                                      <p:to>
                                        <p:strVal val="visible"/>
                                      </p:to>
                                    </p:set>
                                    <p:animEffect transition="in" filter="fade">
                                      <p:cBhvr additive="repl">
                                        <p:cTn id="33" dur="500"/>
                                        <p:tgtEl>
                                          <p:spTgt spid="651"/>
                                        </p:tgtEl>
                                      </p:cBhvr>
                                    </p:animEffect>
                                  </p:childTnLst>
                                </p:cTn>
                              </p:par>
                              <p:par>
                                <p:cTn id="34" presetID="10" presetClass="entr" fill="hold" nodeType="withEffect">
                                  <p:stCondLst>
                                    <p:cond delay="0"/>
                                  </p:stCondLst>
                                  <p:childTnLst>
                                    <p:set>
                                      <p:cBhvr>
                                        <p:cTn id="35" dur="1" fill="hold">
                                          <p:stCondLst>
                                            <p:cond delay="0"/>
                                          </p:stCondLst>
                                        </p:cTn>
                                        <p:tgtEl>
                                          <p:spTgt spid="652"/>
                                        </p:tgtEl>
                                        <p:attrNameLst>
                                          <p:attrName>style.visibility</p:attrName>
                                        </p:attrNameLst>
                                      </p:cBhvr>
                                      <p:to>
                                        <p:strVal val="visible"/>
                                      </p:to>
                                    </p:set>
                                    <p:animEffect transition="in" filter="fade">
                                      <p:cBhvr additive="repl">
                                        <p:cTn id="36" dur="500"/>
                                        <p:tgtEl>
                                          <p:spTgt spid="65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fill="hold" nodeType="clickEffect">
                                  <p:stCondLst>
                                    <p:cond delay="0"/>
                                  </p:stCondLst>
                                  <p:childTnLst>
                                    <p:set>
                                      <p:cBhvr>
                                        <p:cTn id="40" dur="1" fill="hold">
                                          <p:stCondLst>
                                            <p:cond delay="0"/>
                                          </p:stCondLst>
                                        </p:cTn>
                                        <p:tgtEl>
                                          <p:spTgt spid="653"/>
                                        </p:tgtEl>
                                        <p:attrNameLst>
                                          <p:attrName>style.visibility</p:attrName>
                                        </p:attrNameLst>
                                      </p:cBhvr>
                                      <p:to>
                                        <p:strVal val="visible"/>
                                      </p:to>
                                    </p:set>
                                    <p:animEffect transition="in" filter="fade">
                                      <p:cBhvr additive="repl">
                                        <p:cTn id="41" dur="500"/>
                                        <p:tgtEl>
                                          <p:spTgt spid="653"/>
                                        </p:tgtEl>
                                      </p:cBhvr>
                                    </p:animEffect>
                                  </p:childTnLst>
                                </p:cTn>
                              </p:par>
                              <p:par>
                                <p:cTn id="42" presetID="10" presetClass="entr" fill="hold" nodeType="withEffect">
                                  <p:stCondLst>
                                    <p:cond delay="0"/>
                                  </p:stCondLst>
                                  <p:childTnLst>
                                    <p:set>
                                      <p:cBhvr>
                                        <p:cTn id="43" dur="1" fill="hold">
                                          <p:stCondLst>
                                            <p:cond delay="0"/>
                                          </p:stCondLst>
                                        </p:cTn>
                                        <p:tgtEl>
                                          <p:spTgt spid="654"/>
                                        </p:tgtEl>
                                        <p:attrNameLst>
                                          <p:attrName>style.visibility</p:attrName>
                                        </p:attrNameLst>
                                      </p:cBhvr>
                                      <p:to>
                                        <p:strVal val="visible"/>
                                      </p:to>
                                    </p:set>
                                    <p:animEffect transition="in" filter="fade">
                                      <p:cBhvr additive="repl">
                                        <p:cTn id="44" dur="500"/>
                                        <p:tgtEl>
                                          <p:spTgt spid="654"/>
                                        </p:tgtEl>
                                      </p:cBhvr>
                                    </p:animEffect>
                                  </p:childTnLst>
                                </p:cTn>
                              </p:par>
                              <p:par>
                                <p:cTn id="45" presetID="10" presetClass="entr" fill="hold" nodeType="withEffect">
                                  <p:stCondLst>
                                    <p:cond delay="0"/>
                                  </p:stCondLst>
                                  <p:childTnLst>
                                    <p:set>
                                      <p:cBhvr>
                                        <p:cTn id="46" dur="1" fill="hold">
                                          <p:stCondLst>
                                            <p:cond delay="0"/>
                                          </p:stCondLst>
                                        </p:cTn>
                                        <p:tgtEl>
                                          <p:spTgt spid="655"/>
                                        </p:tgtEl>
                                        <p:attrNameLst>
                                          <p:attrName>style.visibility</p:attrName>
                                        </p:attrNameLst>
                                      </p:cBhvr>
                                      <p:to>
                                        <p:strVal val="visible"/>
                                      </p:to>
                                    </p:set>
                                    <p:animEffect transition="in" filter="fade">
                                      <p:cBhvr additive="repl">
                                        <p:cTn id="47" dur="500"/>
                                        <p:tgtEl>
                                          <p:spTgt spid="655"/>
                                        </p:tgtEl>
                                      </p:cBhvr>
                                    </p:animEffect>
                                  </p:childTnLst>
                                </p:cTn>
                              </p:par>
                              <p:par>
                                <p:cTn id="48" presetID="10" presetClass="entr" fill="hold" nodeType="withEffect">
                                  <p:stCondLst>
                                    <p:cond delay="0"/>
                                  </p:stCondLst>
                                  <p:childTnLst>
                                    <p:set>
                                      <p:cBhvr>
                                        <p:cTn id="49" dur="1" fill="hold">
                                          <p:stCondLst>
                                            <p:cond delay="0"/>
                                          </p:stCondLst>
                                        </p:cTn>
                                        <p:tgtEl>
                                          <p:spTgt spid="656"/>
                                        </p:tgtEl>
                                        <p:attrNameLst>
                                          <p:attrName>style.visibility</p:attrName>
                                        </p:attrNameLst>
                                      </p:cBhvr>
                                      <p:to>
                                        <p:strVal val="visible"/>
                                      </p:to>
                                    </p:set>
                                    <p:animEffect transition="in" filter="fade">
                                      <p:cBhvr additive="repl">
                                        <p:cTn id="50" dur="500"/>
                                        <p:tgtEl>
                                          <p:spTgt spid="656"/>
                                        </p:tgtEl>
                                      </p:cBhvr>
                                    </p:animEffect>
                                  </p:childTnLst>
                                </p:cTn>
                              </p:par>
                              <p:par>
                                <p:cTn id="51" presetID="10" presetClass="entr" fill="hold" nodeType="withEffect">
                                  <p:stCondLst>
                                    <p:cond delay="0"/>
                                  </p:stCondLst>
                                  <p:childTnLst>
                                    <p:set>
                                      <p:cBhvr>
                                        <p:cTn id="52" dur="1" fill="hold">
                                          <p:stCondLst>
                                            <p:cond delay="0"/>
                                          </p:stCondLst>
                                        </p:cTn>
                                        <p:tgtEl>
                                          <p:spTgt spid="657"/>
                                        </p:tgtEl>
                                        <p:attrNameLst>
                                          <p:attrName>style.visibility</p:attrName>
                                        </p:attrNameLst>
                                      </p:cBhvr>
                                      <p:to>
                                        <p:strVal val="visible"/>
                                      </p:to>
                                    </p:set>
                                    <p:animEffect transition="in" filter="fade">
                                      <p:cBhvr additive="repl">
                                        <p:cTn id="53" dur="500"/>
                                        <p:tgtEl>
                                          <p:spTgt spid="6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 name="PlaceHolder 1"/>
          <p:cNvSpPr>
            <a:spLocks noGrp="1"/>
          </p:cNvSpPr>
          <p:nvPr>
            <p:ph type="title"/>
          </p:nvPr>
        </p:nvSpPr>
        <p:spPr>
          <a:xfrm>
            <a:off x="996840" y="3033000"/>
            <a:ext cx="10524240" cy="395280"/>
          </a:xfrm>
          <a:prstGeom prst="rect">
            <a:avLst/>
          </a:prstGeom>
          <a:noFill/>
          <a:ln w="0">
            <a:noFill/>
          </a:ln>
        </p:spPr>
        <p:txBody>
          <a:bodyPr lIns="0" tIns="45720" rIns="91440" bIns="45720" anchor="t">
            <a:noAutofit/>
          </a:bodyPr>
          <a:lstStyle/>
          <a:p>
            <a:pPr indent="0" defTabSz="914400">
              <a:lnSpc>
                <a:spcPct val="100000"/>
              </a:lnSpc>
              <a:buNone/>
              <a:tabLst>
                <a:tab pos="0" algn="l"/>
              </a:tabLst>
            </a:pPr>
            <a:r>
              <a:rPr lang="en-US" sz="2400" b="0" strike="noStrike" spc="35">
                <a:solidFill>
                  <a:schemeClr val="dk1"/>
                </a:solidFill>
                <a:latin typeface="Avenir Next LT Pro"/>
                <a:ea typeface="Avenir Next"/>
              </a:rPr>
              <a:t>Trabajo Futuro</a:t>
            </a:r>
            <a:endParaRPr lang="es-AR" sz="2400" b="0" strike="noStrike" spc="-1">
              <a:solidFill>
                <a:srgbClr val="000000"/>
              </a:solidFill>
              <a:latin typeface="Arial"/>
            </a:endParaRPr>
          </a:p>
        </p:txBody>
      </p:sp>
      <p:sp>
        <p:nvSpPr>
          <p:cNvPr id="665" name="PlaceHolder 2"/>
          <p:cNvSpPr>
            <a:spLocks noGrp="1"/>
          </p:cNvSpPr>
          <p:nvPr>
            <p:ph/>
          </p:nvPr>
        </p:nvSpPr>
        <p:spPr>
          <a:xfrm>
            <a:off x="996840" y="3584520"/>
            <a:ext cx="10514880" cy="438840"/>
          </a:xfrm>
          <a:prstGeom prst="rect">
            <a:avLst/>
          </a:prstGeom>
          <a:noFill/>
          <a:ln w="0">
            <a:noFill/>
          </a:ln>
        </p:spPr>
        <p:txBody>
          <a:bodyPr lIns="0" tIns="45720" rIns="91440" bIns="45720" anchor="t">
            <a:noAutofit/>
          </a:bodyPr>
          <a:lstStyle/>
          <a:p>
            <a:pPr indent="0" defTabSz="914400">
              <a:lnSpc>
                <a:spcPct val="90000"/>
              </a:lnSpc>
              <a:spcBef>
                <a:spcPts val="1001"/>
              </a:spcBef>
              <a:buNone/>
              <a:tabLst>
                <a:tab pos="0" algn="l"/>
              </a:tabLst>
            </a:pPr>
            <a:r>
              <a:rPr lang="en-US" sz="1200" b="0" strike="noStrike" spc="55">
                <a:solidFill>
                  <a:schemeClr val="dk1"/>
                </a:solidFill>
                <a:latin typeface="Avenir Next LT Pro"/>
                <a:ea typeface="Avenir Next"/>
              </a:rPr>
              <a:t>De una lista de contactos a una relación que no se corta</a:t>
            </a:r>
            <a:endParaRPr lang="es-AR" sz="1200" b="0" strike="noStrike" spc="-1">
              <a:solidFill>
                <a:srgbClr val="000000"/>
              </a:solidFill>
              <a:latin typeface="Arial"/>
            </a:endParaRPr>
          </a:p>
        </p:txBody>
      </p:sp>
      <p:sp>
        <p:nvSpPr>
          <p:cNvPr id="666" name="PlaceHolder 3"/>
          <p:cNvSpPr>
            <a:spLocks noGrp="1"/>
          </p:cNvSpPr>
          <p:nvPr>
            <p:ph/>
          </p:nvPr>
        </p:nvSpPr>
        <p:spPr>
          <a:xfrm>
            <a:off x="996840" y="1550520"/>
            <a:ext cx="1470960" cy="1102680"/>
          </a:xfrm>
          <a:prstGeom prst="rect">
            <a:avLst/>
          </a:prstGeom>
          <a:noFill/>
          <a:ln w="0">
            <a:noFill/>
          </a:ln>
        </p:spPr>
        <p:txBody>
          <a:bodyPr lIns="0" tIns="45720" rIns="91440" bIns="0" anchor="b">
            <a:noAutofit/>
          </a:bodyPr>
          <a:lstStyle/>
          <a:p>
            <a:pPr indent="0" defTabSz="914400">
              <a:lnSpc>
                <a:spcPct val="90000"/>
              </a:lnSpc>
              <a:spcBef>
                <a:spcPts val="1001"/>
              </a:spcBef>
              <a:buNone/>
              <a:tabLst>
                <a:tab pos="0" algn="l"/>
              </a:tabLst>
            </a:pPr>
            <a:r>
              <a:rPr lang="en-US" sz="3200" b="0" strike="noStrike" spc="46">
                <a:solidFill>
                  <a:schemeClr val="accent1"/>
                </a:solidFill>
                <a:latin typeface="Avenir Next LT Pro"/>
                <a:ea typeface="Avenir Next"/>
              </a:rPr>
              <a:t>05</a:t>
            </a:r>
            <a:endParaRPr lang="es-AR" sz="3200" b="0" strike="noStrike" spc="-1">
              <a:solidFill>
                <a:srgbClr val="000000"/>
              </a:solidFill>
              <a:latin typeface="Arial"/>
            </a:endParaRPr>
          </a:p>
        </p:txBody>
      </p:sp>
      <p:sp>
        <p:nvSpPr>
          <p:cNvPr id="667"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María Florencia Iuzzolino</a:t>
            </a:r>
            <a:endParaRPr lang="es-AR" sz="1000" b="0" strike="noStrike" spc="-1">
              <a:solidFill>
                <a:srgbClr val="000000"/>
              </a:solidFill>
              <a:latin typeface="Arial"/>
            </a:endParaRPr>
          </a:p>
        </p:txBody>
      </p:sp>
      <p:sp>
        <p:nvSpPr>
          <p:cNvPr id="5" name="PlaceHolder 4"/>
          <p:cNvSpPr>
            <a:spLocks noGrp="1"/>
          </p:cNvSpPr>
          <p:nvPr>
            <p:ph type="sldNum" idx="12"/>
          </p:nvPr>
        </p:nvSpPr>
        <p:spPr/>
        <p:txBody>
          <a:bodyPr/>
          <a:lstStyle/>
          <a:p>
            <a:fld id="{515B80A4-8722-45AF-AC8C-27CBFBA8475C}" type="slidenum">
              <a:rPr/>
              <a:t>21</a:t>
            </a:fld>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 name="PlaceHolder 1"/>
          <p:cNvSpPr>
            <a:spLocks noGrp="1"/>
          </p:cNvSpPr>
          <p:nvPr>
            <p:ph/>
          </p:nvPr>
        </p:nvSpPr>
        <p:spPr>
          <a:xfrm>
            <a:off x="8415720" y="893520"/>
            <a:ext cx="3492360" cy="41544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400" b="0" strike="noStrike" spc="94">
                <a:solidFill>
                  <a:schemeClr val="accent1"/>
                </a:solidFill>
                <a:latin typeface="Avenir Next LT Pro"/>
                <a:ea typeface="Avenir Next"/>
              </a:rPr>
              <a:t>Después</a:t>
            </a:r>
            <a:endParaRPr lang="es-AR" sz="1400" b="0" strike="noStrike" spc="-1">
              <a:solidFill>
                <a:srgbClr val="000000"/>
              </a:solidFill>
              <a:latin typeface="Arial"/>
            </a:endParaRPr>
          </a:p>
        </p:txBody>
      </p:sp>
      <p:sp>
        <p:nvSpPr>
          <p:cNvPr id="670" name="PlaceHolder 2"/>
          <p:cNvSpPr>
            <a:spLocks noGrp="1"/>
          </p:cNvSpPr>
          <p:nvPr>
            <p:ph/>
          </p:nvPr>
        </p:nvSpPr>
        <p:spPr>
          <a:xfrm>
            <a:off x="4345920" y="893520"/>
            <a:ext cx="3492360" cy="41544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400" b="0" strike="noStrike" spc="94">
                <a:solidFill>
                  <a:schemeClr val="accent1"/>
                </a:solidFill>
                <a:latin typeface="Avenir Next LT Pro"/>
                <a:ea typeface="Avenir Next"/>
              </a:rPr>
              <a:t>Próximos 6 meses</a:t>
            </a:r>
            <a:endParaRPr lang="es-AR" sz="1400" b="0" strike="noStrike" spc="-1">
              <a:solidFill>
                <a:srgbClr val="000000"/>
              </a:solidFill>
              <a:latin typeface="Arial"/>
            </a:endParaRPr>
          </a:p>
        </p:txBody>
      </p:sp>
      <p:sp>
        <p:nvSpPr>
          <p:cNvPr id="671" name="PlaceHolder 3"/>
          <p:cNvSpPr>
            <a:spLocks noGrp="1"/>
          </p:cNvSpPr>
          <p:nvPr>
            <p:ph/>
          </p:nvPr>
        </p:nvSpPr>
        <p:spPr>
          <a:xfrm>
            <a:off x="283320" y="893520"/>
            <a:ext cx="3492360" cy="41544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400" b="0" strike="noStrike" spc="94">
                <a:solidFill>
                  <a:schemeClr val="accent1"/>
                </a:solidFill>
                <a:latin typeface="Avenir Next LT Pro"/>
                <a:ea typeface="Avenir Next"/>
              </a:rPr>
              <a:t>Ahora</a:t>
            </a:r>
            <a:endParaRPr lang="es-AR" sz="1400" b="0" strike="noStrike" spc="-1">
              <a:solidFill>
                <a:srgbClr val="000000"/>
              </a:solidFill>
              <a:latin typeface="Arial"/>
            </a:endParaRPr>
          </a:p>
        </p:txBody>
      </p:sp>
      <p:sp>
        <p:nvSpPr>
          <p:cNvPr id="672" name="PlaceHolder 4"/>
          <p:cNvSpPr>
            <a:spLocks noGrp="1"/>
          </p:cNvSpPr>
          <p:nvPr>
            <p:ph/>
          </p:nvPr>
        </p:nvSpPr>
        <p:spPr>
          <a:xfrm>
            <a:off x="283320" y="1484640"/>
            <a:ext cx="3669480" cy="3070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200" b="1" strike="noStrike" spc="35">
                <a:solidFill>
                  <a:schemeClr val="dk1"/>
                </a:solidFill>
                <a:latin typeface="Avenir Next LT Pro"/>
                <a:ea typeface="Avenir Next"/>
              </a:rPr>
              <a:t>Piloto de 90 días</a:t>
            </a:r>
            <a:endParaRPr lang="es-AR" sz="1200" b="0" strike="noStrike" spc="-1">
              <a:solidFill>
                <a:srgbClr val="000000"/>
              </a:solidFill>
              <a:latin typeface="Arial"/>
            </a:endParaRPr>
          </a:p>
        </p:txBody>
      </p:sp>
      <p:sp>
        <p:nvSpPr>
          <p:cNvPr id="673" name="PlaceHolder 5"/>
          <p:cNvSpPr>
            <a:spLocks noGrp="1"/>
          </p:cNvSpPr>
          <p:nvPr>
            <p:ph/>
          </p:nvPr>
        </p:nvSpPr>
        <p:spPr>
          <a:xfrm>
            <a:off x="283320" y="1717560"/>
            <a:ext cx="3439080" cy="1598040"/>
          </a:xfrm>
          <a:prstGeom prst="rect">
            <a:avLst/>
          </a:prstGeom>
          <a:noFill/>
          <a:ln w="0">
            <a:noFill/>
          </a:ln>
        </p:spPr>
        <p:txBody>
          <a:bodyPr lIns="91440" tIns="45720" rIns="91440" bIns="45720" anchor="t">
            <a:noAutofit/>
          </a:bodyPr>
          <a:lstStyle/>
          <a:p>
            <a:pPr indent="0" defTabSz="914400">
              <a:lnSpc>
                <a:spcPct val="100000"/>
              </a:lnSpc>
              <a:spcBef>
                <a:spcPts val="1199"/>
              </a:spcBef>
              <a:buNone/>
              <a:tabLst>
                <a:tab pos="0" algn="l"/>
              </a:tabLst>
            </a:pPr>
            <a:r>
              <a:rPr lang="en-US" sz="1400" b="0" strike="noStrike" spc="-1">
                <a:solidFill>
                  <a:schemeClr val="dk1"/>
                </a:solidFill>
                <a:latin typeface="Avenir Next LT Pro"/>
                <a:ea typeface="Avenir Next"/>
              </a:rPr>
              <a:t>Con Posventa y un grupo de concesionarios, midiendo por grupo de riesgo.</a:t>
            </a:r>
            <a:endParaRPr lang="es-AR" sz="1400" b="0" strike="noStrike" spc="-1">
              <a:solidFill>
                <a:srgbClr val="000000"/>
              </a:solidFill>
              <a:latin typeface="Arial"/>
            </a:endParaRPr>
          </a:p>
        </p:txBody>
      </p:sp>
      <p:sp>
        <p:nvSpPr>
          <p:cNvPr id="674" name="PlaceHolder 6"/>
          <p:cNvSpPr>
            <a:spLocks noGrp="1"/>
          </p:cNvSpPr>
          <p:nvPr>
            <p:ph/>
          </p:nvPr>
        </p:nvSpPr>
        <p:spPr>
          <a:xfrm>
            <a:off x="283320" y="3646080"/>
            <a:ext cx="3669480" cy="3070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200" b="1" strike="noStrike" spc="35">
                <a:solidFill>
                  <a:schemeClr val="dk1"/>
                </a:solidFill>
                <a:latin typeface="Avenir Next LT Pro"/>
                <a:ea typeface="Avenir Next"/>
              </a:rPr>
              <a:t>Validar las reglas</a:t>
            </a:r>
            <a:endParaRPr lang="es-AR" sz="1200" b="0" strike="noStrike" spc="-1">
              <a:solidFill>
                <a:srgbClr val="000000"/>
              </a:solidFill>
              <a:latin typeface="Arial"/>
            </a:endParaRPr>
          </a:p>
        </p:txBody>
      </p:sp>
      <p:sp>
        <p:nvSpPr>
          <p:cNvPr id="675" name="PlaceHolder 7"/>
          <p:cNvSpPr>
            <a:spLocks noGrp="1"/>
          </p:cNvSpPr>
          <p:nvPr>
            <p:ph/>
          </p:nvPr>
        </p:nvSpPr>
        <p:spPr>
          <a:xfrm>
            <a:off x="283320" y="3879000"/>
            <a:ext cx="3439080" cy="1598040"/>
          </a:xfrm>
          <a:prstGeom prst="rect">
            <a:avLst/>
          </a:prstGeom>
          <a:noFill/>
          <a:ln w="0">
            <a:noFill/>
          </a:ln>
        </p:spPr>
        <p:txBody>
          <a:bodyPr lIns="91440" tIns="45720" rIns="91440" bIns="45720" anchor="t">
            <a:noAutofit/>
          </a:bodyPr>
          <a:lstStyle/>
          <a:p>
            <a:pPr indent="0" defTabSz="914400">
              <a:lnSpc>
                <a:spcPct val="100000"/>
              </a:lnSpc>
              <a:spcBef>
                <a:spcPts val="1199"/>
              </a:spcBef>
              <a:buNone/>
              <a:tabLst>
                <a:tab pos="0" algn="l"/>
              </a:tabLst>
            </a:pPr>
            <a:r>
              <a:rPr lang="en-US" sz="1400" b="0" strike="noStrike" spc="-1">
                <a:solidFill>
                  <a:schemeClr val="dk1"/>
                </a:solidFill>
                <a:latin typeface="Avenir Next LT Pro"/>
                <a:ea typeface="Avenir Next"/>
              </a:rPr>
              <a:t>Ventana por modelo y capacidad real de contacto de cada concesionario.</a:t>
            </a:r>
            <a:endParaRPr lang="es-AR" sz="1400" b="0" strike="noStrike" spc="-1">
              <a:solidFill>
                <a:srgbClr val="000000"/>
              </a:solidFill>
              <a:latin typeface="Arial"/>
            </a:endParaRPr>
          </a:p>
        </p:txBody>
      </p:sp>
      <p:sp>
        <p:nvSpPr>
          <p:cNvPr id="676" name="PlaceHolder 8"/>
          <p:cNvSpPr>
            <a:spLocks noGrp="1"/>
          </p:cNvSpPr>
          <p:nvPr>
            <p:ph/>
          </p:nvPr>
        </p:nvSpPr>
        <p:spPr>
          <a:xfrm>
            <a:off x="4345920" y="1484640"/>
            <a:ext cx="3669480" cy="3070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200" b="1" strike="noStrike" spc="35">
                <a:solidFill>
                  <a:schemeClr val="dk1"/>
                </a:solidFill>
                <a:latin typeface="Avenir Next LT Pro"/>
                <a:ea typeface="Avenir Next"/>
              </a:rPr>
              <a:t>Integrarlo a la operación</a:t>
            </a:r>
            <a:endParaRPr lang="es-AR" sz="1200" b="0" strike="noStrike" spc="-1">
              <a:solidFill>
                <a:srgbClr val="000000"/>
              </a:solidFill>
              <a:latin typeface="Arial"/>
            </a:endParaRPr>
          </a:p>
        </p:txBody>
      </p:sp>
      <p:sp>
        <p:nvSpPr>
          <p:cNvPr id="677" name="PlaceHolder 9"/>
          <p:cNvSpPr>
            <a:spLocks noGrp="1"/>
          </p:cNvSpPr>
          <p:nvPr>
            <p:ph/>
          </p:nvPr>
        </p:nvSpPr>
        <p:spPr>
          <a:xfrm>
            <a:off x="4345920" y="1717560"/>
            <a:ext cx="3439080" cy="1598040"/>
          </a:xfrm>
          <a:prstGeom prst="rect">
            <a:avLst/>
          </a:prstGeom>
          <a:noFill/>
          <a:ln w="0">
            <a:noFill/>
          </a:ln>
        </p:spPr>
        <p:txBody>
          <a:bodyPr lIns="91440" tIns="45720" rIns="91440" bIns="45720" anchor="t">
            <a:noAutofit/>
          </a:bodyPr>
          <a:lstStyle/>
          <a:p>
            <a:pPr indent="0" defTabSz="914400">
              <a:lnSpc>
                <a:spcPct val="100000"/>
              </a:lnSpc>
              <a:spcBef>
                <a:spcPts val="1199"/>
              </a:spcBef>
              <a:buNone/>
              <a:tabLst>
                <a:tab pos="0" algn="l"/>
              </a:tabLst>
            </a:pPr>
            <a:r>
              <a:rPr lang="en-US" sz="1400" b="0" strike="noStrike" spc="-1">
                <a:solidFill>
                  <a:schemeClr val="dk1"/>
                </a:solidFill>
                <a:latin typeface="Avenir Next LT Pro"/>
                <a:ea typeface="Avenir Next"/>
              </a:rPr>
              <a:t>La lista, dentro de Service Leads y Service Reminder, todos los meses.</a:t>
            </a:r>
            <a:endParaRPr lang="es-AR" sz="1400" b="0" strike="noStrike" spc="-1">
              <a:solidFill>
                <a:srgbClr val="000000"/>
              </a:solidFill>
              <a:latin typeface="Arial"/>
            </a:endParaRPr>
          </a:p>
        </p:txBody>
      </p:sp>
      <p:sp>
        <p:nvSpPr>
          <p:cNvPr id="678" name="PlaceHolder 10"/>
          <p:cNvSpPr>
            <a:spLocks noGrp="1"/>
          </p:cNvSpPr>
          <p:nvPr>
            <p:ph/>
          </p:nvPr>
        </p:nvSpPr>
        <p:spPr>
          <a:xfrm>
            <a:off x="4345920" y="3542400"/>
            <a:ext cx="3669480" cy="3070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200" b="1" strike="noStrike" spc="35">
                <a:solidFill>
                  <a:schemeClr val="dk1"/>
                </a:solidFill>
                <a:latin typeface="Avenir Next LT Pro"/>
                <a:ea typeface="Avenir Next"/>
              </a:rPr>
              <a:t>Kilómetros reales</a:t>
            </a:r>
            <a:endParaRPr lang="es-AR" sz="1200" b="0" strike="noStrike" spc="-1">
              <a:solidFill>
                <a:srgbClr val="000000"/>
              </a:solidFill>
              <a:latin typeface="Arial"/>
            </a:endParaRPr>
          </a:p>
        </p:txBody>
      </p:sp>
      <p:sp>
        <p:nvSpPr>
          <p:cNvPr id="679" name="PlaceHolder 11"/>
          <p:cNvSpPr>
            <a:spLocks noGrp="1"/>
          </p:cNvSpPr>
          <p:nvPr>
            <p:ph/>
          </p:nvPr>
        </p:nvSpPr>
        <p:spPr>
          <a:xfrm>
            <a:off x="4345920" y="3775320"/>
            <a:ext cx="3439080" cy="1598040"/>
          </a:xfrm>
          <a:prstGeom prst="rect">
            <a:avLst/>
          </a:prstGeom>
          <a:noFill/>
          <a:ln w="0">
            <a:noFill/>
          </a:ln>
        </p:spPr>
        <p:txBody>
          <a:bodyPr lIns="91440" tIns="45720" rIns="91440" bIns="45720" anchor="t">
            <a:noAutofit/>
          </a:bodyPr>
          <a:lstStyle/>
          <a:p>
            <a:pPr indent="0" defTabSz="914400">
              <a:lnSpc>
                <a:spcPct val="100000"/>
              </a:lnSpc>
              <a:spcBef>
                <a:spcPts val="1199"/>
              </a:spcBef>
              <a:buNone/>
              <a:tabLst>
                <a:tab pos="0" algn="l"/>
              </a:tabLst>
            </a:pPr>
            <a:r>
              <a:rPr lang="en-US" sz="1400" b="0" strike="noStrike" spc="-1">
                <a:solidFill>
                  <a:schemeClr val="dk1"/>
                </a:solidFill>
                <a:latin typeface="Avenir Next LT Pro"/>
                <a:ea typeface="Avenir Next"/>
              </a:rPr>
              <a:t>Con la telemetría de los vehículos conectados, el primer service se predice mejor.</a:t>
            </a:r>
            <a:endParaRPr lang="es-AR" sz="1400" b="0" strike="noStrike" spc="-1">
              <a:solidFill>
                <a:srgbClr val="000000"/>
              </a:solidFill>
              <a:latin typeface="Arial"/>
            </a:endParaRPr>
          </a:p>
        </p:txBody>
      </p:sp>
      <p:sp>
        <p:nvSpPr>
          <p:cNvPr id="680" name="PlaceHolder 12"/>
          <p:cNvSpPr>
            <a:spLocks noGrp="1"/>
          </p:cNvSpPr>
          <p:nvPr>
            <p:ph/>
          </p:nvPr>
        </p:nvSpPr>
        <p:spPr>
          <a:xfrm>
            <a:off x="8415720" y="1484640"/>
            <a:ext cx="3669480" cy="3070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200" b="1" strike="noStrike" spc="35">
                <a:solidFill>
                  <a:schemeClr val="dk1"/>
                </a:solidFill>
                <a:latin typeface="Avenir Next LT Pro"/>
                <a:ea typeface="Avenir Next"/>
              </a:rPr>
              <a:t>A quién conviene contactar</a:t>
            </a:r>
            <a:endParaRPr lang="es-AR" sz="1200" b="0" strike="noStrike" spc="-1">
              <a:solidFill>
                <a:srgbClr val="000000"/>
              </a:solidFill>
              <a:latin typeface="Arial"/>
            </a:endParaRPr>
          </a:p>
        </p:txBody>
      </p:sp>
      <p:sp>
        <p:nvSpPr>
          <p:cNvPr id="681" name="PlaceHolder 13"/>
          <p:cNvSpPr>
            <a:spLocks noGrp="1"/>
          </p:cNvSpPr>
          <p:nvPr>
            <p:ph/>
          </p:nvPr>
        </p:nvSpPr>
        <p:spPr>
          <a:xfrm>
            <a:off x="8415720" y="1717560"/>
            <a:ext cx="3439080" cy="875520"/>
          </a:xfrm>
          <a:prstGeom prst="rect">
            <a:avLst/>
          </a:prstGeom>
          <a:noFill/>
          <a:ln w="0">
            <a:noFill/>
          </a:ln>
        </p:spPr>
        <p:txBody>
          <a:bodyPr lIns="91440" tIns="45720" rIns="91440" bIns="45720" anchor="t">
            <a:noAutofit/>
          </a:bodyPr>
          <a:lstStyle/>
          <a:p>
            <a:pPr indent="0" defTabSz="914400">
              <a:lnSpc>
                <a:spcPct val="100000"/>
              </a:lnSpc>
              <a:spcBef>
                <a:spcPts val="1199"/>
              </a:spcBef>
              <a:buNone/>
              <a:tabLst>
                <a:tab pos="0" algn="l"/>
              </a:tabLst>
            </a:pPr>
            <a:r>
              <a:rPr lang="en-US" sz="1400" b="0" strike="noStrike" spc="-1">
                <a:solidFill>
                  <a:schemeClr val="dk1"/>
                </a:solidFill>
                <a:latin typeface="Avenir Next LT Pro"/>
                <a:ea typeface="Avenir Next"/>
              </a:rPr>
              <a:t>No sólo quién se va: a quién el contacto le cambia la decisión.</a:t>
            </a:r>
            <a:endParaRPr lang="es-AR" sz="1400" b="0" strike="noStrike" spc="-1">
              <a:solidFill>
                <a:srgbClr val="000000"/>
              </a:solidFill>
              <a:latin typeface="Arial"/>
            </a:endParaRPr>
          </a:p>
        </p:txBody>
      </p:sp>
      <p:sp>
        <p:nvSpPr>
          <p:cNvPr id="684" name="PlaceHolder 16"/>
          <p:cNvSpPr>
            <a:spLocks noGrp="1"/>
          </p:cNvSpPr>
          <p:nvPr>
            <p:ph/>
          </p:nvPr>
        </p:nvSpPr>
        <p:spPr>
          <a:xfrm>
            <a:off x="394920" y="286920"/>
            <a:ext cx="4988160" cy="198000"/>
          </a:xfrm>
          <a:prstGeom prst="rect">
            <a:avLst/>
          </a:prstGeom>
          <a:noFill/>
          <a:ln w="0">
            <a:noFill/>
          </a:ln>
        </p:spPr>
        <p:txBody>
          <a:bodyPr lIns="0" tIns="45720" rIns="91440" bIns="45720" anchor="t">
            <a:noAutofit/>
          </a:bodyPr>
          <a:lstStyle/>
          <a:p>
            <a:pPr indent="0" defTabSz="914400">
              <a:lnSpc>
                <a:spcPct val="90000"/>
              </a:lnSpc>
              <a:spcBef>
                <a:spcPts val="1001"/>
              </a:spcBef>
              <a:buNone/>
              <a:tabLst>
                <a:tab pos="0" algn="l"/>
              </a:tabLst>
            </a:pPr>
            <a:r>
              <a:rPr lang="en-US" sz="900" b="0" strike="noStrike" cap="all" spc="296">
                <a:solidFill>
                  <a:schemeClr val="accent1"/>
                </a:solidFill>
                <a:latin typeface="Avenir Next LT Pro"/>
                <a:ea typeface="Avenir Next"/>
              </a:rPr>
              <a:t>05 · Trabajo futuro</a:t>
            </a:r>
            <a:endParaRPr lang="es-AR" sz="900" b="0" strike="noStrike" spc="-1">
              <a:solidFill>
                <a:srgbClr val="000000"/>
              </a:solidFill>
              <a:latin typeface="Arial"/>
            </a:endParaRPr>
          </a:p>
        </p:txBody>
      </p:sp>
      <p:sp>
        <p:nvSpPr>
          <p:cNvPr id="685" name="PlaceHolder 17"/>
          <p:cNvSpPr>
            <a:spLocks noGrp="1"/>
          </p:cNvSpPr>
          <p:nvPr>
            <p:ph type="sldNum" idx="70"/>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AB26C83A-ACA0-4C1F-8FA1-170A03851C3F}" type="slidenum">
              <a:rPr lang="en-US" sz="800" b="0" strike="noStrike" spc="-1">
                <a:solidFill>
                  <a:schemeClr val="dk1"/>
                </a:solidFill>
                <a:latin typeface="Avenir Next LT Pro"/>
                <a:ea typeface="Avenir Next"/>
              </a:rPr>
              <a:t>22</a:t>
            </a:fld>
            <a:endParaRPr lang="es-AR" sz="800" b="0" strike="noStrike" spc="-1">
              <a:solidFill>
                <a:srgbClr val="000000"/>
              </a:solidFill>
              <a:latin typeface="Times New Roman"/>
            </a:endParaRPr>
          </a:p>
        </p:txBody>
      </p:sp>
      <p:sp>
        <p:nvSpPr>
          <p:cNvPr id="686"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María Florencia Iuzzolino</a:t>
            </a:r>
            <a:endParaRPr lang="es-AR" sz="1000" b="0" strike="noStrike" spc="-1">
              <a:solidFill>
                <a:srgbClr val="000000"/>
              </a:solidFill>
              <a:latin typeface="Arial"/>
            </a:endParaRPr>
          </a:p>
        </p:txBody>
      </p:sp>
      <p:sp>
        <p:nvSpPr>
          <p:cNvPr id="2" name="Rectangle: Rounded Corners 1">
            <a:extLst>
              <a:ext uri="{FF2B5EF4-FFF2-40B4-BE49-F238E27FC236}">
                <a16:creationId xmlns:a16="http://schemas.microsoft.com/office/drawing/2014/main" id="{336AB95A-2F41-E80A-214C-4C60B1F098AB}"/>
              </a:ext>
            </a:extLst>
          </p:cNvPr>
          <p:cNvSpPr/>
          <p:nvPr/>
        </p:nvSpPr>
        <p:spPr>
          <a:xfrm>
            <a:off x="8318089" y="3429000"/>
            <a:ext cx="3767111" cy="30571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82" name="PlaceHolder 14"/>
          <p:cNvSpPr>
            <a:spLocks noGrp="1"/>
          </p:cNvSpPr>
          <p:nvPr>
            <p:ph/>
          </p:nvPr>
        </p:nvSpPr>
        <p:spPr>
          <a:xfrm>
            <a:off x="8415720" y="3542133"/>
            <a:ext cx="3669480" cy="3070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200" b="1" strike="noStrike" spc="35" dirty="0">
                <a:solidFill>
                  <a:schemeClr val="dk1"/>
                </a:solidFill>
                <a:latin typeface="Avenir Next LT Pro"/>
                <a:ea typeface="Avenir Next"/>
              </a:rPr>
              <a:t>Toda la gama</a:t>
            </a:r>
            <a:endParaRPr lang="es-AR" sz="1200" b="0" strike="noStrike" spc="-1" dirty="0">
              <a:solidFill>
                <a:srgbClr val="000000"/>
              </a:solidFill>
              <a:latin typeface="Arial"/>
            </a:endParaRPr>
          </a:p>
        </p:txBody>
      </p:sp>
      <p:sp>
        <p:nvSpPr>
          <p:cNvPr id="683" name="PlaceHolder 15"/>
          <p:cNvSpPr>
            <a:spLocks noGrp="1"/>
          </p:cNvSpPr>
          <p:nvPr>
            <p:ph/>
          </p:nvPr>
        </p:nvSpPr>
        <p:spPr>
          <a:xfrm>
            <a:off x="8415720" y="3775053"/>
            <a:ext cx="3439080" cy="875520"/>
          </a:xfrm>
          <a:prstGeom prst="rect">
            <a:avLst/>
          </a:prstGeom>
          <a:noFill/>
          <a:ln w="0">
            <a:noFill/>
          </a:ln>
        </p:spPr>
        <p:txBody>
          <a:bodyPr lIns="91440" tIns="45720" rIns="91440" bIns="45720" anchor="t">
            <a:noAutofit/>
          </a:bodyPr>
          <a:lstStyle/>
          <a:p>
            <a:pPr indent="0" defTabSz="914400">
              <a:lnSpc>
                <a:spcPct val="100000"/>
              </a:lnSpc>
              <a:spcBef>
                <a:spcPts val="1199"/>
              </a:spcBef>
              <a:buNone/>
              <a:tabLst>
                <a:tab pos="0" algn="l"/>
              </a:tabLst>
            </a:pPr>
            <a:r>
              <a:rPr lang="en-US" sz="1400" b="0" strike="noStrike" spc="-1" dirty="0">
                <a:solidFill>
                  <a:schemeClr val="dk1"/>
                </a:solidFill>
                <a:latin typeface="Avenir Next LT Pro"/>
                <a:ea typeface="Avenir Next"/>
              </a:rPr>
              <a:t>La </a:t>
            </a:r>
            <a:r>
              <a:rPr lang="en-US" sz="1400" b="0" strike="noStrike" spc="-1" dirty="0" err="1">
                <a:solidFill>
                  <a:schemeClr val="dk1"/>
                </a:solidFill>
                <a:latin typeface="Avenir Next LT Pro"/>
                <a:ea typeface="Avenir Next"/>
              </a:rPr>
              <a:t>misma</a:t>
            </a:r>
            <a:r>
              <a:rPr lang="en-US" sz="1400" b="0" strike="noStrike" spc="-1" dirty="0">
                <a:solidFill>
                  <a:schemeClr val="dk1"/>
                </a:solidFill>
                <a:latin typeface="Avenir Next LT Pro"/>
                <a:ea typeface="Avenir Next"/>
              </a:rPr>
              <a:t> </a:t>
            </a:r>
            <a:r>
              <a:rPr lang="en-US" sz="1400" b="0" strike="noStrike" spc="-1" dirty="0" err="1">
                <a:solidFill>
                  <a:schemeClr val="dk1"/>
                </a:solidFill>
                <a:latin typeface="Avenir Next LT Pro"/>
                <a:ea typeface="Avenir Next"/>
              </a:rPr>
              <a:t>lógica</a:t>
            </a:r>
            <a:r>
              <a:rPr lang="en-US" sz="1400" b="0" strike="noStrike" spc="-1" dirty="0">
                <a:solidFill>
                  <a:schemeClr val="dk1"/>
                </a:solidFill>
                <a:latin typeface="Avenir Next LT Pro"/>
                <a:ea typeface="Avenir Next"/>
              </a:rPr>
              <a:t> para el resto de </a:t>
            </a:r>
            <a:r>
              <a:rPr lang="en-US" sz="1400" b="0" strike="noStrike" spc="-1" dirty="0" err="1">
                <a:solidFill>
                  <a:schemeClr val="dk1"/>
                </a:solidFill>
                <a:latin typeface="Avenir Next LT Pro"/>
                <a:ea typeface="Avenir Next"/>
              </a:rPr>
              <a:t>los</a:t>
            </a:r>
            <a:r>
              <a:rPr lang="en-US" sz="1400" b="0" strike="noStrike" spc="-1" dirty="0">
                <a:solidFill>
                  <a:schemeClr val="dk1"/>
                </a:solidFill>
                <a:latin typeface="Avenir Next LT Pro"/>
                <a:ea typeface="Avenir Next"/>
              </a:rPr>
              <a:t> </a:t>
            </a:r>
            <a:r>
              <a:rPr lang="en-US" sz="1400" b="0" strike="noStrike" spc="-1" dirty="0" err="1">
                <a:solidFill>
                  <a:schemeClr val="dk1"/>
                </a:solidFill>
                <a:latin typeface="Avenir Next LT Pro"/>
                <a:ea typeface="Avenir Next"/>
              </a:rPr>
              <a:t>modelos</a:t>
            </a:r>
            <a:r>
              <a:rPr lang="en-US" sz="1400" b="0" strike="noStrike" spc="-1" dirty="0">
                <a:solidFill>
                  <a:schemeClr val="dk1"/>
                </a:solidFill>
                <a:latin typeface="Avenir Next LT Pro"/>
                <a:ea typeface="Avenir Next"/>
              </a:rPr>
              <a:t> Ford.</a:t>
            </a:r>
            <a:endParaRPr lang="es-AR" sz="140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671"/>
                                        </p:tgtEl>
                                        <p:attrNameLst>
                                          <p:attrName>style.visibility</p:attrName>
                                        </p:attrNameLst>
                                      </p:cBhvr>
                                      <p:to>
                                        <p:strVal val="visible"/>
                                      </p:to>
                                    </p:set>
                                    <p:animEffect transition="in" filter="fade">
                                      <p:cBhvr additive="repl">
                                        <p:cTn id="7" dur="500"/>
                                        <p:tgtEl>
                                          <p:spTgt spid="671"/>
                                        </p:tgtEl>
                                      </p:cBhvr>
                                    </p:animEffect>
                                  </p:childTnLst>
                                </p:cTn>
                              </p:par>
                              <p:par>
                                <p:cTn id="8" presetID="10" presetClass="entr" fill="hold" nodeType="withEffect">
                                  <p:stCondLst>
                                    <p:cond delay="0"/>
                                  </p:stCondLst>
                                  <p:childTnLst>
                                    <p:set>
                                      <p:cBhvr>
                                        <p:cTn id="9" dur="1" fill="hold">
                                          <p:stCondLst>
                                            <p:cond delay="0"/>
                                          </p:stCondLst>
                                        </p:cTn>
                                        <p:tgtEl>
                                          <p:spTgt spid="672"/>
                                        </p:tgtEl>
                                        <p:attrNameLst>
                                          <p:attrName>style.visibility</p:attrName>
                                        </p:attrNameLst>
                                      </p:cBhvr>
                                      <p:to>
                                        <p:strVal val="visible"/>
                                      </p:to>
                                    </p:set>
                                    <p:animEffect transition="in" filter="fade">
                                      <p:cBhvr additive="repl">
                                        <p:cTn id="10" dur="500"/>
                                        <p:tgtEl>
                                          <p:spTgt spid="672"/>
                                        </p:tgtEl>
                                      </p:cBhvr>
                                    </p:animEffect>
                                  </p:childTnLst>
                                </p:cTn>
                              </p:par>
                              <p:par>
                                <p:cTn id="11" presetID="10" presetClass="entr" fill="hold" nodeType="withEffect">
                                  <p:stCondLst>
                                    <p:cond delay="0"/>
                                  </p:stCondLst>
                                  <p:childTnLst>
                                    <p:set>
                                      <p:cBhvr>
                                        <p:cTn id="12" dur="1" fill="hold">
                                          <p:stCondLst>
                                            <p:cond delay="0"/>
                                          </p:stCondLst>
                                        </p:cTn>
                                        <p:tgtEl>
                                          <p:spTgt spid="673"/>
                                        </p:tgtEl>
                                        <p:attrNameLst>
                                          <p:attrName>style.visibility</p:attrName>
                                        </p:attrNameLst>
                                      </p:cBhvr>
                                      <p:to>
                                        <p:strVal val="visible"/>
                                      </p:to>
                                    </p:set>
                                    <p:animEffect transition="in" filter="fade">
                                      <p:cBhvr additive="repl">
                                        <p:cTn id="13" dur="500"/>
                                        <p:tgtEl>
                                          <p:spTgt spid="673"/>
                                        </p:tgtEl>
                                      </p:cBhvr>
                                    </p:animEffect>
                                  </p:childTnLst>
                                </p:cTn>
                              </p:par>
                              <p:par>
                                <p:cTn id="14" presetID="10" presetClass="entr" fill="hold" nodeType="withEffect">
                                  <p:stCondLst>
                                    <p:cond delay="0"/>
                                  </p:stCondLst>
                                  <p:childTnLst>
                                    <p:set>
                                      <p:cBhvr>
                                        <p:cTn id="15" dur="1" fill="hold">
                                          <p:stCondLst>
                                            <p:cond delay="0"/>
                                          </p:stCondLst>
                                        </p:cTn>
                                        <p:tgtEl>
                                          <p:spTgt spid="674"/>
                                        </p:tgtEl>
                                        <p:attrNameLst>
                                          <p:attrName>style.visibility</p:attrName>
                                        </p:attrNameLst>
                                      </p:cBhvr>
                                      <p:to>
                                        <p:strVal val="visible"/>
                                      </p:to>
                                    </p:set>
                                    <p:animEffect transition="in" filter="fade">
                                      <p:cBhvr additive="repl">
                                        <p:cTn id="16" dur="500"/>
                                        <p:tgtEl>
                                          <p:spTgt spid="674"/>
                                        </p:tgtEl>
                                      </p:cBhvr>
                                    </p:animEffect>
                                  </p:childTnLst>
                                </p:cTn>
                              </p:par>
                              <p:par>
                                <p:cTn id="17" presetID="10" presetClass="entr" fill="hold" nodeType="withEffect">
                                  <p:stCondLst>
                                    <p:cond delay="0"/>
                                  </p:stCondLst>
                                  <p:childTnLst>
                                    <p:set>
                                      <p:cBhvr>
                                        <p:cTn id="18" dur="1" fill="hold">
                                          <p:stCondLst>
                                            <p:cond delay="0"/>
                                          </p:stCondLst>
                                        </p:cTn>
                                        <p:tgtEl>
                                          <p:spTgt spid="675"/>
                                        </p:tgtEl>
                                        <p:attrNameLst>
                                          <p:attrName>style.visibility</p:attrName>
                                        </p:attrNameLst>
                                      </p:cBhvr>
                                      <p:to>
                                        <p:strVal val="visible"/>
                                      </p:to>
                                    </p:set>
                                    <p:animEffect transition="in" filter="fade">
                                      <p:cBhvr additive="repl">
                                        <p:cTn id="19" dur="500"/>
                                        <p:tgtEl>
                                          <p:spTgt spid="67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fill="hold" nodeType="clickEffect">
                                  <p:stCondLst>
                                    <p:cond delay="0"/>
                                  </p:stCondLst>
                                  <p:childTnLst>
                                    <p:set>
                                      <p:cBhvr>
                                        <p:cTn id="23" dur="1" fill="hold">
                                          <p:stCondLst>
                                            <p:cond delay="0"/>
                                          </p:stCondLst>
                                        </p:cTn>
                                        <p:tgtEl>
                                          <p:spTgt spid="670"/>
                                        </p:tgtEl>
                                        <p:attrNameLst>
                                          <p:attrName>style.visibility</p:attrName>
                                        </p:attrNameLst>
                                      </p:cBhvr>
                                      <p:to>
                                        <p:strVal val="visible"/>
                                      </p:to>
                                    </p:set>
                                    <p:animEffect transition="in" filter="fade">
                                      <p:cBhvr additive="repl">
                                        <p:cTn id="24" dur="500"/>
                                        <p:tgtEl>
                                          <p:spTgt spid="670"/>
                                        </p:tgtEl>
                                      </p:cBhvr>
                                    </p:animEffect>
                                  </p:childTnLst>
                                </p:cTn>
                              </p:par>
                              <p:par>
                                <p:cTn id="25" presetID="10" presetClass="entr" fill="hold" nodeType="withEffect">
                                  <p:stCondLst>
                                    <p:cond delay="0"/>
                                  </p:stCondLst>
                                  <p:childTnLst>
                                    <p:set>
                                      <p:cBhvr>
                                        <p:cTn id="26" dur="1" fill="hold">
                                          <p:stCondLst>
                                            <p:cond delay="0"/>
                                          </p:stCondLst>
                                        </p:cTn>
                                        <p:tgtEl>
                                          <p:spTgt spid="676"/>
                                        </p:tgtEl>
                                        <p:attrNameLst>
                                          <p:attrName>style.visibility</p:attrName>
                                        </p:attrNameLst>
                                      </p:cBhvr>
                                      <p:to>
                                        <p:strVal val="visible"/>
                                      </p:to>
                                    </p:set>
                                    <p:animEffect transition="in" filter="fade">
                                      <p:cBhvr additive="repl">
                                        <p:cTn id="27" dur="500"/>
                                        <p:tgtEl>
                                          <p:spTgt spid="676"/>
                                        </p:tgtEl>
                                      </p:cBhvr>
                                    </p:animEffect>
                                  </p:childTnLst>
                                </p:cTn>
                              </p:par>
                              <p:par>
                                <p:cTn id="28" presetID="10" presetClass="entr" fill="hold" nodeType="withEffect">
                                  <p:stCondLst>
                                    <p:cond delay="0"/>
                                  </p:stCondLst>
                                  <p:childTnLst>
                                    <p:set>
                                      <p:cBhvr>
                                        <p:cTn id="29" dur="1" fill="hold">
                                          <p:stCondLst>
                                            <p:cond delay="0"/>
                                          </p:stCondLst>
                                        </p:cTn>
                                        <p:tgtEl>
                                          <p:spTgt spid="677"/>
                                        </p:tgtEl>
                                        <p:attrNameLst>
                                          <p:attrName>style.visibility</p:attrName>
                                        </p:attrNameLst>
                                      </p:cBhvr>
                                      <p:to>
                                        <p:strVal val="visible"/>
                                      </p:to>
                                    </p:set>
                                    <p:animEffect transition="in" filter="fade">
                                      <p:cBhvr additive="repl">
                                        <p:cTn id="30" dur="500"/>
                                        <p:tgtEl>
                                          <p:spTgt spid="677"/>
                                        </p:tgtEl>
                                      </p:cBhvr>
                                    </p:animEffect>
                                  </p:childTnLst>
                                </p:cTn>
                              </p:par>
                              <p:par>
                                <p:cTn id="31" presetID="10" presetClass="entr" fill="hold" nodeType="withEffect">
                                  <p:stCondLst>
                                    <p:cond delay="0"/>
                                  </p:stCondLst>
                                  <p:childTnLst>
                                    <p:set>
                                      <p:cBhvr>
                                        <p:cTn id="32" dur="1" fill="hold">
                                          <p:stCondLst>
                                            <p:cond delay="0"/>
                                          </p:stCondLst>
                                        </p:cTn>
                                        <p:tgtEl>
                                          <p:spTgt spid="678"/>
                                        </p:tgtEl>
                                        <p:attrNameLst>
                                          <p:attrName>style.visibility</p:attrName>
                                        </p:attrNameLst>
                                      </p:cBhvr>
                                      <p:to>
                                        <p:strVal val="visible"/>
                                      </p:to>
                                    </p:set>
                                    <p:animEffect transition="in" filter="fade">
                                      <p:cBhvr additive="repl">
                                        <p:cTn id="33" dur="500"/>
                                        <p:tgtEl>
                                          <p:spTgt spid="678"/>
                                        </p:tgtEl>
                                      </p:cBhvr>
                                    </p:animEffect>
                                  </p:childTnLst>
                                </p:cTn>
                              </p:par>
                              <p:par>
                                <p:cTn id="34" presetID="10" presetClass="entr" fill="hold" nodeType="withEffect">
                                  <p:stCondLst>
                                    <p:cond delay="0"/>
                                  </p:stCondLst>
                                  <p:childTnLst>
                                    <p:set>
                                      <p:cBhvr>
                                        <p:cTn id="35" dur="1" fill="hold">
                                          <p:stCondLst>
                                            <p:cond delay="0"/>
                                          </p:stCondLst>
                                        </p:cTn>
                                        <p:tgtEl>
                                          <p:spTgt spid="679"/>
                                        </p:tgtEl>
                                        <p:attrNameLst>
                                          <p:attrName>style.visibility</p:attrName>
                                        </p:attrNameLst>
                                      </p:cBhvr>
                                      <p:to>
                                        <p:strVal val="visible"/>
                                      </p:to>
                                    </p:set>
                                    <p:animEffect transition="in" filter="fade">
                                      <p:cBhvr additive="repl">
                                        <p:cTn id="36" dur="500"/>
                                        <p:tgtEl>
                                          <p:spTgt spid="679"/>
                                        </p:tgtEl>
                                      </p:cBhvr>
                                    </p:animEffect>
                                  </p:childTnLst>
                                </p:cTn>
                              </p:par>
                              <p:par>
                                <p:cTn id="37" presetID="10" presetClass="entr" fill="hold" nodeType="withEffect">
                                  <p:stCondLst>
                                    <p:cond delay="0"/>
                                  </p:stCondLst>
                                  <p:childTnLst>
                                    <p:set>
                                      <p:cBhvr>
                                        <p:cTn id="38" dur="1" fill="hold">
                                          <p:stCondLst>
                                            <p:cond delay="0"/>
                                          </p:stCondLst>
                                        </p:cTn>
                                        <p:tgtEl>
                                          <p:spTgt spid="669"/>
                                        </p:tgtEl>
                                        <p:attrNameLst>
                                          <p:attrName>style.visibility</p:attrName>
                                        </p:attrNameLst>
                                      </p:cBhvr>
                                      <p:to>
                                        <p:strVal val="visible"/>
                                      </p:to>
                                    </p:set>
                                    <p:animEffect transition="in" filter="fade">
                                      <p:cBhvr additive="repl">
                                        <p:cTn id="39" dur="500"/>
                                        <p:tgtEl>
                                          <p:spTgt spid="669"/>
                                        </p:tgtEl>
                                      </p:cBhvr>
                                    </p:animEffect>
                                  </p:childTnLst>
                                </p:cTn>
                              </p:par>
                              <p:par>
                                <p:cTn id="40" presetID="10" presetClass="entr" fill="hold" nodeType="withEffect">
                                  <p:stCondLst>
                                    <p:cond delay="0"/>
                                  </p:stCondLst>
                                  <p:childTnLst>
                                    <p:set>
                                      <p:cBhvr>
                                        <p:cTn id="41" dur="1" fill="hold">
                                          <p:stCondLst>
                                            <p:cond delay="0"/>
                                          </p:stCondLst>
                                        </p:cTn>
                                        <p:tgtEl>
                                          <p:spTgt spid="680"/>
                                        </p:tgtEl>
                                        <p:attrNameLst>
                                          <p:attrName>style.visibility</p:attrName>
                                        </p:attrNameLst>
                                      </p:cBhvr>
                                      <p:to>
                                        <p:strVal val="visible"/>
                                      </p:to>
                                    </p:set>
                                    <p:animEffect transition="in" filter="fade">
                                      <p:cBhvr additive="repl">
                                        <p:cTn id="42" dur="500"/>
                                        <p:tgtEl>
                                          <p:spTgt spid="680"/>
                                        </p:tgtEl>
                                      </p:cBhvr>
                                    </p:animEffect>
                                  </p:childTnLst>
                                </p:cTn>
                              </p:par>
                              <p:par>
                                <p:cTn id="43" presetID="10" presetClass="entr" fill="hold" nodeType="withEffect">
                                  <p:stCondLst>
                                    <p:cond delay="0"/>
                                  </p:stCondLst>
                                  <p:childTnLst>
                                    <p:set>
                                      <p:cBhvr>
                                        <p:cTn id="44" dur="1" fill="hold">
                                          <p:stCondLst>
                                            <p:cond delay="0"/>
                                          </p:stCondLst>
                                        </p:cTn>
                                        <p:tgtEl>
                                          <p:spTgt spid="681"/>
                                        </p:tgtEl>
                                        <p:attrNameLst>
                                          <p:attrName>style.visibility</p:attrName>
                                        </p:attrNameLst>
                                      </p:cBhvr>
                                      <p:to>
                                        <p:strVal val="visible"/>
                                      </p:to>
                                    </p:set>
                                    <p:animEffect transition="in" filter="fade">
                                      <p:cBhvr additive="repl">
                                        <p:cTn id="45" dur="500"/>
                                        <p:tgtEl>
                                          <p:spTgt spid="681"/>
                                        </p:tgtEl>
                                      </p:cBhvr>
                                    </p:animEffect>
                                  </p:childTnLst>
                                </p:cTn>
                              </p:par>
                              <p:par>
                                <p:cTn id="46" presetID="10" presetClass="entr" fill="hold" nodeType="withEffect">
                                  <p:stCondLst>
                                    <p:cond delay="0"/>
                                  </p:stCondLst>
                                  <p:childTnLst>
                                    <p:set>
                                      <p:cBhvr>
                                        <p:cTn id="47" dur="1" fill="hold">
                                          <p:stCondLst>
                                            <p:cond delay="0"/>
                                          </p:stCondLst>
                                        </p:cTn>
                                        <p:tgtEl>
                                          <p:spTgt spid="682"/>
                                        </p:tgtEl>
                                        <p:attrNameLst>
                                          <p:attrName>style.visibility</p:attrName>
                                        </p:attrNameLst>
                                      </p:cBhvr>
                                      <p:to>
                                        <p:strVal val="visible"/>
                                      </p:to>
                                    </p:set>
                                    <p:animEffect transition="in" filter="fade">
                                      <p:cBhvr additive="repl">
                                        <p:cTn id="48" dur="500"/>
                                        <p:tgtEl>
                                          <p:spTgt spid="682"/>
                                        </p:tgtEl>
                                      </p:cBhvr>
                                    </p:animEffect>
                                  </p:childTnLst>
                                </p:cTn>
                              </p:par>
                              <p:par>
                                <p:cTn id="49" presetID="10" presetClass="entr" fill="hold" nodeType="withEffect">
                                  <p:stCondLst>
                                    <p:cond delay="0"/>
                                  </p:stCondLst>
                                  <p:childTnLst>
                                    <p:set>
                                      <p:cBhvr>
                                        <p:cTn id="50" dur="1" fill="hold">
                                          <p:stCondLst>
                                            <p:cond delay="0"/>
                                          </p:stCondLst>
                                        </p:cTn>
                                        <p:tgtEl>
                                          <p:spTgt spid="683"/>
                                        </p:tgtEl>
                                        <p:attrNameLst>
                                          <p:attrName>style.visibility</p:attrName>
                                        </p:attrNameLst>
                                      </p:cBhvr>
                                      <p:to>
                                        <p:strVal val="visible"/>
                                      </p:to>
                                    </p:set>
                                    <p:animEffect transition="in" filter="fade">
                                      <p:cBhvr additive="repl">
                                        <p:cTn id="51" dur="500"/>
                                        <p:tgtEl>
                                          <p:spTgt spid="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 name="PlaceHolder 1"/>
          <p:cNvSpPr>
            <a:spLocks noGrp="1"/>
          </p:cNvSpPr>
          <p:nvPr>
            <p:ph type="title"/>
          </p:nvPr>
        </p:nvSpPr>
        <p:spPr>
          <a:xfrm>
            <a:off x="996840" y="3033000"/>
            <a:ext cx="10524240" cy="395280"/>
          </a:xfrm>
          <a:prstGeom prst="rect">
            <a:avLst/>
          </a:prstGeom>
          <a:noFill/>
          <a:ln w="0">
            <a:noFill/>
          </a:ln>
        </p:spPr>
        <p:txBody>
          <a:bodyPr lIns="0" tIns="45720" rIns="91440" bIns="45720" anchor="t">
            <a:noAutofit/>
          </a:bodyPr>
          <a:lstStyle/>
          <a:p>
            <a:pPr indent="0" defTabSz="914400">
              <a:lnSpc>
                <a:spcPct val="100000"/>
              </a:lnSpc>
              <a:buNone/>
              <a:tabLst>
                <a:tab pos="0" algn="l"/>
              </a:tabLst>
            </a:pPr>
            <a:r>
              <a:rPr lang="en-US" sz="2400" b="0" strike="noStrike" spc="35">
                <a:solidFill>
                  <a:schemeClr val="dk1"/>
                </a:solidFill>
                <a:latin typeface="Avenir Next LT Pro"/>
                <a:ea typeface="Avenir Next"/>
              </a:rPr>
              <a:t>Conclusiones</a:t>
            </a:r>
            <a:endParaRPr lang="es-AR" sz="2400" b="0" strike="noStrike" spc="-1">
              <a:solidFill>
                <a:srgbClr val="000000"/>
              </a:solidFill>
              <a:latin typeface="Arial"/>
            </a:endParaRPr>
          </a:p>
        </p:txBody>
      </p:sp>
      <p:sp>
        <p:nvSpPr>
          <p:cNvPr id="688" name="PlaceHolder 2"/>
          <p:cNvSpPr>
            <a:spLocks noGrp="1"/>
          </p:cNvSpPr>
          <p:nvPr>
            <p:ph/>
          </p:nvPr>
        </p:nvSpPr>
        <p:spPr>
          <a:xfrm>
            <a:off x="996840" y="3584520"/>
            <a:ext cx="10514880" cy="438840"/>
          </a:xfrm>
          <a:prstGeom prst="rect">
            <a:avLst/>
          </a:prstGeom>
          <a:noFill/>
          <a:ln w="0">
            <a:noFill/>
          </a:ln>
        </p:spPr>
        <p:txBody>
          <a:bodyPr lIns="0" tIns="45720" rIns="91440" bIns="45720" anchor="t">
            <a:noAutofit/>
          </a:bodyPr>
          <a:lstStyle/>
          <a:p>
            <a:pPr indent="0" defTabSz="914400">
              <a:lnSpc>
                <a:spcPct val="90000"/>
              </a:lnSpc>
              <a:spcBef>
                <a:spcPts val="1001"/>
              </a:spcBef>
              <a:buNone/>
              <a:tabLst>
                <a:tab pos="0" algn="l"/>
              </a:tabLst>
            </a:pPr>
            <a:r>
              <a:rPr lang="en-US" sz="1200" b="0" strike="noStrike" spc="55">
                <a:solidFill>
                  <a:schemeClr val="dk1"/>
                </a:solidFill>
                <a:latin typeface="Avenir Next LT Pro"/>
                <a:ea typeface="Avenir Next"/>
              </a:rPr>
              <a:t>Tres ideas para llevarse</a:t>
            </a:r>
            <a:endParaRPr lang="es-AR" sz="1200" b="0" strike="noStrike" spc="-1">
              <a:solidFill>
                <a:srgbClr val="000000"/>
              </a:solidFill>
              <a:latin typeface="Arial"/>
            </a:endParaRPr>
          </a:p>
        </p:txBody>
      </p:sp>
      <p:sp>
        <p:nvSpPr>
          <p:cNvPr id="689" name="PlaceHolder 3"/>
          <p:cNvSpPr>
            <a:spLocks noGrp="1"/>
          </p:cNvSpPr>
          <p:nvPr>
            <p:ph/>
          </p:nvPr>
        </p:nvSpPr>
        <p:spPr>
          <a:xfrm>
            <a:off x="996840" y="1550520"/>
            <a:ext cx="1470960" cy="1102680"/>
          </a:xfrm>
          <a:prstGeom prst="rect">
            <a:avLst/>
          </a:prstGeom>
          <a:noFill/>
          <a:ln w="0">
            <a:noFill/>
          </a:ln>
        </p:spPr>
        <p:txBody>
          <a:bodyPr lIns="0" tIns="45720" rIns="91440" bIns="0" anchor="b">
            <a:noAutofit/>
          </a:bodyPr>
          <a:lstStyle/>
          <a:p>
            <a:pPr indent="0" defTabSz="914400">
              <a:lnSpc>
                <a:spcPct val="90000"/>
              </a:lnSpc>
              <a:spcBef>
                <a:spcPts val="1001"/>
              </a:spcBef>
              <a:buNone/>
              <a:tabLst>
                <a:tab pos="0" algn="l"/>
              </a:tabLst>
            </a:pPr>
            <a:r>
              <a:rPr lang="en-US" sz="3200" b="0" strike="noStrike" spc="46">
                <a:solidFill>
                  <a:schemeClr val="accent1"/>
                </a:solidFill>
                <a:latin typeface="Avenir Next LT Pro"/>
                <a:ea typeface="Avenir Next"/>
              </a:rPr>
              <a:t>06</a:t>
            </a:r>
            <a:endParaRPr lang="es-AR" sz="3200" b="0" strike="noStrike" spc="-1">
              <a:solidFill>
                <a:srgbClr val="000000"/>
              </a:solidFill>
              <a:latin typeface="Arial"/>
            </a:endParaRPr>
          </a:p>
        </p:txBody>
      </p:sp>
      <p:sp>
        <p:nvSpPr>
          <p:cNvPr id="690"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Teodoro Samaan Piroli</a:t>
            </a:r>
            <a:endParaRPr lang="es-AR" sz="1000" b="0" strike="noStrike" spc="-1">
              <a:solidFill>
                <a:srgbClr val="000000"/>
              </a:solidFill>
              <a:latin typeface="Arial"/>
            </a:endParaRPr>
          </a:p>
        </p:txBody>
      </p:sp>
      <p:sp>
        <p:nvSpPr>
          <p:cNvPr id="5" name="PlaceHolder 4"/>
          <p:cNvSpPr>
            <a:spLocks noGrp="1"/>
          </p:cNvSpPr>
          <p:nvPr>
            <p:ph type="sldNum" idx="12"/>
          </p:nvPr>
        </p:nvSpPr>
        <p:spPr/>
        <p:txBody>
          <a:bodyPr/>
          <a:lstStyle/>
          <a:p>
            <a:fld id="{A69DA172-7CE4-4025-9E51-CB3CF781CD65}" type="slidenum">
              <a:rPr/>
              <a:t>23</a:t>
            </a:fld>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 name="PlaceHolder 1"/>
          <p:cNvSpPr>
            <a:spLocks noGrp="1"/>
          </p:cNvSpPr>
          <p:nvPr>
            <p:ph type="title"/>
          </p:nvPr>
        </p:nvSpPr>
        <p:spPr>
          <a:xfrm>
            <a:off x="374760" y="502920"/>
            <a:ext cx="7701480" cy="1026360"/>
          </a:xfrm>
          <a:prstGeom prst="rect">
            <a:avLst/>
          </a:prstGeom>
          <a:noFill/>
          <a:ln w="0">
            <a:noFill/>
          </a:ln>
        </p:spPr>
        <p:txBody>
          <a:bodyPr lIns="0" tIns="45720" rIns="91440" bIns="45720" anchor="t">
            <a:noAutofit/>
          </a:bodyPr>
          <a:lstStyle/>
          <a:p>
            <a:pPr indent="0" defTabSz="914400">
              <a:lnSpc>
                <a:spcPct val="90000"/>
              </a:lnSpc>
              <a:buNone/>
              <a:tabLst>
                <a:tab pos="0" algn="l"/>
              </a:tabLst>
            </a:pPr>
            <a:r>
              <a:rPr lang="en-US" sz="2400" b="0" strike="noStrike" spc="66">
                <a:solidFill>
                  <a:schemeClr val="dk1"/>
                </a:solidFill>
                <a:latin typeface="Avenir Next LT Pro"/>
                <a:ea typeface="Avenir Next"/>
              </a:rPr>
              <a:t>Tres ideas para llevarse</a:t>
            </a:r>
            <a:endParaRPr lang="es-AR" sz="2400" b="0" strike="noStrike" spc="-1">
              <a:solidFill>
                <a:srgbClr val="000000"/>
              </a:solidFill>
              <a:latin typeface="Arial"/>
            </a:endParaRPr>
          </a:p>
        </p:txBody>
      </p:sp>
      <p:sp>
        <p:nvSpPr>
          <p:cNvPr id="692" name="PlaceHolder 2"/>
          <p:cNvSpPr>
            <a:spLocks noGrp="1"/>
          </p:cNvSpPr>
          <p:nvPr>
            <p:ph/>
          </p:nvPr>
        </p:nvSpPr>
        <p:spPr>
          <a:xfrm>
            <a:off x="394920" y="286920"/>
            <a:ext cx="5638680" cy="198000"/>
          </a:xfrm>
          <a:prstGeom prst="rect">
            <a:avLst/>
          </a:prstGeom>
          <a:noFill/>
          <a:ln w="0">
            <a:noFill/>
          </a:ln>
        </p:spPr>
        <p:txBody>
          <a:bodyPr lIns="0" tIns="45720" rIns="91440" bIns="45720" anchor="t">
            <a:noAutofit/>
          </a:bodyPr>
          <a:lstStyle/>
          <a:p>
            <a:pPr indent="0" defTabSz="914400">
              <a:lnSpc>
                <a:spcPct val="90000"/>
              </a:lnSpc>
              <a:spcBef>
                <a:spcPts val="1001"/>
              </a:spcBef>
              <a:buNone/>
              <a:tabLst>
                <a:tab pos="0" algn="l"/>
              </a:tabLst>
            </a:pPr>
            <a:r>
              <a:rPr lang="en-US" sz="900" b="0" strike="noStrike" cap="all" spc="296">
                <a:solidFill>
                  <a:schemeClr val="accent1"/>
                </a:solidFill>
                <a:latin typeface="Avenir Next LT Pro"/>
                <a:ea typeface="Avenir Next"/>
              </a:rPr>
              <a:t>06 · Conclusiones</a:t>
            </a:r>
            <a:endParaRPr lang="es-AR" sz="900" b="0" strike="noStrike" spc="-1">
              <a:solidFill>
                <a:srgbClr val="000000"/>
              </a:solidFill>
              <a:latin typeface="Arial"/>
            </a:endParaRPr>
          </a:p>
        </p:txBody>
      </p:sp>
      <p:sp>
        <p:nvSpPr>
          <p:cNvPr id="693" name="PlaceHolder 3"/>
          <p:cNvSpPr>
            <a:spLocks noGrp="1"/>
          </p:cNvSpPr>
          <p:nvPr>
            <p:ph type="sldNum" idx="71"/>
          </p:nvPr>
        </p:nvSpPr>
        <p:spPr>
          <a:xfrm>
            <a:off x="11521440" y="6486120"/>
            <a:ext cx="320040" cy="364320"/>
          </a:xfrm>
          <a:prstGeom prst="rect">
            <a:avLst/>
          </a:prstGeom>
          <a:noFill/>
          <a:ln w="0">
            <a:noFill/>
          </a:ln>
        </p:spPr>
        <p:txBody>
          <a:bodyPr lIns="0" tIns="45720" rIns="0" bIns="45720" anchor="t">
            <a:noAutofit/>
          </a:bodyPr>
          <a:lstStyle>
            <a:lvl1pPr indent="0" algn="r" defTabSz="914400">
              <a:lnSpc>
                <a:spcPct val="100000"/>
              </a:lnSpc>
              <a:buNone/>
              <a:tabLst>
                <a:tab pos="0" algn="l"/>
              </a:tabLst>
              <a:defRPr lang="en-US" sz="800" b="0" strike="noStrike" spc="-1">
                <a:solidFill>
                  <a:schemeClr val="dk1"/>
                </a:solidFill>
                <a:latin typeface="Avenir Next LT Pro"/>
                <a:ea typeface="Avenir Next"/>
              </a:defRPr>
            </a:lvl1pPr>
          </a:lstStyle>
          <a:p>
            <a:pPr indent="0" algn="r" defTabSz="914400">
              <a:lnSpc>
                <a:spcPct val="100000"/>
              </a:lnSpc>
              <a:buNone/>
              <a:tabLst>
                <a:tab pos="0" algn="l"/>
              </a:tabLst>
            </a:pPr>
            <a:fld id="{4F6152F6-AFEA-4C65-B5AD-35239D2F39E6}" type="slidenum">
              <a:rPr lang="en-US" sz="800" b="0" strike="noStrike" spc="-1">
                <a:solidFill>
                  <a:schemeClr val="dk1"/>
                </a:solidFill>
                <a:latin typeface="Avenir Next LT Pro"/>
                <a:ea typeface="Avenir Next"/>
              </a:rPr>
              <a:t>24</a:t>
            </a:fld>
            <a:endParaRPr lang="es-AR" sz="800" b="0" strike="noStrike" spc="-1">
              <a:solidFill>
                <a:srgbClr val="000000"/>
              </a:solidFill>
              <a:latin typeface="Times New Roman"/>
            </a:endParaRPr>
          </a:p>
        </p:txBody>
      </p:sp>
      <p:sp>
        <p:nvSpPr>
          <p:cNvPr id="694" name="idea1_n"/>
          <p:cNvSpPr/>
          <p:nvPr/>
        </p:nvSpPr>
        <p:spPr>
          <a:xfrm>
            <a:off x="374760" y="1828800"/>
            <a:ext cx="913680" cy="60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4000" b="0" strike="noStrike" spc="-1">
                <a:solidFill>
                  <a:srgbClr val="1700F3"/>
                </a:solidFill>
                <a:latin typeface="Avenir Next LT Pro"/>
              </a:rPr>
              <a:t>01</a:t>
            </a:r>
            <a:endParaRPr lang="es-AR" sz="4000" b="0" strike="noStrike" spc="-1">
              <a:solidFill>
                <a:srgbClr val="000000"/>
              </a:solidFill>
              <a:latin typeface="Arial"/>
            </a:endParaRPr>
          </a:p>
        </p:txBody>
      </p:sp>
      <p:sp>
        <p:nvSpPr>
          <p:cNvPr id="695" name="idea1_a"/>
          <p:cNvSpPr/>
          <p:nvPr/>
        </p:nvSpPr>
        <p:spPr>
          <a:xfrm>
            <a:off x="374760" y="2697480"/>
            <a:ext cx="2742480" cy="64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2100" b="1" strike="noStrike" spc="-1">
                <a:solidFill>
                  <a:srgbClr val="00095B"/>
                </a:solidFill>
                <a:latin typeface="Avenir Next LT Pro"/>
              </a:rPr>
              <a:t>Hoy se pierden 4 de cada 10 services</a:t>
            </a:r>
            <a:endParaRPr lang="es-AR" sz="2100" b="0" strike="noStrike" spc="-1">
              <a:solidFill>
                <a:srgbClr val="000000"/>
              </a:solidFill>
              <a:latin typeface="Arial"/>
            </a:endParaRPr>
          </a:p>
        </p:txBody>
      </p:sp>
      <p:sp>
        <p:nvSpPr>
          <p:cNvPr id="696" name="idea1_b"/>
          <p:cNvSpPr/>
          <p:nvPr/>
        </p:nvSpPr>
        <p:spPr>
          <a:xfrm>
            <a:off x="374760" y="3840480"/>
            <a:ext cx="2742480" cy="259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700" b="0" strike="noStrike" spc="-1">
                <a:solidFill>
                  <a:srgbClr val="7F7F7F"/>
                </a:solidFill>
                <a:latin typeface="Avenir Next LT Pro"/>
              </a:rPr>
              <a:t>hablándole igual a todos.</a:t>
            </a:r>
            <a:endParaRPr lang="es-AR" sz="1700" b="0" strike="noStrike" spc="-1">
              <a:solidFill>
                <a:srgbClr val="000000"/>
              </a:solidFill>
              <a:latin typeface="Arial"/>
            </a:endParaRPr>
          </a:p>
        </p:txBody>
      </p:sp>
      <p:sp>
        <p:nvSpPr>
          <p:cNvPr id="697" name="idea2_n"/>
          <p:cNvSpPr/>
          <p:nvPr/>
        </p:nvSpPr>
        <p:spPr>
          <a:xfrm>
            <a:off x="4581000" y="1828800"/>
            <a:ext cx="913680" cy="60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4000" b="0" strike="noStrike" spc="-1">
                <a:solidFill>
                  <a:srgbClr val="1700F3"/>
                </a:solidFill>
                <a:latin typeface="Avenir Next LT Pro"/>
              </a:rPr>
              <a:t>02</a:t>
            </a:r>
            <a:endParaRPr lang="es-AR" sz="4000" b="0" strike="noStrike" spc="-1">
              <a:solidFill>
                <a:srgbClr val="000000"/>
              </a:solidFill>
              <a:latin typeface="Arial"/>
            </a:endParaRPr>
          </a:p>
        </p:txBody>
      </p:sp>
      <p:sp>
        <p:nvSpPr>
          <p:cNvPr id="698" name="idea2_a"/>
          <p:cNvSpPr/>
          <p:nvPr/>
        </p:nvSpPr>
        <p:spPr>
          <a:xfrm>
            <a:off x="4581000" y="2697480"/>
            <a:ext cx="2742480" cy="96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2100" b="1" strike="noStrike" spc="-1">
                <a:solidFill>
                  <a:srgbClr val="00095B"/>
                </a:solidFill>
                <a:latin typeface="Avenir Next LT Pro"/>
              </a:rPr>
              <a:t>Nuestra solución pone primero a quien se va</a:t>
            </a:r>
            <a:endParaRPr lang="es-AR" sz="2100" b="0" strike="noStrike" spc="-1">
              <a:solidFill>
                <a:srgbClr val="000000"/>
              </a:solidFill>
              <a:latin typeface="Arial"/>
            </a:endParaRPr>
          </a:p>
        </p:txBody>
      </p:sp>
      <p:sp>
        <p:nvSpPr>
          <p:cNvPr id="699" name="idea2_b"/>
          <p:cNvSpPr/>
          <p:nvPr/>
        </p:nvSpPr>
        <p:spPr>
          <a:xfrm>
            <a:off x="4581000" y="3840480"/>
            <a:ext cx="2742480" cy="518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700" b="0" strike="noStrike" spc="-1">
                <a:solidFill>
                  <a:srgbClr val="7F7F7F"/>
                </a:solidFill>
                <a:latin typeface="Avenir Next LT Pro"/>
              </a:rPr>
              <a:t>y explica por qué: cada contacto rinde el doble.</a:t>
            </a:r>
            <a:endParaRPr lang="es-AR" sz="1700" b="0" strike="noStrike" spc="-1">
              <a:solidFill>
                <a:srgbClr val="000000"/>
              </a:solidFill>
              <a:latin typeface="Arial"/>
            </a:endParaRPr>
          </a:p>
        </p:txBody>
      </p:sp>
      <p:sp>
        <p:nvSpPr>
          <p:cNvPr id="700" name="idea3_n"/>
          <p:cNvSpPr/>
          <p:nvPr/>
        </p:nvSpPr>
        <p:spPr>
          <a:xfrm>
            <a:off x="8732520" y="1828800"/>
            <a:ext cx="913680" cy="60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4000" b="0" strike="noStrike" spc="-1">
                <a:solidFill>
                  <a:srgbClr val="1700F3"/>
                </a:solidFill>
                <a:latin typeface="Avenir Next LT Pro"/>
              </a:rPr>
              <a:t>03</a:t>
            </a:r>
            <a:endParaRPr lang="es-AR" sz="4000" b="0" strike="noStrike" spc="-1">
              <a:solidFill>
                <a:srgbClr val="000000"/>
              </a:solidFill>
              <a:latin typeface="Arial"/>
            </a:endParaRPr>
          </a:p>
        </p:txBody>
      </p:sp>
      <p:sp>
        <p:nvSpPr>
          <p:cNvPr id="701" name="idea3_a"/>
          <p:cNvSpPr/>
          <p:nvPr/>
        </p:nvSpPr>
        <p:spPr>
          <a:xfrm>
            <a:off x="8732520" y="2697480"/>
            <a:ext cx="2742480" cy="64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2100" b="1" strike="noStrike" spc="-1">
                <a:solidFill>
                  <a:srgbClr val="00095B"/>
                </a:solidFill>
                <a:latin typeface="Avenir Next LT Pro"/>
              </a:rPr>
              <a:t>Funciona con lo que Ford ya tiene</a:t>
            </a:r>
            <a:endParaRPr lang="es-AR" sz="2100" b="0" strike="noStrike" spc="-1">
              <a:solidFill>
                <a:srgbClr val="000000"/>
              </a:solidFill>
              <a:latin typeface="Arial"/>
            </a:endParaRPr>
          </a:p>
        </p:txBody>
      </p:sp>
      <p:sp>
        <p:nvSpPr>
          <p:cNvPr id="702" name="idea3_b"/>
          <p:cNvSpPr/>
          <p:nvPr/>
        </p:nvSpPr>
        <p:spPr>
          <a:xfrm>
            <a:off x="8732520" y="3840480"/>
            <a:ext cx="2742480" cy="259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700" b="0" strike="noStrike" spc="-1">
                <a:solidFill>
                  <a:srgbClr val="7F7F7F"/>
                </a:solidFill>
                <a:latin typeface="Avenir Next LT Pro"/>
              </a:rPr>
              <a:t>y en 90 días se prueba.</a:t>
            </a:r>
            <a:endParaRPr lang="es-AR" sz="1700" b="0" strike="noStrike" spc="-1">
              <a:solidFill>
                <a:srgbClr val="000000"/>
              </a:solidFill>
              <a:latin typeface="Arial"/>
            </a:endParaRPr>
          </a:p>
        </p:txBody>
      </p:sp>
      <p:sp>
        <p:nvSpPr>
          <p:cNvPr id="703" name="orador"/>
          <p:cNvSpPr/>
          <p:nvPr/>
        </p:nvSpPr>
        <p:spPr>
          <a:xfrm>
            <a:off x="394920" y="6540120"/>
            <a:ext cx="4999320" cy="279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14400">
              <a:lnSpc>
                <a:spcPct val="100000"/>
              </a:lnSpc>
            </a:pPr>
            <a:r>
              <a:rPr lang="en-US" sz="1000" b="0" strike="noStrike" spc="-1">
                <a:solidFill>
                  <a:srgbClr val="7F7F7F"/>
                </a:solidFill>
                <a:latin typeface="Avenir Next LT Pro"/>
              </a:rPr>
              <a:t>Teodoro Samaan Piroli</a:t>
            </a:r>
            <a:endParaRPr lang="es-AR" sz="10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694"/>
                                        </p:tgtEl>
                                        <p:attrNameLst>
                                          <p:attrName>style.visibility</p:attrName>
                                        </p:attrNameLst>
                                      </p:cBhvr>
                                      <p:to>
                                        <p:strVal val="visible"/>
                                      </p:to>
                                    </p:set>
                                    <p:animEffect transition="in" filter="fade">
                                      <p:cBhvr additive="repl">
                                        <p:cTn id="7" dur="500"/>
                                        <p:tgtEl>
                                          <p:spTgt spid="694"/>
                                        </p:tgtEl>
                                      </p:cBhvr>
                                    </p:animEffect>
                                  </p:childTnLst>
                                </p:cTn>
                              </p:par>
                              <p:par>
                                <p:cTn id="8" presetID="10" presetClass="entr" fill="hold" nodeType="withEffect">
                                  <p:stCondLst>
                                    <p:cond delay="0"/>
                                  </p:stCondLst>
                                  <p:childTnLst>
                                    <p:set>
                                      <p:cBhvr>
                                        <p:cTn id="9" dur="1" fill="hold">
                                          <p:stCondLst>
                                            <p:cond delay="0"/>
                                          </p:stCondLst>
                                        </p:cTn>
                                        <p:tgtEl>
                                          <p:spTgt spid="695"/>
                                        </p:tgtEl>
                                        <p:attrNameLst>
                                          <p:attrName>style.visibility</p:attrName>
                                        </p:attrNameLst>
                                      </p:cBhvr>
                                      <p:to>
                                        <p:strVal val="visible"/>
                                      </p:to>
                                    </p:set>
                                    <p:animEffect transition="in" filter="fade">
                                      <p:cBhvr additive="repl">
                                        <p:cTn id="10" dur="500"/>
                                        <p:tgtEl>
                                          <p:spTgt spid="695"/>
                                        </p:tgtEl>
                                      </p:cBhvr>
                                    </p:animEffect>
                                  </p:childTnLst>
                                </p:cTn>
                              </p:par>
                              <p:par>
                                <p:cTn id="11" presetID="10" presetClass="entr" fill="hold" nodeType="withEffect">
                                  <p:stCondLst>
                                    <p:cond delay="0"/>
                                  </p:stCondLst>
                                  <p:childTnLst>
                                    <p:set>
                                      <p:cBhvr>
                                        <p:cTn id="12" dur="1" fill="hold">
                                          <p:stCondLst>
                                            <p:cond delay="0"/>
                                          </p:stCondLst>
                                        </p:cTn>
                                        <p:tgtEl>
                                          <p:spTgt spid="696"/>
                                        </p:tgtEl>
                                        <p:attrNameLst>
                                          <p:attrName>style.visibility</p:attrName>
                                        </p:attrNameLst>
                                      </p:cBhvr>
                                      <p:to>
                                        <p:strVal val="visible"/>
                                      </p:to>
                                    </p:set>
                                    <p:animEffect transition="in" filter="fade">
                                      <p:cBhvr additive="repl">
                                        <p:cTn id="13" dur="500"/>
                                        <p:tgtEl>
                                          <p:spTgt spid="69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fill="hold" nodeType="clickEffect">
                                  <p:stCondLst>
                                    <p:cond delay="0"/>
                                  </p:stCondLst>
                                  <p:childTnLst>
                                    <p:set>
                                      <p:cBhvr>
                                        <p:cTn id="17" dur="1" fill="hold">
                                          <p:stCondLst>
                                            <p:cond delay="0"/>
                                          </p:stCondLst>
                                        </p:cTn>
                                        <p:tgtEl>
                                          <p:spTgt spid="697"/>
                                        </p:tgtEl>
                                        <p:attrNameLst>
                                          <p:attrName>style.visibility</p:attrName>
                                        </p:attrNameLst>
                                      </p:cBhvr>
                                      <p:to>
                                        <p:strVal val="visible"/>
                                      </p:to>
                                    </p:set>
                                    <p:animEffect transition="in" filter="fade">
                                      <p:cBhvr additive="repl">
                                        <p:cTn id="18" dur="500"/>
                                        <p:tgtEl>
                                          <p:spTgt spid="697"/>
                                        </p:tgtEl>
                                      </p:cBhvr>
                                    </p:animEffect>
                                  </p:childTnLst>
                                </p:cTn>
                              </p:par>
                              <p:par>
                                <p:cTn id="19" presetID="10" presetClass="entr" fill="hold" nodeType="withEffect">
                                  <p:stCondLst>
                                    <p:cond delay="0"/>
                                  </p:stCondLst>
                                  <p:childTnLst>
                                    <p:set>
                                      <p:cBhvr>
                                        <p:cTn id="20" dur="1" fill="hold">
                                          <p:stCondLst>
                                            <p:cond delay="0"/>
                                          </p:stCondLst>
                                        </p:cTn>
                                        <p:tgtEl>
                                          <p:spTgt spid="698"/>
                                        </p:tgtEl>
                                        <p:attrNameLst>
                                          <p:attrName>style.visibility</p:attrName>
                                        </p:attrNameLst>
                                      </p:cBhvr>
                                      <p:to>
                                        <p:strVal val="visible"/>
                                      </p:to>
                                    </p:set>
                                    <p:animEffect transition="in" filter="fade">
                                      <p:cBhvr additive="repl">
                                        <p:cTn id="21" dur="500"/>
                                        <p:tgtEl>
                                          <p:spTgt spid="698"/>
                                        </p:tgtEl>
                                      </p:cBhvr>
                                    </p:animEffect>
                                  </p:childTnLst>
                                </p:cTn>
                              </p:par>
                              <p:par>
                                <p:cTn id="22" presetID="10" presetClass="entr" fill="hold" nodeType="withEffect">
                                  <p:stCondLst>
                                    <p:cond delay="0"/>
                                  </p:stCondLst>
                                  <p:childTnLst>
                                    <p:set>
                                      <p:cBhvr>
                                        <p:cTn id="23" dur="1" fill="hold">
                                          <p:stCondLst>
                                            <p:cond delay="0"/>
                                          </p:stCondLst>
                                        </p:cTn>
                                        <p:tgtEl>
                                          <p:spTgt spid="699"/>
                                        </p:tgtEl>
                                        <p:attrNameLst>
                                          <p:attrName>style.visibility</p:attrName>
                                        </p:attrNameLst>
                                      </p:cBhvr>
                                      <p:to>
                                        <p:strVal val="visible"/>
                                      </p:to>
                                    </p:set>
                                    <p:animEffect transition="in" filter="fade">
                                      <p:cBhvr additive="repl">
                                        <p:cTn id="24" dur="500"/>
                                        <p:tgtEl>
                                          <p:spTgt spid="69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fill="hold" nodeType="clickEffect">
                                  <p:stCondLst>
                                    <p:cond delay="0"/>
                                  </p:stCondLst>
                                  <p:childTnLst>
                                    <p:set>
                                      <p:cBhvr>
                                        <p:cTn id="28" dur="1" fill="hold">
                                          <p:stCondLst>
                                            <p:cond delay="0"/>
                                          </p:stCondLst>
                                        </p:cTn>
                                        <p:tgtEl>
                                          <p:spTgt spid="700"/>
                                        </p:tgtEl>
                                        <p:attrNameLst>
                                          <p:attrName>style.visibility</p:attrName>
                                        </p:attrNameLst>
                                      </p:cBhvr>
                                      <p:to>
                                        <p:strVal val="visible"/>
                                      </p:to>
                                    </p:set>
                                    <p:animEffect transition="in" filter="fade">
                                      <p:cBhvr additive="repl">
                                        <p:cTn id="29" dur="500"/>
                                        <p:tgtEl>
                                          <p:spTgt spid="700"/>
                                        </p:tgtEl>
                                      </p:cBhvr>
                                    </p:animEffect>
                                  </p:childTnLst>
                                </p:cTn>
                              </p:par>
                              <p:par>
                                <p:cTn id="30" presetID="10" presetClass="entr" fill="hold" nodeType="withEffect">
                                  <p:stCondLst>
                                    <p:cond delay="0"/>
                                  </p:stCondLst>
                                  <p:childTnLst>
                                    <p:set>
                                      <p:cBhvr>
                                        <p:cTn id="31" dur="1" fill="hold">
                                          <p:stCondLst>
                                            <p:cond delay="0"/>
                                          </p:stCondLst>
                                        </p:cTn>
                                        <p:tgtEl>
                                          <p:spTgt spid="701"/>
                                        </p:tgtEl>
                                        <p:attrNameLst>
                                          <p:attrName>style.visibility</p:attrName>
                                        </p:attrNameLst>
                                      </p:cBhvr>
                                      <p:to>
                                        <p:strVal val="visible"/>
                                      </p:to>
                                    </p:set>
                                    <p:animEffect transition="in" filter="fade">
                                      <p:cBhvr additive="repl">
                                        <p:cTn id="32" dur="500"/>
                                        <p:tgtEl>
                                          <p:spTgt spid="701"/>
                                        </p:tgtEl>
                                      </p:cBhvr>
                                    </p:animEffect>
                                  </p:childTnLst>
                                </p:cTn>
                              </p:par>
                              <p:par>
                                <p:cTn id="33" presetID="10" presetClass="entr" fill="hold" nodeType="withEffect">
                                  <p:stCondLst>
                                    <p:cond delay="0"/>
                                  </p:stCondLst>
                                  <p:childTnLst>
                                    <p:set>
                                      <p:cBhvr>
                                        <p:cTn id="34" dur="1" fill="hold">
                                          <p:stCondLst>
                                            <p:cond delay="0"/>
                                          </p:stCondLst>
                                        </p:cTn>
                                        <p:tgtEl>
                                          <p:spTgt spid="702"/>
                                        </p:tgtEl>
                                        <p:attrNameLst>
                                          <p:attrName>style.visibility</p:attrName>
                                        </p:attrNameLst>
                                      </p:cBhvr>
                                      <p:to>
                                        <p:strVal val="visible"/>
                                      </p:to>
                                    </p:set>
                                    <p:animEffect transition="in" filter="fade">
                                      <p:cBhvr additive="repl">
                                        <p:cTn id="35" dur="500"/>
                                        <p:tgtEl>
                                          <p:spTgt spid="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 name="gracias"/>
          <p:cNvSpPr/>
          <p:nvPr/>
        </p:nvSpPr>
        <p:spPr>
          <a:xfrm>
            <a:off x="822960" y="4892040"/>
            <a:ext cx="10514880" cy="33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2200" b="0" strike="noStrike" spc="-1">
                <a:solidFill>
                  <a:srgbClr val="00095B"/>
                </a:solidFill>
                <a:latin typeface="Avenir Next LT Pro"/>
              </a:rPr>
              <a:t>Muchas Gracias</a:t>
            </a:r>
            <a:endParaRPr lang="es-AR" sz="2200" b="0" strike="noStrike" spc="-1">
              <a:solidFill>
                <a:srgbClr val="000000"/>
              </a:solidFill>
              <a:latin typeface="Arial"/>
            </a:endParaRPr>
          </a:p>
        </p:txBody>
      </p:sp>
      <p:sp>
        <p:nvSpPr>
          <p:cNvPr id="2" name="PlaceHolder 1"/>
          <p:cNvSpPr>
            <a:spLocks noGrp="1"/>
          </p:cNvSpPr>
          <p:nvPr>
            <p:ph type="sldNum" idx="52"/>
          </p:nvPr>
        </p:nvSpPr>
        <p:spPr/>
        <p:txBody>
          <a:bodyPr/>
          <a:lstStyle/>
          <a:p>
            <a:fld id="{32E78A1F-3138-43DA-A31A-461B2CCDE5EA}" type="slidenum">
              <a:rPr/>
              <a:t>25</a:t>
            </a:fld>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p15="http://schemas.microsoft.com/office/powerpoint/2012/main">
      <p:transition spd="med">
        <p:fade/>
      </p:transition>
    </mc:Fallback>
  </mc:AlternateContent>
</p:sld>
</file>

<file path=ppt/theme/theme1.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3.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4.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5.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6.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7.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8.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9.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0.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1.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2.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3.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4.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5.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6.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7.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8.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9.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0.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1.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2.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3.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4.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5.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6.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7.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8.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9.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0.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1.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2.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3.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4.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5.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6.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7.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8.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9.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0.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1.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2.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3.xml><?xml version="1.0" encoding="utf-8"?>
<a:theme xmlns:a="http://schemas.openxmlformats.org/drawingml/2006/main" name="FORD">
  <a:themeElements>
    <a:clrScheme name="FORD CORPORATE">
      <a:dk1>
        <a:srgbClr val="00095B"/>
      </a:dk1>
      <a:lt1>
        <a:srgbClr val="FFFFFF"/>
      </a:lt1>
      <a:dk2>
        <a:srgbClr val="7F7F7F"/>
      </a:dk2>
      <a:lt2>
        <a:srgbClr val="F3F3F3"/>
      </a:lt2>
      <a:accent1>
        <a:srgbClr val="1700F3"/>
      </a:accent1>
      <a:accent2>
        <a:srgbClr val="B9BCBD"/>
      </a:accent2>
      <a:accent3>
        <a:srgbClr val="00142E"/>
      </a:accent3>
      <a:accent4>
        <a:srgbClr val="FFFF00"/>
      </a:accent4>
      <a:accent5>
        <a:srgbClr val="D62C14"/>
      </a:accent5>
      <a:accent6>
        <a:srgbClr val="008200"/>
      </a:accent6>
      <a:hlink>
        <a:srgbClr val="0000FF"/>
      </a:hlink>
      <a:folHlink>
        <a:srgbClr val="800080"/>
      </a:folHlink>
    </a:clrScheme>
    <a:fontScheme name="AvenirNext_Ford">
      <a:majorFont>
        <a:latin typeface="Avenir Next LT Pro"/>
        <a:ea typeface=""/>
        <a:cs typeface=""/>
      </a:majorFont>
      <a:minorFont>
        <a:latin typeface="Avenir Next LT Pro"/>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Metadata/LabelInfo.xml><?xml version="1.0" encoding="utf-8"?>
<clbl:labelList xmlns:clbl="http://schemas.microsoft.com/office/2020/mipLabelMetadata">
  <clbl:label id="{4287bb64-a677-4999-a7e1-c729498cafc7}" enabled="1" method="Standard" siteId="{c990bb7a-51f4-439b-bd36-9c07fb1041c0}" contentBits="0" removed="0"/>
</clbl:labelList>
</file>

<file path=docProps/app.xml><?xml version="1.0" encoding="utf-8"?>
<Properties xmlns="http://schemas.openxmlformats.org/officeDocument/2006/extended-properties" xmlns:vt="http://schemas.openxmlformats.org/officeDocument/2006/docPropsVTypes">
  <Template>FORD</Template>
  <TotalTime>23145</TotalTime>
  <Words>5604</Words>
  <Application>Microsoft Office PowerPoint</Application>
  <PresentationFormat>Widescreen</PresentationFormat>
  <Paragraphs>562</Paragraphs>
  <Slides>25</Slides>
  <Notes>25</Notes>
  <HiddenSlides>0</HiddenSlides>
  <MMClips>1</MMClips>
  <ScaleCrop>false</ScaleCrop>
  <HeadingPairs>
    <vt:vector size="6" baseType="variant">
      <vt:variant>
        <vt:lpstr>Fonts Used</vt:lpstr>
      </vt:variant>
      <vt:variant>
        <vt:i4>8</vt:i4>
      </vt:variant>
      <vt:variant>
        <vt:lpstr>Theme</vt:lpstr>
      </vt:variant>
      <vt:variant>
        <vt:i4>53</vt:i4>
      </vt:variant>
      <vt:variant>
        <vt:lpstr>Slide Titles</vt:lpstr>
      </vt:variant>
      <vt:variant>
        <vt:i4>25</vt:i4>
      </vt:variant>
    </vt:vector>
  </HeadingPairs>
  <TitlesOfParts>
    <vt:vector size="86" baseType="lpstr">
      <vt:lpstr>Arial</vt:lpstr>
      <vt:lpstr>Avenir Next</vt:lpstr>
      <vt:lpstr>Avenir Next LT Pro</vt:lpstr>
      <vt:lpstr>Avenir Next LT Pro Demi</vt:lpstr>
      <vt:lpstr>Ford Antenna Regular</vt:lpstr>
      <vt:lpstr>Symbol</vt:lpstr>
      <vt:lpstr>Times New Roman</vt:lpstr>
      <vt:lpstr>Wingdings</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FORD</vt:lpstr>
      <vt:lpstr>PowerPoint Presentation</vt:lpstr>
      <vt:lpstr>Descripción del desafío</vt:lpstr>
      <vt:lpstr>PowerPoint Presentation</vt:lpstr>
      <vt:lpstr>PowerPoint Presentation</vt:lpstr>
      <vt:lpstr>Un service perdido es el primer paso de un cliente perdido</vt:lpstr>
      <vt:lpstr>Hoy, Ford le habla igual a todos</vt:lpstr>
      <vt:lpstr>Descripción de la solución</vt:lpstr>
      <vt:lpstr>Los datos ya avisan quién se va</vt:lpstr>
      <vt:lpstr>Una sola pieza nueva, en el proceso de siempre</vt:lpstr>
      <vt:lpstr>El mismo esfuerzo, el doble de resultado</vt:lpstr>
      <vt:lpstr>La evidencia: probado en meses que nunca vio</vt:lpstr>
      <vt:lpstr>Un resultado que se puede sostener</vt:lpstr>
      <vt:lpstr>SHAP: qué explica el riesgo de abandono</vt:lpstr>
      <vt:lpstr>Detrás de cada caso, una historia</vt:lpstr>
      <vt:lpstr>Dos etapas para priorizar el contacto</vt:lpstr>
      <vt:lpstr>Factibilidad económica</vt:lpstr>
      <vt:lpstr>Mismo esfuerzo, más services recuperados</vt:lpstr>
      <vt:lpstr>Cómo sabemos si funciona: un piloto de 90 días</vt:lpstr>
      <vt:lpstr>Valor diferencial e Innovación</vt:lpstr>
      <vt:lpstr>Precisa, honesta y clara</vt:lpstr>
      <vt:lpstr>Trabajo Futuro</vt:lpstr>
      <vt:lpstr>PowerPoint Presentation</vt:lpstr>
      <vt:lpstr>Conclusiones</vt:lpstr>
      <vt:lpstr>Tres ideas para llevarse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Instructions</dc:title>
  <dc:subject/>
  <dc:creator>Jacob Woodworth</dc:creator>
  <dc:description/>
  <cp:lastModifiedBy>Franco Malfetano</cp:lastModifiedBy>
  <cp:revision>264</cp:revision>
  <cp:lastPrinted>2018-03-16T18:50:22Z</cp:lastPrinted>
  <dcterms:created xsi:type="dcterms:W3CDTF">2021-11-17T16:17:53Z</dcterms:created>
  <dcterms:modified xsi:type="dcterms:W3CDTF">2026-10-02T18:20:41Z</dcterms:modified>
  <dc:language>es-AR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0x010100DF98D95B3C7764478220B4640544549A</vt:lpwstr>
  </property>
  <property fmtid="{D5CDD505-2E9C-101B-9397-08002B2CF9AE}" pid="3" name="HiddenSlides">
    <vt:i4>3</vt:i4>
  </property>
  <property fmtid="{D5CDD505-2E9C-101B-9397-08002B2CF9AE}" pid="4" name="MediaServiceImageTags">
    <vt:lpwstr/>
  </property>
  <property fmtid="{D5CDD505-2E9C-101B-9397-08002B2CF9AE}" pid="5" name="Notes">
    <vt:i4>27</vt:i4>
  </property>
  <property fmtid="{D5CDD505-2E9C-101B-9397-08002B2CF9AE}" pid="6" name="PresentationFormat">
    <vt:lpwstr>Panorámica</vt:lpwstr>
  </property>
  <property fmtid="{D5CDD505-2E9C-101B-9397-08002B2CF9AE}" pid="7" name="Slides">
    <vt:i4>27</vt:i4>
  </property>
</Properties>
</file>